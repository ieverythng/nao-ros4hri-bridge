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3839dd760a425a" /><Relationship Type="http://schemas.openxmlformats.org/officeDocument/2006/relationships/extended-properties" Target="/docProps/app.xml" Id="Rd8d96290f5104bfd" /><Relationship Type="http://schemas.openxmlformats.org/officeDocument/2006/relationships/officeDocument" Target="/ppt/presentation.xml" Id="Rf984be2cd6a04071" /></Relationships>
</file>

<file path=ppt/presentation.xml><?xml version="1.0" encoding="utf-8"?>
<p:presentation xmlns:p="http://schemas.openxmlformats.org/presentationml/2006/main">
  <p:sldMasterIdLst>
    <p:sldMasterId xmlns:r="http://schemas.openxmlformats.org/officeDocument/2006/relationships" id="2147483648" r:id="Rda2efc2f930f4563"/>
  </p:sldMasterIdLst>
  <p:notesMasterIdLst>
    <p:notesMasterId xmlns:r="http://schemas.openxmlformats.org/officeDocument/2006/relationships" r:id="Rade8e083f9e44917"/>
  </p:notesMasterIdLst>
  <p:sldIdLst>
    <p:sldId xmlns:r="http://schemas.openxmlformats.org/officeDocument/2006/relationships" id="256" r:id="R7cf883cf1ad846ea"/>
    <p:sldId xmlns:r="http://schemas.openxmlformats.org/officeDocument/2006/relationships" id="257" r:id="R44fe47cedb7a485f"/>
    <p:sldId xmlns:r="http://schemas.openxmlformats.org/officeDocument/2006/relationships" id="258" r:id="R4dd207cd685846d0"/>
    <p:sldId xmlns:r="http://schemas.openxmlformats.org/officeDocument/2006/relationships" id="259" r:id="R5a0a0977a5364caa"/>
    <p:sldId xmlns:r="http://schemas.openxmlformats.org/officeDocument/2006/relationships" id="260" r:id="R2cdeb68663f94624"/>
    <p:sldId xmlns:r="http://schemas.openxmlformats.org/officeDocument/2006/relationships" id="261" r:id="Rdfdd19782d704037"/>
    <p:sldId xmlns:r="http://schemas.openxmlformats.org/officeDocument/2006/relationships" id="262" r:id="Rbf2c51cf995c4317"/>
    <p:sldId xmlns:r="http://schemas.openxmlformats.org/officeDocument/2006/relationships" id="263" r:id="R726062d5837c4925"/>
    <p:sldId xmlns:r="http://schemas.openxmlformats.org/officeDocument/2006/relationships" id="264" r:id="R02c5e4aaab8a4250"/>
    <p:sldId xmlns:r="http://schemas.openxmlformats.org/officeDocument/2006/relationships" id="265" r:id="Rf7ec25c8fd4549bf"/>
    <p:sldId xmlns:r="http://schemas.openxmlformats.org/officeDocument/2006/relationships" id="266" r:id="R45d3ea39976c40d9"/>
    <p:sldId xmlns:r="http://schemas.openxmlformats.org/officeDocument/2006/relationships" id="267" r:id="Re2c9d88343f4416e"/>
    <p:sldId xmlns:r="http://schemas.openxmlformats.org/officeDocument/2006/relationships" id="268" r:id="R7e66312a301f4f29"/>
    <p:sldId xmlns:r="http://schemas.openxmlformats.org/officeDocument/2006/relationships" id="269" r:id="R5e407f2bcee44fd7"/>
    <p:sldId xmlns:r="http://schemas.openxmlformats.org/officeDocument/2006/relationships" id="270" r:id="R41c5be0e50364a19"/>
    <p:sldId xmlns:r="http://schemas.openxmlformats.org/officeDocument/2006/relationships" id="271" r:id="R04cf72fecd324a7e"/>
    <p:sldId xmlns:r="http://schemas.openxmlformats.org/officeDocument/2006/relationships" id="272" r:id="Rceb75ee328614abd"/>
    <p:sldId xmlns:r="http://schemas.openxmlformats.org/officeDocument/2006/relationships" id="273" r:id="R8d10fcfcb80f498d"/>
    <p:sldId xmlns:r="http://schemas.openxmlformats.org/officeDocument/2006/relationships" id="274" r:id="Rcc553473ea5b48a9"/>
    <p:sldId xmlns:r="http://schemas.openxmlformats.org/officeDocument/2006/relationships" id="275" r:id="Reb77159802b04dd0"/>
    <p:sldId xmlns:r="http://schemas.openxmlformats.org/officeDocument/2006/relationships" id="276" r:id="Rb3c974b127314ab2"/>
    <p:sldId xmlns:r="http://schemas.openxmlformats.org/officeDocument/2006/relationships" id="277" r:id="R578f25331e3b490e"/>
    <p:sldId xmlns:r="http://schemas.openxmlformats.org/officeDocument/2006/relationships" id="278" r:id="R077308c8ecb742f2"/>
    <p:sldId xmlns:r="http://schemas.openxmlformats.org/officeDocument/2006/relationships" id="279" r:id="R84fddcc3757a4e38"/>
    <p:sldId xmlns:r="http://schemas.openxmlformats.org/officeDocument/2006/relationships" id="280" r:id="Rae6e2d0d6bd5404b"/>
    <p:sldId xmlns:r="http://schemas.openxmlformats.org/officeDocument/2006/relationships" id="281" r:id="Rc8cf59d4bf0f4a2f"/>
    <p:sldId xmlns:r="http://schemas.openxmlformats.org/officeDocument/2006/relationships" id="282" r:id="Re30631dd8bb9478e"/>
    <p:sldId xmlns:r="http://schemas.openxmlformats.org/officeDocument/2006/relationships" id="283" r:id="R66c94459f9ce4565"/>
    <p:sldId xmlns:r="http://schemas.openxmlformats.org/officeDocument/2006/relationships" id="284" r:id="Rcf74639bf1234b46"/>
    <p:sldId xmlns:r="http://schemas.openxmlformats.org/officeDocument/2006/relationships" id="285" r:id="R2b88ef34c9bc4751"/>
    <p:sldId xmlns:r="http://schemas.openxmlformats.org/officeDocument/2006/relationships" id="286" r:id="R3a4821543bbd4360"/>
    <p:sldId xmlns:r="http://schemas.openxmlformats.org/officeDocument/2006/relationships" id="287" r:id="Reb07c227143b4279"/>
    <p:sldId xmlns:r="http://schemas.openxmlformats.org/officeDocument/2006/relationships" id="288" r:id="R215a73822cc04e07"/>
    <p:sldId xmlns:r="http://schemas.openxmlformats.org/officeDocument/2006/relationships" id="289" r:id="R62f3d0ca6d4b458e"/>
    <p:sldId xmlns:r="http://schemas.openxmlformats.org/officeDocument/2006/relationships" id="290" r:id="R669eb8057cd14a35"/>
    <p:sldId xmlns:r="http://schemas.openxmlformats.org/officeDocument/2006/relationships" id="291" r:id="R65e5f67e34b64b9c"/>
    <p:sldId xmlns:r="http://schemas.openxmlformats.org/officeDocument/2006/relationships" id="292" r:id="R993caff3b52f4ca3"/>
    <p:sldId xmlns:r="http://schemas.openxmlformats.org/officeDocument/2006/relationships" id="293" r:id="Rd799a7368886406e"/>
    <p:sldId xmlns:r="http://schemas.openxmlformats.org/officeDocument/2006/relationships" id="294" r:id="R1093587b66f246b6"/>
    <p:sldId xmlns:r="http://schemas.openxmlformats.org/officeDocument/2006/relationships" id="295" r:id="Rbfb4dad89c7545bc"/>
    <p:sldId xmlns:r="http://schemas.openxmlformats.org/officeDocument/2006/relationships" id="296" r:id="R55106e0f2e6f4c56"/>
    <p:sldId xmlns:r="http://schemas.openxmlformats.org/officeDocument/2006/relationships" id="297" r:id="R7a5b00e6880b4752"/>
    <p:sldId xmlns:r="http://schemas.openxmlformats.org/officeDocument/2006/relationships" id="298" r:id="Rf6c87ced5a50473c"/>
    <p:sldId xmlns:r="http://schemas.openxmlformats.org/officeDocument/2006/relationships" id="299" r:id="R28081ee296234783"/>
    <p:sldId xmlns:r="http://schemas.openxmlformats.org/officeDocument/2006/relationships" id="300" r:id="R33f91e01c8e54891"/>
    <p:sldId xmlns:r="http://schemas.openxmlformats.org/officeDocument/2006/relationships" id="301" r:id="Rf076e626ec054e89"/>
    <p:sldId xmlns:r="http://schemas.openxmlformats.org/officeDocument/2006/relationships" id="302" r:id="R78a63ede0f4d4dc6"/>
    <p:sldId xmlns:r="http://schemas.openxmlformats.org/officeDocument/2006/relationships" id="303" r:id="R5cce550c8ec74d7c"/>
    <p:sldId xmlns:r="http://schemas.openxmlformats.org/officeDocument/2006/relationships" id="304" r:id="Ra2b76f0b5bbc4c42"/>
    <p:sldId xmlns:r="http://schemas.openxmlformats.org/officeDocument/2006/relationships" id="305" r:id="Rc65808e1d30348d9"/>
    <p:sldId xmlns:r="http://schemas.openxmlformats.org/officeDocument/2006/relationships" id="306" r:id="R48a7b58068aa472f"/>
    <p:sldId xmlns:r="http://schemas.openxmlformats.org/officeDocument/2006/relationships" id="307" r:id="Rd5586f018f964b9d"/>
    <p:sldId xmlns:r="http://schemas.openxmlformats.org/officeDocument/2006/relationships" id="308" r:id="R60f179666a774696"/>
    <p:sldId xmlns:r="http://schemas.openxmlformats.org/officeDocument/2006/relationships" id="309" r:id="R1c55d01f7c5a441e"/>
    <p:sldId xmlns:r="http://schemas.openxmlformats.org/officeDocument/2006/relationships" id="310" r:id="R5d06003b9f9a42db"/>
    <p:sldId xmlns:r="http://schemas.openxmlformats.org/officeDocument/2006/relationships" id="311" r:id="Ref035e25782f4609"/>
    <p:sldId xmlns:r="http://schemas.openxmlformats.org/officeDocument/2006/relationships" id="312" r:id="R858b7bbacb7e4802"/>
    <p:sldId xmlns:r="http://schemas.openxmlformats.org/officeDocument/2006/relationships" id="313" r:id="R14bb29330b2946ef"/>
    <p:sldId xmlns:r="http://schemas.openxmlformats.org/officeDocument/2006/relationships" id="314" r:id="R5cf03f8e765b4e00"/>
    <p:sldId xmlns:r="http://schemas.openxmlformats.org/officeDocument/2006/relationships" id="315" r:id="R9e40f781546e4a8c"/>
    <p:sldId xmlns:r="http://schemas.openxmlformats.org/officeDocument/2006/relationships" id="316" r:id="Rf043a887bd214c6e"/>
    <p:sldId xmlns:r="http://schemas.openxmlformats.org/officeDocument/2006/relationships" id="317" r:id="R8bd7466b51f442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ef008c768148d3" /><Relationship Type="http://schemas.openxmlformats.org/officeDocument/2006/relationships/slideMaster" Target="/ppt/slideMasters/slideMaster1.xml" Id="Rda2efc2f930f4563" /><Relationship Type="http://schemas.openxmlformats.org/officeDocument/2006/relationships/notesMaster" Target="/ppt/notesMasters/notesMaster1.xml" Id="Rade8e083f9e44917" /><Relationship Type="http://schemas.openxmlformats.org/officeDocument/2006/relationships/presProps" Target="/ppt/presProps.xml" Id="Rf9b703e23e1a40e1" /><Relationship Type="http://schemas.openxmlformats.org/officeDocument/2006/relationships/tableStyles" Target="/ppt/tableStyles.xml" Id="R27e5f41228f247c4" /><Relationship Type="http://schemas.openxmlformats.org/officeDocument/2006/relationships/slide" Target="/ppt/slides/slide1.xml" Id="R7cf883cf1ad846ea" /><Relationship Type="http://schemas.openxmlformats.org/officeDocument/2006/relationships/slide" Target="/ppt/slides/slide2.xml" Id="R44fe47cedb7a485f" /><Relationship Type="http://schemas.openxmlformats.org/officeDocument/2006/relationships/slide" Target="/ppt/slides/slide3.xml" Id="R4dd207cd685846d0" /><Relationship Type="http://schemas.openxmlformats.org/officeDocument/2006/relationships/slide" Target="/ppt/slides/slide4.xml" Id="R5a0a0977a5364caa" /><Relationship Type="http://schemas.openxmlformats.org/officeDocument/2006/relationships/slide" Target="/ppt/slides/slide5.xml" Id="R2cdeb68663f94624" /><Relationship Type="http://schemas.openxmlformats.org/officeDocument/2006/relationships/slide" Target="/ppt/slides/slide6.xml" Id="Rdfdd19782d704037" /><Relationship Type="http://schemas.openxmlformats.org/officeDocument/2006/relationships/slide" Target="/ppt/slides/slide7.xml" Id="Rbf2c51cf995c4317" /><Relationship Type="http://schemas.openxmlformats.org/officeDocument/2006/relationships/slide" Target="/ppt/slides/slide8.xml" Id="R726062d5837c4925" /><Relationship Type="http://schemas.openxmlformats.org/officeDocument/2006/relationships/slide" Target="/ppt/slides/slide9.xml" Id="R02c5e4aaab8a4250" /><Relationship Type="http://schemas.openxmlformats.org/officeDocument/2006/relationships/slide" Target="/ppt/slides/slide10.xml" Id="Rf7ec25c8fd4549bf" /><Relationship Type="http://schemas.openxmlformats.org/officeDocument/2006/relationships/slide" Target="/ppt/slides/slide11.xml" Id="R45d3ea39976c40d9" /><Relationship Type="http://schemas.openxmlformats.org/officeDocument/2006/relationships/slide" Target="/ppt/slides/slide12.xml" Id="Re2c9d88343f4416e" /><Relationship Type="http://schemas.openxmlformats.org/officeDocument/2006/relationships/slide" Target="/ppt/slides/slide13.xml" Id="R7e66312a301f4f29" /><Relationship Type="http://schemas.openxmlformats.org/officeDocument/2006/relationships/slide" Target="/ppt/slides/slide14.xml" Id="R5e407f2bcee44fd7" /><Relationship Type="http://schemas.openxmlformats.org/officeDocument/2006/relationships/slide" Target="/ppt/slides/slide15.xml" Id="R41c5be0e50364a19" /><Relationship Type="http://schemas.openxmlformats.org/officeDocument/2006/relationships/slide" Target="/ppt/slides/slide16.xml" Id="R04cf72fecd324a7e" /><Relationship Type="http://schemas.openxmlformats.org/officeDocument/2006/relationships/slide" Target="/ppt/slides/slide17.xml" Id="Rceb75ee328614abd" /><Relationship Type="http://schemas.openxmlformats.org/officeDocument/2006/relationships/slide" Target="/ppt/slides/slide18.xml" Id="R8d10fcfcb80f498d" /><Relationship Type="http://schemas.openxmlformats.org/officeDocument/2006/relationships/slide" Target="/ppt/slides/slide19.xml" Id="Rcc553473ea5b48a9" /><Relationship Type="http://schemas.openxmlformats.org/officeDocument/2006/relationships/slide" Target="/ppt/slides/slide20.xml" Id="Reb77159802b04dd0" /><Relationship Type="http://schemas.openxmlformats.org/officeDocument/2006/relationships/slide" Target="/ppt/slides/slide21.xml" Id="Rb3c974b127314ab2" /><Relationship Type="http://schemas.openxmlformats.org/officeDocument/2006/relationships/slide" Target="/ppt/slides/slide22.xml" Id="R578f25331e3b490e" /><Relationship Type="http://schemas.openxmlformats.org/officeDocument/2006/relationships/slide" Target="/ppt/slides/slide23.xml" Id="R077308c8ecb742f2" /><Relationship Type="http://schemas.openxmlformats.org/officeDocument/2006/relationships/slide" Target="/ppt/slides/slide24.xml" Id="R84fddcc3757a4e38" /><Relationship Type="http://schemas.openxmlformats.org/officeDocument/2006/relationships/slide" Target="/ppt/slides/slide25.xml" Id="Rae6e2d0d6bd5404b" /><Relationship Type="http://schemas.openxmlformats.org/officeDocument/2006/relationships/slide" Target="/ppt/slides/slide26.xml" Id="Rc8cf59d4bf0f4a2f" /><Relationship Type="http://schemas.openxmlformats.org/officeDocument/2006/relationships/slide" Target="/ppt/slides/slide27.xml" Id="Re30631dd8bb9478e" /><Relationship Type="http://schemas.openxmlformats.org/officeDocument/2006/relationships/slide" Target="/ppt/slides/slide28.xml" Id="R66c94459f9ce4565" /><Relationship Type="http://schemas.openxmlformats.org/officeDocument/2006/relationships/slide" Target="/ppt/slides/slide29.xml" Id="Rcf74639bf1234b46" /><Relationship Type="http://schemas.openxmlformats.org/officeDocument/2006/relationships/slide" Target="/ppt/slides/slide30.xml" Id="R2b88ef34c9bc4751" /><Relationship Type="http://schemas.openxmlformats.org/officeDocument/2006/relationships/slide" Target="/ppt/slides/slide31.xml" Id="R3a4821543bbd4360" /><Relationship Type="http://schemas.openxmlformats.org/officeDocument/2006/relationships/slide" Target="/ppt/slides/slide32.xml" Id="Reb07c227143b4279" /><Relationship Type="http://schemas.openxmlformats.org/officeDocument/2006/relationships/slide" Target="/ppt/slides/slide33.xml" Id="R215a73822cc04e07" /><Relationship Type="http://schemas.openxmlformats.org/officeDocument/2006/relationships/slide" Target="/ppt/slides/slide34.xml" Id="R62f3d0ca6d4b458e" /><Relationship Type="http://schemas.openxmlformats.org/officeDocument/2006/relationships/slide" Target="/ppt/slides/slide35.xml" Id="R669eb8057cd14a35" /><Relationship Type="http://schemas.openxmlformats.org/officeDocument/2006/relationships/slide" Target="/ppt/slides/slide36.xml" Id="R65e5f67e34b64b9c" /><Relationship Type="http://schemas.openxmlformats.org/officeDocument/2006/relationships/slide" Target="/ppt/slides/slide37.xml" Id="R993caff3b52f4ca3" /><Relationship Type="http://schemas.openxmlformats.org/officeDocument/2006/relationships/slide" Target="/ppt/slides/slide38.xml" Id="Rd799a7368886406e" /><Relationship Type="http://schemas.openxmlformats.org/officeDocument/2006/relationships/slide" Target="/ppt/slides/slide39.xml" Id="R1093587b66f246b6" /><Relationship Type="http://schemas.openxmlformats.org/officeDocument/2006/relationships/slide" Target="/ppt/slides/slide40.xml" Id="Rbfb4dad89c7545bc" /><Relationship Type="http://schemas.openxmlformats.org/officeDocument/2006/relationships/slide" Target="/ppt/slides/slide41.xml" Id="R55106e0f2e6f4c56" /><Relationship Type="http://schemas.openxmlformats.org/officeDocument/2006/relationships/slide" Target="/ppt/slides/slide42.xml" Id="R7a5b00e6880b4752" /><Relationship Type="http://schemas.openxmlformats.org/officeDocument/2006/relationships/slide" Target="/ppt/slides/slide43.xml" Id="Rf6c87ced5a50473c" /><Relationship Type="http://schemas.openxmlformats.org/officeDocument/2006/relationships/slide" Target="/ppt/slides/slide44.xml" Id="R28081ee296234783" /><Relationship Type="http://schemas.openxmlformats.org/officeDocument/2006/relationships/slide" Target="/ppt/slides/slide45.xml" Id="R33f91e01c8e54891" /><Relationship Type="http://schemas.openxmlformats.org/officeDocument/2006/relationships/slide" Target="/ppt/slides/slide46.xml" Id="Rf076e626ec054e89" /><Relationship Type="http://schemas.openxmlformats.org/officeDocument/2006/relationships/slide" Target="/ppt/slides/slide47.xml" Id="R78a63ede0f4d4dc6" /><Relationship Type="http://schemas.openxmlformats.org/officeDocument/2006/relationships/slide" Target="/ppt/slides/slide48.xml" Id="R5cce550c8ec74d7c" /><Relationship Type="http://schemas.openxmlformats.org/officeDocument/2006/relationships/slide" Target="/ppt/slides/slide49.xml" Id="Ra2b76f0b5bbc4c42" /><Relationship Type="http://schemas.openxmlformats.org/officeDocument/2006/relationships/slide" Target="/ppt/slides/slide50.xml" Id="Rc65808e1d30348d9" /><Relationship Type="http://schemas.openxmlformats.org/officeDocument/2006/relationships/slide" Target="/ppt/slides/slide51.xml" Id="R48a7b58068aa472f" /><Relationship Type="http://schemas.openxmlformats.org/officeDocument/2006/relationships/slide" Target="/ppt/slides/slide52.xml" Id="Rd5586f018f964b9d" /><Relationship Type="http://schemas.openxmlformats.org/officeDocument/2006/relationships/slide" Target="/ppt/slides/slide53.xml" Id="R60f179666a774696" /><Relationship Type="http://schemas.openxmlformats.org/officeDocument/2006/relationships/slide" Target="/ppt/slides/slide54.xml" Id="R1c55d01f7c5a441e" /><Relationship Type="http://schemas.openxmlformats.org/officeDocument/2006/relationships/slide" Target="/ppt/slides/slide55.xml" Id="R5d06003b9f9a42db" /><Relationship Type="http://schemas.openxmlformats.org/officeDocument/2006/relationships/slide" Target="/ppt/slides/slide56.xml" Id="Ref035e25782f4609" /><Relationship Type="http://schemas.openxmlformats.org/officeDocument/2006/relationships/slide" Target="/ppt/slides/slide57.xml" Id="R858b7bbacb7e4802" /><Relationship Type="http://schemas.openxmlformats.org/officeDocument/2006/relationships/slide" Target="/ppt/slides/slide58.xml" Id="R14bb29330b2946ef" /><Relationship Type="http://schemas.openxmlformats.org/officeDocument/2006/relationships/slide" Target="/ppt/slides/slide59.xml" Id="R5cf03f8e765b4e00" /><Relationship Type="http://schemas.openxmlformats.org/officeDocument/2006/relationships/slide" Target="/ppt/slides/slide60.xml" Id="R9e40f781546e4a8c" /><Relationship Type="http://schemas.openxmlformats.org/officeDocument/2006/relationships/slide" Target="/ppt/slides/slide61.xml" Id="Rf043a887bd214c6e" /><Relationship Type="http://schemas.openxmlformats.org/officeDocument/2006/relationships/slide" Target="/ppt/slides/slide62.xml" Id="R8bd7466b51f442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202027b9e840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53f9da51fc4de4" /><Relationship Type="http://schemas.openxmlformats.org/officeDocument/2006/relationships/notesMaster" Target="/ppt/notesMasters/notesMaster1.xml" Id="R3f6c60d1d6d44e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efde49e20b4264" /><Relationship Type="http://schemas.openxmlformats.org/officeDocument/2006/relationships/notesMaster" Target="/ppt/notesMasters/notesMaster1.xml" Id="Rb0f6724af72749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6d1b04c39b47d2" /><Relationship Type="http://schemas.openxmlformats.org/officeDocument/2006/relationships/notesMaster" Target="/ppt/notesMasters/notesMaster1.xml" Id="Rfa2b0d23047248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3d737707924d55" /><Relationship Type="http://schemas.openxmlformats.org/officeDocument/2006/relationships/notesMaster" Target="/ppt/notesMasters/notesMaster1.xml" Id="Rd68954a2458f41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75b2aa0a194725" /><Relationship Type="http://schemas.openxmlformats.org/officeDocument/2006/relationships/notesMaster" Target="/ppt/notesMasters/notesMaster1.xml" Id="R6af8292383404a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9be8513262414f" /><Relationship Type="http://schemas.openxmlformats.org/officeDocument/2006/relationships/notesMaster" Target="/ppt/notesMasters/notesMaster1.xml" Id="R8060e671f30a4c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ffd9691331400c" /><Relationship Type="http://schemas.openxmlformats.org/officeDocument/2006/relationships/notesMaster" Target="/ppt/notesMasters/notesMaster1.xml" Id="R007ebd27c98b40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a288511fec4e6c" /><Relationship Type="http://schemas.openxmlformats.org/officeDocument/2006/relationships/notesMaster" Target="/ppt/notesMasters/notesMaster1.xml" Id="R3318e9f69df84b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614ab96c594e9a" /><Relationship Type="http://schemas.openxmlformats.org/officeDocument/2006/relationships/notesMaster" Target="/ppt/notesMasters/notesMaster1.xml" Id="R9d7b7a6f714648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391a332fdd4506" /><Relationship Type="http://schemas.openxmlformats.org/officeDocument/2006/relationships/notesMaster" Target="/ppt/notesMasters/notesMaster1.xml" Id="Rbc41440d64424b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76c88bc9074c59" /><Relationship Type="http://schemas.openxmlformats.org/officeDocument/2006/relationships/notesMaster" Target="/ppt/notesMasters/notesMaster1.xml" Id="R123dd3053cf44f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53e652cb0f4d2f" /><Relationship Type="http://schemas.openxmlformats.org/officeDocument/2006/relationships/notesMaster" Target="/ppt/notesMasters/notesMaster1.xml" Id="R014929fc5a8040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ec9a5ab496462f" /><Relationship Type="http://schemas.openxmlformats.org/officeDocument/2006/relationships/notesMaster" Target="/ppt/notesMasters/notesMaster1.xml" Id="R2ae72316f3db4d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f587413afe4295" /><Relationship Type="http://schemas.openxmlformats.org/officeDocument/2006/relationships/notesMaster" Target="/ppt/notesMasters/notesMaster1.xml" Id="Rb2a87b846a354e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55d10ef01742d5" /><Relationship Type="http://schemas.openxmlformats.org/officeDocument/2006/relationships/notesMaster" Target="/ppt/notesMasters/notesMaster1.xml" Id="R22716969659743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4d625673bd495c" /><Relationship Type="http://schemas.openxmlformats.org/officeDocument/2006/relationships/notesMaster" Target="/ppt/notesMasters/notesMaster1.xml" Id="R28d060c5d587434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ddabbbf15849f4" /><Relationship Type="http://schemas.openxmlformats.org/officeDocument/2006/relationships/notesMaster" Target="/ppt/notesMasters/notesMaster1.xml" Id="R2821b5039b8f42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1d39a596c84269" /><Relationship Type="http://schemas.openxmlformats.org/officeDocument/2006/relationships/notesMaster" Target="/ppt/notesMasters/notesMaster1.xml" Id="R478ce386d80b4a5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929bee58874e4c" /><Relationship Type="http://schemas.openxmlformats.org/officeDocument/2006/relationships/notesMaster" Target="/ppt/notesMasters/notesMaster1.xml" Id="R694e2f7ddc0c4a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522fde44324e53" /><Relationship Type="http://schemas.openxmlformats.org/officeDocument/2006/relationships/notesMaster" Target="/ppt/notesMasters/notesMaster1.xml" Id="R7659e4df35c845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6796e731894412" /><Relationship Type="http://schemas.openxmlformats.org/officeDocument/2006/relationships/notesMaster" Target="/ppt/notesMasters/notesMaster1.xml" Id="Rbce0d283b70b48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2c4eac71724967" /><Relationship Type="http://schemas.openxmlformats.org/officeDocument/2006/relationships/notesMaster" Target="/ppt/notesMasters/notesMaster1.xml" Id="Rb144ef9d9c204c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cb87cc874c84984" /><Relationship Type="http://schemas.openxmlformats.org/officeDocument/2006/relationships/notesMaster" Target="/ppt/notesMasters/notesMaster1.xml" Id="Rec72556d7f434d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3944dbceda4957" /><Relationship Type="http://schemas.openxmlformats.org/officeDocument/2006/relationships/notesMaster" Target="/ppt/notesMasters/notesMaster1.xml" Id="R70287647a3534a9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657d96e64b74c58" /><Relationship Type="http://schemas.openxmlformats.org/officeDocument/2006/relationships/notesMaster" Target="/ppt/notesMasters/notesMaster1.xml" Id="Rfaf83e052c6b42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675bce93ccb4d02" /><Relationship Type="http://schemas.openxmlformats.org/officeDocument/2006/relationships/notesMaster" Target="/ppt/notesMasters/notesMaster1.xml" Id="Rbe9c8056b4a144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34962302da34dfc" /><Relationship Type="http://schemas.openxmlformats.org/officeDocument/2006/relationships/notesMaster" Target="/ppt/notesMasters/notesMaster1.xml" Id="Rf48401782e5042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15e66d3ec642ae" /><Relationship Type="http://schemas.openxmlformats.org/officeDocument/2006/relationships/notesMaster" Target="/ppt/notesMasters/notesMaster1.xml" Id="R63f29ccb96b5411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f98e87bd98346f1" /><Relationship Type="http://schemas.openxmlformats.org/officeDocument/2006/relationships/notesMaster" Target="/ppt/notesMasters/notesMaster1.xml" Id="Ra021766dbb0d48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724b862f9c847da" /><Relationship Type="http://schemas.openxmlformats.org/officeDocument/2006/relationships/notesMaster" Target="/ppt/notesMasters/notesMaster1.xml" Id="Raa984a0a4c12477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fd9267e8a84234" /><Relationship Type="http://schemas.openxmlformats.org/officeDocument/2006/relationships/notesMaster" Target="/ppt/notesMasters/notesMaster1.xml" Id="Rd2c7d0136b2a4bc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7a0a4d927a24e34" /><Relationship Type="http://schemas.openxmlformats.org/officeDocument/2006/relationships/notesMaster" Target="/ppt/notesMasters/notesMaster1.xml" Id="R5dc06f6f080743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e83489b22f24194" /><Relationship Type="http://schemas.openxmlformats.org/officeDocument/2006/relationships/notesMaster" Target="/ppt/notesMasters/notesMaster1.xml" Id="Re39ff57f0f9d48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bb922800f8a4123" /><Relationship Type="http://schemas.openxmlformats.org/officeDocument/2006/relationships/notesMaster" Target="/ppt/notesMasters/notesMaster1.xml" Id="Ra6e1efec4e5b484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a1bee4b333e4020" /><Relationship Type="http://schemas.openxmlformats.org/officeDocument/2006/relationships/notesMaster" Target="/ppt/notesMasters/notesMaster1.xml" Id="R30aa30f0a607460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5b7e12c9b83497a" /><Relationship Type="http://schemas.openxmlformats.org/officeDocument/2006/relationships/notesMaster" Target="/ppt/notesMasters/notesMaster1.xml" Id="R348df535769b4c7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c8d96d6a78545e9" /><Relationship Type="http://schemas.openxmlformats.org/officeDocument/2006/relationships/notesMaster" Target="/ppt/notesMasters/notesMaster1.xml" Id="Rd9969a0242264da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2cf9bdbe1c4c81" /><Relationship Type="http://schemas.openxmlformats.org/officeDocument/2006/relationships/notesMaster" Target="/ppt/notesMasters/notesMaster1.xml" Id="Rd610a03e5fa14df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2e17e7ee7bd4cd9" /><Relationship Type="http://schemas.openxmlformats.org/officeDocument/2006/relationships/notesMaster" Target="/ppt/notesMasters/notesMaster1.xml" Id="R49ace5e6729542f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50d36b1a0704665" /><Relationship Type="http://schemas.openxmlformats.org/officeDocument/2006/relationships/notesMaster" Target="/ppt/notesMasters/notesMaster1.xml" Id="Rac2a5a180af94af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b01c3826ba64267" /><Relationship Type="http://schemas.openxmlformats.org/officeDocument/2006/relationships/notesMaster" Target="/ppt/notesMasters/notesMaster1.xml" Id="R20d5aa595ffe424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3db9928f9fe4fe3" /><Relationship Type="http://schemas.openxmlformats.org/officeDocument/2006/relationships/notesMaster" Target="/ppt/notesMasters/notesMaster1.xml" Id="Rc4d4991cb14e42d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c77a9483c8747ec" /><Relationship Type="http://schemas.openxmlformats.org/officeDocument/2006/relationships/notesMaster" Target="/ppt/notesMasters/notesMaster1.xml" Id="Rab1bf02616d343f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46b2523734c4856" /><Relationship Type="http://schemas.openxmlformats.org/officeDocument/2006/relationships/notesMaster" Target="/ppt/notesMasters/notesMaster1.xml" Id="R963c0ae82dc948e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37a95544c484d17" /><Relationship Type="http://schemas.openxmlformats.org/officeDocument/2006/relationships/notesMaster" Target="/ppt/notesMasters/notesMaster1.xml" Id="R94d209039cc0415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b9daf5f327e4c4c" /><Relationship Type="http://schemas.openxmlformats.org/officeDocument/2006/relationships/notesMaster" Target="/ppt/notesMasters/notesMaster1.xml" Id="R5ce531cc8b0b4ca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5b7472d88cc444f" /><Relationship Type="http://schemas.openxmlformats.org/officeDocument/2006/relationships/notesMaster" Target="/ppt/notesMasters/notesMaster1.xml" Id="R5baf6da57ea74d8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150ddfed0a04e4c" /><Relationship Type="http://schemas.openxmlformats.org/officeDocument/2006/relationships/notesMaster" Target="/ppt/notesMasters/notesMaster1.xml" Id="R4688a12707d04c6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8f97189987a4417" /><Relationship Type="http://schemas.openxmlformats.org/officeDocument/2006/relationships/notesMaster" Target="/ppt/notesMasters/notesMaster1.xml" Id="R2c76c78113b144d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fc815d33d5641d4" /><Relationship Type="http://schemas.openxmlformats.org/officeDocument/2006/relationships/notesMaster" Target="/ppt/notesMasters/notesMaster1.xml" Id="R148cee75dfa7433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c684956d7de4cd0" /><Relationship Type="http://schemas.openxmlformats.org/officeDocument/2006/relationships/notesMaster" Target="/ppt/notesMasters/notesMaster1.xml" Id="Rd4ca30d3922a40a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a965dd2d26947df" /><Relationship Type="http://schemas.openxmlformats.org/officeDocument/2006/relationships/notesMaster" Target="/ppt/notesMasters/notesMaster1.xml" Id="Re29a381bf7c44de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cf80d1df2ec499e" /><Relationship Type="http://schemas.openxmlformats.org/officeDocument/2006/relationships/notesMaster" Target="/ppt/notesMasters/notesMaster1.xml" Id="Rd5ed63a069424ca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00e87252b8f4532" /><Relationship Type="http://schemas.openxmlformats.org/officeDocument/2006/relationships/notesMaster" Target="/ppt/notesMasters/notesMaster1.xml" Id="R6b948939feeb473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0663d0a6ea24f49" /><Relationship Type="http://schemas.openxmlformats.org/officeDocument/2006/relationships/notesMaster" Target="/ppt/notesMasters/notesMaster1.xml" Id="R2e836109b47c438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ade4b1719bb4115" /><Relationship Type="http://schemas.openxmlformats.org/officeDocument/2006/relationships/notesMaster" Target="/ppt/notesMasters/notesMaster1.xml" Id="Rd5b00a74bb2142c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63472d6b50f42b4" /><Relationship Type="http://schemas.openxmlformats.org/officeDocument/2006/relationships/notesMaster" Target="/ppt/notesMasters/notesMaster1.xml" Id="R77fc00ecd6254bb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1ab7ddd4fc94fe9" /><Relationship Type="http://schemas.openxmlformats.org/officeDocument/2006/relationships/notesMaster" Target="/ppt/notesMasters/notesMaster1.xml" Id="Rb894fac78bae4de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894b0d6d9ef43d7" /><Relationship Type="http://schemas.openxmlformats.org/officeDocument/2006/relationships/notesMaster" Target="/ppt/notesMasters/notesMaster1.xml" Id="R5c8c7c7a32184ec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52056a03a414c79" /><Relationship Type="http://schemas.openxmlformats.org/officeDocument/2006/relationships/notesMaster" Target="/ppt/notesMasters/notesMaster1.xml" Id="R2f13434bdabc441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38eae4ce8174f96" /><Relationship Type="http://schemas.openxmlformats.org/officeDocument/2006/relationships/notesMaster" Target="/ppt/notesMasters/notesMaster1.xml" Id="Rc1a5413e0468432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134eee294944a23" /><Relationship Type="http://schemas.openxmlformats.org/officeDocument/2006/relationships/notesMaster" Target="/ppt/notesMasters/notesMaster1.xml" Id="R9358adaeda2141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1/32 · rehearsal budget 20 seconds</a:t>
            </a:r>
          </a:p>
          <a:p xmlns:a="http://schemas.openxmlformats.org/drawingml/2006/main">
            <a:r>
              <a:t>20 s. State the thesis title and the complete-stack scope. Original title typography, wording, authorship and institutional elements are preserved. Photo: supplied by Juan David Bendek Williamson. Crop displays the standing NAO; no claim about the equipment in the background.</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C:/Users/Admin/.codex/codex-remote-attachments/01a06368-8c1c-7cb2-b172-0ca3b19255fe/8CDB8185-DE17-4E24-8EEE-4DC878BBB7A1/2-Photo-2.jpg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2/32 · rehearsal budget 35 seconds</a:t>
            </a:r>
          </a:p>
          <a:p xmlns:a="http://schemas.openxmlformats.org/drawingml/2006/main">
            <a:r>
              <a:t>Introduce the subsymbolic-to-symbolic boundary without suggesting that all robot control is symbolic. Motivate the full architecture, not only planning.</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3/32 · rehearsal budget 45 seconds</a:t>
            </a:r>
          </a:p>
          <a:p xmlns:a="http://schemas.openxmlformats.org/drawingml/2006/main">
            <a:r>
              <a:t>45 s. These are grouped paraphrases of the five research questions. RQ1: coherent multi-step plans and ordered supported skills. RQ2: compact grounding preserves objects, people, locations and roles. RQ3: reject unsupported skills, malformed arguments, invalid lineage and direct robot calls. RQ4: use typed feedback for recovery, clarification, revision or safe stop. RQ5: establish inspectable responsibility and interface boundaries.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4/32 · rehearsal budget 40 seconds</a:t>
            </a:r>
          </a:p>
          <a:p xmlns:a="http://schemas.openxmlformats.org/drawingml/2006/main">
            <a:r>
              <a:t>40 s. Seven objectives from the final thesis; the earlier presentation compressed objectives 5 and 6. Introduce integration, execution control and validation as the three themes. Do not read every line.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5/32 · rehearsal budget 55 seconds</a:t>
            </a:r>
          </a:p>
          <a:p xmlns:a="http://schemas.openxmlformats.org/drawingml/2006/main">
            <a:r>
              <a:t>55 s. A ROS node is a software process/component, not a neural network node. Services can have asynchronous clients; do not equate the pattern with mandatory blocking. Actions expose cancellation; physical cancellation capability still depends on implementation. Robot photo supplied by the author. Reused ROS4HRI infrastructure is credited explicitly.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§2.2–2.4</a:t>
            </a:r>
          </a:p>
          <a:p xmlns:a="http://schemas.openxmlformats.org/drawingml/2006/main">
            <a:r>
              <a:t>C:/Users/Admin/.codex/codex-remote-attachments/01a06368-8c1c-7cb2-b172-0ca3b19255fe/8CDB8185-DE17-4E24-8EEE-4DC878BBB7A1/1-Photo-1.jpg</a:t>
            </a:r>
          </a:p>
          <a:p xmlns:a="http://schemas.openxmlformats.org/drawingml/2006/main">
            <a:r>
              <a:t>https://docs.ros.org/en/jazzy/How-To-Guides/Topics-Services-Actions.html</a:t>
            </a:r>
          </a:p>
          <a:p xmlns:a="http://schemas.openxmlformats.org/drawingml/2006/main">
            <a:r>
              <a:t>C:/Users/Admin/PROJECTS/nao-ros4hri-bridge/src/communication_skills/action/Say.action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6/32 · rehearsal budget 50 seconds</a:t>
            </a:r>
          </a:p>
          <a:p xmlns:a="http://schemas.openxmlformats.org/drawingml/2006/main">
            <a:r>
              <a:t>An operational definition for this framework, not a claim of independent unrestricted autonomy. ReAct motivates coupling reasoning and external interaction; this stack does not claim to reproduce its algorithm. The two ROS components may use the same backend model. Qwen3-VL-30B-A3B is internally MoE; that is distinct from the two-agent application design and is not a focus of this talk.</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§2.5</a:t>
            </a:r>
          </a:p>
          <a:p xmlns:a="http://schemas.openxmlformats.org/drawingml/2006/main">
            <a:r>
              <a:t>https://arxiv.org/abs/2210.03629</a:t>
            </a:r>
          </a:p>
          <a:p xmlns:a="http://schemas.openxmlformats.org/drawingml/2006/main">
            <a:r>
              <a:t>https://huggingface.co/Qwen/Qwen3-VL-30B-A3B-Instruct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7/32 · rehearsal budget 45 seconds</a:t>
            </a:r>
          </a:p>
          <a:p xmlns:a="http://schemas.openxmlformats.org/drawingml/2006/main">
            <a:r>
              <a:t>Different approaches are context, not baselines tested here. PDDL/HTN supply vocabulary for explicit capabilities; the implementation is not presented as a classical planner. Primary semantic evaluation used symbolic fixtures with object detection disabled. A multimodal model backend does not establish image-conditioned performance.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§2.5–2.9</a:t>
            </a:r>
          </a:p>
          <a:p xmlns:a="http://schemas.openxmlformats.org/drawingml/2006/main">
            <a:r>
              <a:t>https://arxiv.org/abs/2204.01691</a:t>
            </a:r>
          </a:p>
          <a:p xmlns:a="http://schemas.openxmlformats.org/drawingml/2006/main">
            <a:r>
              <a:t>https://arxiv.org/abs/2303.03378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8/32 · rehearsal budget 50 seconds</a:t>
            </a:r>
          </a:p>
          <a:p xmlns:a="http://schemas.openxmlformats.org/drawingml/2006/main">
            <a:r>
              <a:t>50 s. Original Figure 3.1 from the final thesis, cropped without redrawing. This is the conceptual graph: the implementation inserts orchestrator admission between chatbot and planner, and applies skill effects through kb_skills. Chatbot is an extended upstream component, not a wholly new local package. The planner never speaks or executes skills; the orchestrator does not become an LLM policy or world-model node.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3.1; §3.2–3.3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9/32 · rehearsal budget 40 seconds</a:t>
            </a:r>
          </a:p>
          <a:p xmlns:a="http://schemas.openxmlformats.org/drawingml/2006/main">
            <a:r>
              <a:t>40 s. Original Figure 3.2. Explain the execution branch and the feedback loop once. The next slides expand the omitted API boundaries. Planner communication is a request to the dialogue owner, not direct robot speech.</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3.2;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10/32 · rehearsal budget 60 seconds</a:t>
            </a:r>
          </a:p>
          <a:p xmlns:a="http://schemas.openxmlformats.org/drawingml/2006/main">
            <a:r>
              <a:t>The final thesis evaluated response_first: response and route first, then intent extraction under that route. The intent_first ablation reverses stage order. Both preserve the same output contract. confidence is a model/stage confidence value, not proof of correctness. scene_targets are hints until grounded. DialogueInteraction is a ROS service despite potentially nontrivial LLM latency.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4.2; Table 4.2; §4.2.1–4.2.2</a:t>
            </a:r>
          </a:p>
          <a:p xmlns:a="http://schemas.openxmlformats.org/drawingml/2006/main">
            <a:r>
              <a:t>C:/Users/Admin/PROJECTS/nao-ros4hri-bridge/src/nao_orchestrator/nao_orchestrator/orchestrator.py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11/32 · rehearsal budget 60 seconds</a:t>
            </a:r>
          </a:p>
          <a:p xmlns:a="http://schemas.openxmlformats.org/drawingml/2006/main">
            <a:r>
              <a:t>Grounding construction is deterministic; downstream entity selection and interpretation remain model-dependent. The detector and EMOROBCARE dataset are reused work. Image-plane centres are not metric-distance evidence. Source default freshness: KB lifespan 4 s, local scene expiry 4.5 s; no general guarantee of execution-time availability. Detector disabled in principal semantic qualification. Context JSON appears in appendix so the diagram remains readable.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4.5; Table 4.3;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12/32 · rehearsal budget 50 seconds</a:t>
            </a:r>
          </a:p>
          <a:p xmlns:a="http://schemas.openxmlformats.org/drawingml/2006/main">
            <a:r>
              <a:t>A contract comprises structure, semantics, allowed values and owner obligations. This is the final thesis Contract 3 example with abbreviated grounding, not a captured runtime event. Intent is the ROS envelope; JSON lives in data. The orchestrator normalises and admits transition and lineage before forwarding. No hidden executable plan from chatbot.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4.4; §4.1.4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13/32 · rehearsal budget 60 seconds</a:t>
            </a:r>
          </a:p>
          <a:p xmlns:a="http://schemas.openxmlformats.org/drawingml/2006/main">
            <a:r>
              <a:t>Exact selected fields from the local canonical-format registry mirror docs/architecture/ab_registry_input.json, checked against src/planner_llm/config/skill_registry.json. The canonical Neural-Wokbench nested source is absent in this Windows checkout. Do not imply params is itself JSON Schema: this projection lists names; value semantics and validation live in shared contracts and adapters. The thesis describes 12 planner-visible skills; not every primitive or proposal is runtime-callable.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4.5</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14/32 · rehearsal budget 60 seconds</a:t>
            </a:r>
          </a:p>
          <a:p xmlns:a="http://schemas.openxmlformats.org/drawingml/2006/main">
            <a:r>
              <a:t>Exact selected registry fields. Additional exact pick metadata: guidance resolves a grounded object; result requires skill,status,summary_text,evidence; safety flags manipulation/object_contact; runtime callable true; implementation_status fake; adapter fake_skills.pick_object; injection true. Preconditions may be scenario-owned in controlled tests. None proves a physical grasp. Full record split across appendix slides.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4.5</a:t>
            </a:r>
          </a:p>
          <a:p xmlns:a="http://schemas.openxmlformats.org/drawingml/2006/main">
            <a:r>
              <a:t>C:/Users/Admin/PROJECTS/nao-ros4hri-bridge/docs/architecture/ab_registry_input.json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15/32 · rehearsal budget 65 seconds</a:t>
            </a:r>
          </a:p>
          <a:p xmlns:a="http://schemas.openxmlformats.org/drawingml/2006/main">
            <a:r>
              <a:t>The goal-keyed planning-state helper reacts to correlated feedback, not an independent executor. Each step has a stable id, type and allowed skill name. retry_budget bounds retry; retry is not a separate on_failure enum. The next plan is independently validated at the orchestrator. The model cannot call robot APIs or insert speech as a normal executable plan step. Appendix includes a full readable plan excerpt.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4.3; Table 4.6; §4.2.3–4.2.4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16/32 · rehearsal budget 55 seconds</a:t>
            </a:r>
          </a:p>
          <a:p xmlns:a="http://schemas.openxmlformats.org/drawingml/2006/main">
            <a:r>
              <a:t>Figure 4.4. Execution feedback is std_msgs/msg/String on /planner/execution_feedback. Skill calls are actions in the demonstrated routes; fake endpoints use nao_skills/action/ScanScene. Real posture, head and gaze use their adapters. Failure follows validated policy; replan returns control to planner_llm. Checks constrain supported malformed cases but are not a complete safety proof.</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4.4; §4.2.6</a:t>
            </a:r>
          </a:p>
          <a:p xmlns:a="http://schemas.openxmlformats.org/drawingml/2006/main">
            <a:r>
              <a:t>C:/Users/Admin/PROJECTS/nao-ros4hri-bridge/src/nao_orchestrator/nao_orchestrator/orchestrator.py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17/32 · rehearsal budget 50 seconds</a:t>
            </a:r>
          </a:p>
          <a:p xmlns:a="http://schemas.openxmlformats.org/drawingml/2006/main">
            <a:r>
              <a:t>Excerpt of thesis Contract 6: the remove-holds operation is omitted for space, not a complete effect transaction. metadata.fake=true must remain visible. C7 carries result evidence, C8 requests communication and does not speak. In current frozen v1 source, orchestrator relays the act; dialogue_manager invokes chatbot wording and owns the Say dispatch. Do not copy obsolete direct-wording launch controls from older skill docs.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§4.1.7–4.1.9</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18/32 · rehearsal budget 50 seconds</a:t>
            </a:r>
          </a:p>
          <a:p xmlns:a="http://schemas.openxmlformats.org/drawingml/2006/main">
            <a:r>
              <a:t>The execution path is not a physics simulator. FakeSkillActionServer wraps FakeSkillEngine and scenario policy. Current native ScanScene fields: target,target_kind,max_sweeps,evidence_policy,result_mode; result success,message,summary_text,result_payload_json,duration; feedback status,progress. Structured request data is encoded by the adapter. Parameters include global_mode,active_scenario_id,mode_overrides_json,deterministic_seed. perform_motion is real by default; look_at fake by default in frozen v1 despite installed real adapter. Exact config is appendix.</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§4.4</a:t>
            </a:r>
          </a:p>
          <a:p xmlns:a="http://schemas.openxmlformats.org/drawingml/2006/main">
            <a:r>
              <a:t>C:/Users/Admin/PROJECTS/nao-ros4hri-bridge/src/fake_skills/fake_skills/action_server.py</a:t>
            </a:r>
          </a:p>
          <a:p xmlns:a="http://schemas.openxmlformats.org/drawingml/2006/main">
            <a:r>
              <a:t>C:/Users/Admin/PROJECTS/nao-ros4hri-bridge/src/nao_skills/action/ScanScene.action</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19/32 · rehearsal budget 60 seconds</a:t>
            </a:r>
          </a:p>
          <a:p xmlns:a="http://schemas.openxmlformats.org/drawingml/2006/main">
            <a:r>
              <a:t>Primary backend Qwen3-VL-30B-A3B-Instruct-AWQ via vLLM. Planner temperature 0.1 and output limit 800 per thesis. Detector disabled in the principal semantic profile; fixtures establish world state. Evidence unit is a case record, not one independent human trial. Explain freeze, repeated cases and why development retests do not replace retained failures.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§5.1–5.3; Table 5.1–5.3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20/32 · rehearsal budget 60 seconds</a:t>
            </a:r>
          </a:p>
          <a:p xmlns:a="http://schemas.openxmlformats.org/drawingml/2006/main">
            <a:r>
              <a:t>60 s. Four gates shown: correct semantic route; complete admitted plan; required controlled outcome; verified closure. Questionnaire22 includes6dialogue7KB4simple5composite; scene11; statefulKB7; controlled multistep9; robustness5 repeated3; multi-capability7; navigation recovery1. Use expected outcomes, not one generic successful-action rule: a clarification can be a pass for an underspecified request and a failure when all context is present. Exactly-once means per semantic event, not one utterance for the entire multi-stage task.</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21/32 · rehearsal budget 60 seconds</a:t>
            </a:r>
          </a:p>
          <a:p xmlns:a="http://schemas.openxmlformats.org/drawingml/2006/main">
            <a:r>
              <a:t>Authorship/supervision statement supplied directly by the user. Explain engineering support, not a causal measured efficiency gain or independently validated new algorithm. Runtime and development agents share the model+tools+constraints+feedback pattern; they are not the same running instances. Human judgement and responsibility remain with the author. The skill operational X/10 review score is not the experimental metric. Quotes checked against current SKILL.md; do not infer every historical run followed every current rule.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C:/Users/Admin/PROJECTS/nao-ros4hri-bridge/.codex/skills/robot-stack-iteration-loop/SKILL.md</a:t>
            </a:r>
          </a:p>
          <a:p xmlns:a="http://schemas.openxmlformats.org/drawingml/2006/main">
            <a:r>
              <a:t>C:/Users/Admin/PROJECTS/nao-ros4hri-bridge/.codex/skills/robot-runtime-performance-review/SKILL.md</a:t>
            </a:r>
          </a:p>
          <a:p xmlns:a="http://schemas.openxmlformats.org/drawingml/2006/main">
            <a:r>
              <a:t>Author statement in this review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22/32 · rehearsal budget 35 seconds</a:t>
            </a:r>
          </a:p>
          <a:p xmlns:a="http://schemas.openxmlformats.org/drawingml/2006/main">
            <a:r>
              <a:t>35 s. Confirm denominators: primary64pass8nonpass. Other26ablation21pass5nonpass; archive10=1pass7fail2excluded. Separate191supplement150pass32fail9excluded. Raw primary includes one degraded row, so call all8 non-pass, not8fails. Supplement file printed hash mismatch was noted during source verification; counts match. Do not make an integrity guarantee from printed hashes.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6.1;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23/32 · rehearsal budget 55 seconds</a:t>
            </a:r>
          </a:p>
          <a:p xmlns:a="http://schemas.openxmlformats.org/drawingml/2006/main">
            <a:r>
              <a:t>55 s. Native chart is updated with clear suite names, percentages and counts. Main22=20pass2nonpass; environment11/11; KB7/7; deep7/9; robustness12/15; capability5/7; navigation recovery1/1. These total72, with64passes. Case mix matters; report suite-level context rather than only the aggregate.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Tables 6.2–6.5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24/32 · rehearsal budget 45 seconds</a:t>
            </a:r>
          </a:p>
          <a:p xmlns:a="http://schemas.openxmlformats.org/drawingml/2006/main">
            <a:r>
              <a:t>45 s. Preserve the five strong taxonomy rows. Route: KB update incorrectly entered robot planner despite state change. Selection: target omitted. Role: kitchen mistaken as recipient. Coverage: required capability dropped. Closure: recovery lacked final outcome. Source/launch mismatch, QoS/ingress defects and absent correlation are engineering/observability findings; do not silently count them as semantic successes or model failures.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§6.1–6.4; §7.2–7.3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25/32 · rehearsal budget 40 seconds</a:t>
            </a:r>
          </a:p>
          <a:p xmlns:a="http://schemas.openxmlformats.org/drawingml/2006/main">
            <a:r>
              <a:t>40 s. Rates84.7%,85.0%,76.8% use the comparable strict profile denominators, not all191retained records. All models passed environment11/11; stress profiles differed. One retained campaign per model, exclusions and case mix prevent a universal ranking. The full table is appendix.</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§6.5; Tables 6.6–6.8; §7.1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26/32 · rehearsal budget 65 seconds</a:t>
            </a:r>
          </a:p>
          <a:p xmlns:a="http://schemas.openxmlformats.org/drawingml/2006/main">
            <a:r>
              <a:t>65 s. Historical July13 F13 retained pick-recovery case, separate provenance from the72primary denominator; final thesis Table6.4 also discusses it. Exact user text Pick up the phone. goal_default___718b0d50_2. Initial plan_1783979351305: find succeeded then pick failed. New plan_1783979355769: scan/find/pick/report succeeded, plan_completed. Do NOT claim that successful find was never repeated: it was repeated in the recovery plan. Mirrored logs contain duplicates; use correlated unique events, not log-line counts. Appendix holds the actual trace excerpt.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§6.3; Table 6.4</a:t>
            </a:r>
          </a:p>
          <a:p xmlns:a="http://schemas.openxmlformats.org/drawingml/2006/main">
            <a:r>
              <a:t>C:/Users/Admin/PROJECTS/nao-ros4hri-bridge/docs/evaluation/runs/F13_semantic_audit/raw/nao_fake_fail_once_pick_20260713_heavy_changes.json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27/32 · rehearsal budget 120 seconds</a:t>
            </a:r>
          </a:p>
          <a:p xmlns:a="http://schemas.openxmlformats.org/drawingml/2006/main">
            <a:r>
              <a:t>120 s maximum including transitions. Stack already running. Rehearsed dialogue, declared-symbolic-scene query, simple head action. State the chosen model and selected real/fake adapter honestly. If unavailable, use the supervisor video or retained trace immediately. No startup or troubleshooting during the defence. The video file has not been supplied to this workstation and is not embedded. Live illustration does not alter the frozen experimental denominator.</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§5.1</a:t>
            </a:r>
          </a:p>
          <a:p xmlns:a="http://schemas.openxmlformats.org/drawingml/2006/main">
            <a:r>
              <a:t>C:/Users/Admin/PROJECTS/nao-ros4hri-bridge/docs/presentation/TFM_DEFENCE_DEMO_RUNBOOK_2026-09-03.md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28/32 · rehearsal budget 45 seconds</a:t>
            </a:r>
          </a:p>
          <a:p xmlns:a="http://schemas.openxmlformats.org/drawingml/2006/main">
            <a:r>
              <a:t>45 s. Explicitly return to each research question. Claim the complete interaction architecture rather than one superior planning algorithm. Explain why rejection is valuable while retaining the task non-pass.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§6.6;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29/32 · rehearsal budget 45 seconds</a:t>
            </a:r>
          </a:p>
          <a:p xmlns:a="http://schemas.openxmlformats.org/drawingml/2006/main">
            <a:r>
              <a:t>45 s. Preserve supported/not-established/transfer columns. No repeated physical navigation, manipulation, perception-accuracy or human-safety qualification. Primary object detector disabled. Model series not statistically replicated. Dataset and harness evidence limitations remain explicit.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30/32 · rehearsal budget 60 seconds</a:t>
            </a:r>
          </a:p>
          <a:p xmlns:a="http://schemas.openxmlformats.org/drawingml/2006/main">
            <a:r>
              <a:t>60 s. Follow thesis§8.2 rather than replacing its future work with the later v2 roadmap. LoRA is a proposal, not a completed experiment. Second-platform portability remains unproven.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31/32 · rehearsal budget 35 seconds</a:t>
            </a:r>
          </a:p>
          <a:p xmlns:a="http://schemas.openxmlformats.org/drawingml/2006/main">
            <a:r>
              <a:t>35 s. Credit upstream ROS4HRI/dialogue/KnowledgeCore components and reused detector work. Distinguish original local integration and extension from library authorship. Agent-assisted tooling supported engineering; author retained design/review/acceptance responsibility.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 9</a:t>
            </a:r>
          </a:p>
          <a:p xmlns:a="http://schemas.openxmlformats.org/drawingml/2006/main">
            <a:r>
              <a:t>Author supervision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32/32 · rehearsal budget 35 seconds</a:t>
            </a:r>
          </a:p>
          <a:p xmlns:a="http://schemas.openxmlformats.org/drawingml/2006/main">
            <a:r>
              <a:t>35 s. Preserve the original closing statement. Resolve the research questions within supported task families and tested boundaries. Thank the board and transition to the Q&amp;A reference page.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Q&amp;A reference, directly after conclusion as requested. Use as navigation and memory aid rather than reading all answers.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Chapters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Counts sum to72 and64passes. Use non-pass rather than fail for aggregated primary records; primary contains a degraded row. Table updated to include recovery1/1.</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Tables 6.2–6.5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C:/Users/Admin/PROJECTS/nao-ros4hri-bridge/docs/artifacts/runtime_v34_model_agnostic_review/kb_stress_v33.json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C:/Users/Admin/PROJECTS/nao-ros4hri-bridge/docs/artifacts/runtime_v34_model_agnostic_review/kb_stress_v33.json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C:/Users/Admin/PROJECTS/nao-ros4hri-bridge/docs/artifacts/runtime_v34_model_agnostic_review/kb_stress_v33.json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C:/Users/Admin/PROJECTS/nao-ros4hri-bridge/docs/artifacts/runtime_v34_model_agnostic_review/kb_stress_v33.json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C:/Users/Admin/PROJECTS/nao-ros4hri-bridge/docs/artifacts/runtime_v34_model_agnostic_review/robustness_v34_r1.json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C:/Users/Admin/PROJECTS/nao-ros4hri-bridge/docs/artifacts/runtime_v34_model_agnostic_review/robustness_v34_r1.json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C:/Users/Admin/PROJECTS/nao-ros4hri-bridge/docs/artifacts/runtime_v34_model_agnostic_review/robustness_v34_r1.json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C:/Users/Admin/PROJECTS/nao-ros4hri-bridge/docs/artifacts/runtime_v34_model_agnostic_review/robustness_v34_r1.json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C:/Users/Admin/PROJECTS/nao-ros4hri-bridge/docs/artifacts/runtime_v34_model_agnostic_review/capability_extreme_v34.json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C:/Users/Admin/PROJECTS/nao-ros4hri-bridge/docs/artifacts/runtime_v34_model_agnostic_review/capability_extreme_v34.json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C:/Users/Admin/PROJECTS/nao-ros4hri-bridge/docs/artifacts/runtime_v34_model_agnostic_review/capability_extreme_v34.json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C:/Users/Admin/PROJECTS/nao-ros4hri-bridge/docs/artifacts/runtime_v34_model_agnostic_review/capability_extreme_v34.json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4.3;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Additional C7 runtime fields include plan_id,plan_version,event_type,timestamp_sec,blocking and retry metadata. C8 await_user_response tells dialogue that input is needed; slots_needed describes missing information. This feedback reason and dialogue reason are different thesis examples and are intentionally not presented as one trajectory.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§4.1.8–4.1.9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C:/Users/Admin/PROJECTS/nao-ros4hri-bridge/src/nao_skills/action/ScanScene.action</a:t>
            </a:r>
          </a:p>
          <a:p xmlns:a="http://schemas.openxmlformats.org/drawingml/2006/main">
            <a:r>
              <a:t>C:/Users/Admin/PROJECTS/nao-ros4hri-bridge/src/fake_skills/fake_skills/action_server.py</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§4.1.10; Table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Exact retained source lines:</a:t>
            </a:r>
          </a:p>
          <a:p xmlns:a="http://schemas.openxmlformats.org/drawingml/2006/main">
            <a:r>
              <a:t>TRACE_EVENT [1783979352.183] goal_default___718b0d50_2 | execution_feedback | /planner/execution_feedback | node=planner_llm | flow=goal_id=goal_default___718b0d50_2,plan_id=plan_1783979351305,event_type=step_succeeded,step=find_object</a:t>
            </a:r>
          </a:p>
          <a:p xmlns:a="http://schemas.openxmlformats.org/drawingml/2006/main">
            <a:r>
              <a:t>TRACE_EVENT [1783979352.946] goal_default___718b0d50_2 | execution_feedback | /planner/execution_feedback | node=planner_llm | flow=goal_id=goal_default___718b0d50_2,plan_id=plan_1783979351305,event_type=step_failed,step=pick_object</a:t>
            </a:r>
          </a:p>
          <a:p xmlns:a="http://schemas.openxmlformats.org/drawingml/2006/main">
            <a:r>
              <a:t>TRACE_EVENT [1783979359.641] goal_default___718b0d50_2 | execution_feedback | /planner/execution_feedback | node=planner_llm | flow=goal_id=goal_default___718b0d50_2,plan_id=plan_1783979355769,event_type=step_succeeded,step=scan</a:t>
            </a:r>
          </a:p>
          <a:p xmlns:a="http://schemas.openxmlformats.org/drawingml/2006/main">
            <a:r>
              <a:t>TRACE_EVENT [1783979360.506] goal_default___718b0d50_2 | execution_feedback | /planner/execution_feedback | node=planner_llm | flow=goal_id=goal_default___718b0d50_2,plan_id=plan_1783979355769,event_type=step_succeeded,step=find_object</a:t>
            </a:r>
          </a:p>
          <a:p xmlns:a="http://schemas.openxmlformats.org/drawingml/2006/main">
            <a:r>
              <a:t>TRACE_EVENT [1783979361.899] goal_default___718b0d50_2 | execution_feedback | /planner/execution_feedback | node=planner_llm | flow=goal_id=goal_default___718b0d50_2,plan_id=plan_1783979355769,event_type=step_succeeded,step=pick_object</a:t>
            </a:r>
          </a:p>
          <a:p xmlns:a="http://schemas.openxmlformats.org/drawingml/2006/main">
            <a:r>
              <a:t>TRACE_EVENT [1783979364.016] goal_default___718b0d50_2 | execution_feedback | /planner/execution_feedback | node=planner_llm | flow=goal_id=goal_default___718b0d50_2,plan_id=plan_1783979355769,event_type=step_succeeded,step=report_result</a:t>
            </a:r>
          </a:p>
          <a:p xmlns:a="http://schemas.openxmlformats.org/drawingml/2006/main">
            <a:r>
              <a:t>TRACE_EVENT [1783979364.017] goal_default___718b0d50_2 | execution_feedback | /planner/execution_feedback | node=planner_llm | flow=goal_id=goal_default___718b0d50_2,plan_id=plan_1783979355769,event_type=plan_completed</a:t>
            </a:r>
          </a:p>
          <a:p xmlns:a="http://schemas.openxmlformats.org/drawingml/2006/main">
            <a:r>
              <a:t>Assessment: {"all_required_context":false,"expected_outcome":"observe","reasons":["matched expected trajectory"],"status":"pass"}. Deduplicated display of unique outcomes; source log excerpt includes unrelated earlier events, excluded by goal correlation.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C:/Users/Admin/PROJECTS/nao-ros4hri-bridge/docs/evaluation/runs/F13_semantic_audit/raw/nao_fake_fail_once_pick_20260713_heavy_changes.json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Conceptual recap retained from original slide5. Planner ingress is chatbot→orchestrator admission→planner; the left-to-right simplified drawing is not the complete transport topology. See main technical slides for exact interfaces. Communication returns through the dialogue owner.</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§3.2;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PDF embedded primary dataset hash matches its printed table. Embedded supplement actual SHA e8d4ce4bda136fe6674e9af3cd2f3b7d78743ba528dfcc260f555549c73c8f59 differs from printed Table D.2. Counts agree. Do not state both attachments verified against printed hashes. This is a source integrity caveat, not a reason to modify thesis result counts.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292e5a725549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5e8bd984634c03" /><Relationship Type="http://schemas.openxmlformats.org/officeDocument/2006/relationships/slideLayout" Target="/ppt/slideLayouts/slideLayout1.xml" Id="R1b4b11a7ebc646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4b11a7ebc646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e57464afbf4d1f" /><Relationship Type="http://schemas.openxmlformats.org/officeDocument/2006/relationships/image" Target="/ppt/media/image.png" Id="R169bf5f7605f460c" /><Relationship Type="http://schemas.openxmlformats.org/officeDocument/2006/relationships/image" Target="/ppt/media/image.jpeg" Id="R66fb8e36684e40fc" /><Relationship Type="http://schemas.openxmlformats.org/officeDocument/2006/relationships/notesSlide" Target="/ppt/notesSlides/notesSlide1.xml" Id="R8eb22e9b8f014e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816282f8b9456b" /><Relationship Type="http://schemas.openxmlformats.org/officeDocument/2006/relationships/notesSlide" Target="/ppt/notesSlides/notesSlide2.xml" Id="R52e7a314d86940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4c6c255ebb4232" /><Relationship Type="http://schemas.openxmlformats.org/officeDocument/2006/relationships/notesSlide" Target="/ppt/notesSlides/notesSlide3.xml" Id="R5e7f72e4d7224a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cc2d172d694186" /><Relationship Type="http://schemas.openxmlformats.org/officeDocument/2006/relationships/notesSlide" Target="/ppt/notesSlides/notesSlide4.xml" Id="R4920eda5908d44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1f9994e98d47ac" /><Relationship Type="http://schemas.openxmlformats.org/officeDocument/2006/relationships/image" Target="/ppt/media/image2.jpeg" Id="R6c91eda8b6cb462d" /><Relationship Type="http://schemas.openxmlformats.org/officeDocument/2006/relationships/notesSlide" Target="/ppt/notesSlides/notesSlide5.xml" Id="R472ae41a611f42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9cafaf55294b5e" /><Relationship Type="http://schemas.openxmlformats.org/officeDocument/2006/relationships/notesSlide" Target="/ppt/notesSlides/notesSlide6.xml" Id="Rd1003df1c6db4e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4c2ccd090e4944" /><Relationship Type="http://schemas.openxmlformats.org/officeDocument/2006/relationships/notesSlide" Target="/ppt/notesSlides/notesSlide7.xml" Id="R9f6d55c69ad747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8286e5488f4fb4" /><Relationship Type="http://schemas.openxmlformats.org/officeDocument/2006/relationships/image" Target="/ppt/media/image2.png" Id="Ra377b27813704b3d" /><Relationship Type="http://schemas.openxmlformats.org/officeDocument/2006/relationships/notesSlide" Target="/ppt/notesSlides/notesSlide8.xml" Id="R336d455f8af448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31bd42bc5f44a4" /><Relationship Type="http://schemas.openxmlformats.org/officeDocument/2006/relationships/image" Target="/ppt/media/image3.png" Id="R0b91b7cbe1394d4f" /><Relationship Type="http://schemas.openxmlformats.org/officeDocument/2006/relationships/notesSlide" Target="/ppt/notesSlides/notesSlide9.xml" Id="R9670f3e1e8334a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2419dbcef44b77" /><Relationship Type="http://schemas.openxmlformats.org/officeDocument/2006/relationships/image" Target="/ppt/media/image4.png" Id="R703735ea0ee14e63" /><Relationship Type="http://schemas.openxmlformats.org/officeDocument/2006/relationships/notesSlide" Target="/ppt/notesSlides/notesSlide10.xml" Id="Rbe7da2f5297d43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f88455590734f48" /><Relationship Type="http://schemas.openxmlformats.org/officeDocument/2006/relationships/image" Target="/ppt/media/image5.png" Id="Re16b03938cf4423f" /><Relationship Type="http://schemas.openxmlformats.org/officeDocument/2006/relationships/notesSlide" Target="/ppt/notesSlides/notesSlide11.xml" Id="R660372be39d849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9745d0496841ee" /><Relationship Type="http://schemas.openxmlformats.org/officeDocument/2006/relationships/notesSlide" Target="/ppt/notesSlides/notesSlide12.xml" Id="Rafaa0236b1284e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7699136fcf4fc8" /><Relationship Type="http://schemas.openxmlformats.org/officeDocument/2006/relationships/notesSlide" Target="/ppt/notesSlides/notesSlide13.xml" Id="R7a179a8707b74c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7e008773e274180" /><Relationship Type="http://schemas.openxmlformats.org/officeDocument/2006/relationships/notesSlide" Target="/ppt/notesSlides/notesSlide14.xml" Id="Ra3c2ad477cff44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d3ccf9ee9e04c4f" /><Relationship Type="http://schemas.openxmlformats.org/officeDocument/2006/relationships/image" Target="/ppt/media/image6.png" Id="Rf4b13e5854884fb9" /><Relationship Type="http://schemas.openxmlformats.org/officeDocument/2006/relationships/notesSlide" Target="/ppt/notesSlides/notesSlide15.xml" Id="Racda0b1e5a4e46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5372476198451e" /><Relationship Type="http://schemas.openxmlformats.org/officeDocument/2006/relationships/image" Target="/ppt/media/image7.png" Id="R0db9f1ce43474db5" /><Relationship Type="http://schemas.openxmlformats.org/officeDocument/2006/relationships/notesSlide" Target="/ppt/notesSlides/notesSlide16.xml" Id="R037c25b9cf1c4b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36f73c30f849a6" /><Relationship Type="http://schemas.openxmlformats.org/officeDocument/2006/relationships/notesSlide" Target="/ppt/notesSlides/notesSlide17.xml" Id="R5768c67162a94ea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9b80058b19456e" /><Relationship Type="http://schemas.openxmlformats.org/officeDocument/2006/relationships/notesSlide" Target="/ppt/notesSlides/notesSlide18.xml" Id="Rf9585d498b7546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94c6363bd94bfe" /><Relationship Type="http://schemas.openxmlformats.org/officeDocument/2006/relationships/notesSlide" Target="/ppt/notesSlides/notesSlide19.xml" Id="R55f9cc35203f4e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b9961f8cba24223" /><Relationship Type="http://schemas.openxmlformats.org/officeDocument/2006/relationships/notesSlide" Target="/ppt/notesSlides/notesSlide20.xml" Id="R3ff43ae9e47a4c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42d2359388b4e67" /><Relationship Type="http://schemas.openxmlformats.org/officeDocument/2006/relationships/notesSlide" Target="/ppt/notesSlides/notesSlide21.xml" Id="Re3b063d028934c6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5f3ad38cec4853" /><Relationship Type="http://schemas.openxmlformats.org/officeDocument/2006/relationships/notesSlide" Target="/ppt/notesSlides/notesSlide22.xml" Id="R70bc2be791f041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b61f4f31a174390" /><Relationship Type="http://schemas.openxmlformats.org/officeDocument/2006/relationships/chart" Target="/ppt/slides/charts/chart1.xml" Id="R5353948bba71495a" /><Relationship Type="http://schemas.openxmlformats.org/officeDocument/2006/relationships/notesSlide" Target="/ppt/notesSlides/notesSlide23.xml" Id="R5efad49d6b74469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f52eb98f5ed4099" /><Relationship Type="http://schemas.openxmlformats.org/officeDocument/2006/relationships/notesSlide" Target="/ppt/notesSlides/notesSlide24.xml" Id="R33b1480312a04f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257bce719844da" /><Relationship Type="http://schemas.openxmlformats.org/officeDocument/2006/relationships/notesSlide" Target="/ppt/notesSlides/notesSlide25.xml" Id="R260866c0906d4e8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5fb23609685439c" /><Relationship Type="http://schemas.openxmlformats.org/officeDocument/2006/relationships/notesSlide" Target="/ppt/notesSlides/notesSlide26.xml" Id="R5a8d48fb465547a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3d3a43f7f3647c1" /><Relationship Type="http://schemas.openxmlformats.org/officeDocument/2006/relationships/notesSlide" Target="/ppt/notesSlides/notesSlide27.xml" Id="R16a3791d9aca402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9e0d98cb52c4542" /><Relationship Type="http://schemas.openxmlformats.org/officeDocument/2006/relationships/notesSlide" Target="/ppt/notesSlides/notesSlide28.xml" Id="Rdde1edb0d8f7435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d98f59545324066" /><Relationship Type="http://schemas.openxmlformats.org/officeDocument/2006/relationships/notesSlide" Target="/ppt/notesSlides/notesSlide29.xml" Id="R63cdfbe7c9984c6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4099826bec74c7c" /><Relationship Type="http://schemas.openxmlformats.org/officeDocument/2006/relationships/notesSlide" Target="/ppt/notesSlides/notesSlide30.xml" Id="R161d7356f1da46a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441f28a46134ffc" /><Relationship Type="http://schemas.openxmlformats.org/officeDocument/2006/relationships/notesSlide" Target="/ppt/notesSlides/notesSlide31.xml" Id="Rf9c0379e18cc4a9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8bb4871a5194aaf" /><Relationship Type="http://schemas.openxmlformats.org/officeDocument/2006/relationships/notesSlide" Target="/ppt/notesSlides/notesSlide32.xml" Id="Rb9992df64bde41f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c1c5bf6657544d7" /><Relationship Type="http://schemas.openxmlformats.org/officeDocument/2006/relationships/notesSlide" Target="/ppt/notesSlides/notesSlide33.xml" Id="R602eab7c5971426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c508da31b504082" /><Relationship Type="http://schemas.openxmlformats.org/officeDocument/2006/relationships/notesSlide" Target="/ppt/notesSlides/notesSlide34.xml" Id="R5204bb3f70cb4e1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4d6b254241f4cdd" /><Relationship Type="http://schemas.openxmlformats.org/officeDocument/2006/relationships/notesSlide" Target="/ppt/notesSlides/notesSlide35.xml" Id="R0fecda05e96c471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4b895502beb4280" /><Relationship Type="http://schemas.openxmlformats.org/officeDocument/2006/relationships/notesSlide" Target="/ppt/notesSlides/notesSlide36.xml" Id="Re43a943fbfbe472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ef72b64c28440b9" /><Relationship Type="http://schemas.openxmlformats.org/officeDocument/2006/relationships/notesSlide" Target="/ppt/notesSlides/notesSlide37.xml" Id="R95ab249ad46647b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387ecda7e73438c" /><Relationship Type="http://schemas.openxmlformats.org/officeDocument/2006/relationships/notesSlide" Target="/ppt/notesSlides/notesSlide38.xml" Id="Rfab36af9395840b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1686668be24cda" /><Relationship Type="http://schemas.openxmlformats.org/officeDocument/2006/relationships/notesSlide" Target="/ppt/notesSlides/notesSlide39.xml" Id="Rd8465b5197af436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6687db363764a90" /><Relationship Type="http://schemas.openxmlformats.org/officeDocument/2006/relationships/notesSlide" Target="/ppt/notesSlides/notesSlide40.xml" Id="R905a4aea9fd848a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93f2ee9c4474d9d" /><Relationship Type="http://schemas.openxmlformats.org/officeDocument/2006/relationships/notesSlide" Target="/ppt/notesSlides/notesSlide41.xml" Id="R79eb6a45882a4fe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9d48c4de5fd4b8f" /><Relationship Type="http://schemas.openxmlformats.org/officeDocument/2006/relationships/notesSlide" Target="/ppt/notesSlides/notesSlide42.xml" Id="R3692240f5b72487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f32b776e76f43d3" /><Relationship Type="http://schemas.openxmlformats.org/officeDocument/2006/relationships/notesSlide" Target="/ppt/notesSlides/notesSlide43.xml" Id="Rbb96c4a4fccf4b8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63891b83bda41a6" /><Relationship Type="http://schemas.openxmlformats.org/officeDocument/2006/relationships/notesSlide" Target="/ppt/notesSlides/notesSlide44.xml" Id="R02cbe03ed3c4403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315559acb9a442d" /><Relationship Type="http://schemas.openxmlformats.org/officeDocument/2006/relationships/notesSlide" Target="/ppt/notesSlides/notesSlide45.xml" Id="R7fd560d7b02e436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47ec117c965473b" /><Relationship Type="http://schemas.openxmlformats.org/officeDocument/2006/relationships/notesSlide" Target="/ppt/notesSlides/notesSlide46.xml" Id="R8aeb60543338435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c6092e45c49408f" /><Relationship Type="http://schemas.openxmlformats.org/officeDocument/2006/relationships/notesSlide" Target="/ppt/notesSlides/notesSlide47.xml" Id="R5600929f757e448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d798ae469d54899" /><Relationship Type="http://schemas.openxmlformats.org/officeDocument/2006/relationships/notesSlide" Target="/ppt/notesSlides/notesSlide48.xml" Id="R2cc3083e48434c7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b78bfba15c0448b" /><Relationship Type="http://schemas.openxmlformats.org/officeDocument/2006/relationships/notesSlide" Target="/ppt/notesSlides/notesSlide49.xml" Id="R1bf78cef710e40c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b7cf51aa17a47d1" /><Relationship Type="http://schemas.openxmlformats.org/officeDocument/2006/relationships/notesSlide" Target="/ppt/notesSlides/notesSlide50.xml" Id="R7a5c043deff549c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c56ebf9542444c9" /><Relationship Type="http://schemas.openxmlformats.org/officeDocument/2006/relationships/notesSlide" Target="/ppt/notesSlides/notesSlide51.xml" Id="Rf5d5ce9a34df4b2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e10fd1d5f4744ba" /><Relationship Type="http://schemas.openxmlformats.org/officeDocument/2006/relationships/notesSlide" Target="/ppt/notesSlides/notesSlide52.xml" Id="R21da116f6059458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cd029ed30dd4760" /><Relationship Type="http://schemas.openxmlformats.org/officeDocument/2006/relationships/notesSlide" Target="/ppt/notesSlides/notesSlide53.xml" Id="R141021fe35774b5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c6aba9a61824958" /><Relationship Type="http://schemas.openxmlformats.org/officeDocument/2006/relationships/notesSlide" Target="/ppt/notesSlides/notesSlide54.xml" Id="R28988548b6e441e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791c70886574f74" /><Relationship Type="http://schemas.openxmlformats.org/officeDocument/2006/relationships/notesSlide" Target="/ppt/notesSlides/notesSlide55.xml" Id="Rc3c441f53c6e4b7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87e7ab79bb14a83" /><Relationship Type="http://schemas.openxmlformats.org/officeDocument/2006/relationships/notesSlide" Target="/ppt/notesSlides/notesSlide56.xml" Id="R05c3c470464b44e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bdd3b4ceb7b410b" /><Relationship Type="http://schemas.openxmlformats.org/officeDocument/2006/relationships/notesSlide" Target="/ppt/notesSlides/notesSlide57.xml" Id="R44b5766b6433492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e1dcc023ff840f2" /><Relationship Type="http://schemas.openxmlformats.org/officeDocument/2006/relationships/notesSlide" Target="/ppt/notesSlides/notesSlide58.xml" Id="Rb75b5528e0a1465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cf2b3fd38c084502" /><Relationship Type="http://schemas.openxmlformats.org/officeDocument/2006/relationships/notesSlide" Target="/ppt/notesSlides/notesSlide59.xml" Id="R394524ccc459404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d0857e978db478d" /><Relationship Type="http://schemas.openxmlformats.org/officeDocument/2006/relationships/notesSlide" Target="/ppt/notesSlides/notesSlide60.xml" Id="R76bfc48ac8934b5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895278e6228441b" /><Relationship Type="http://schemas.openxmlformats.org/officeDocument/2006/relationships/notesSlide" Target="/ppt/notesSlides/notesSlide61.xml" Id="R2b3fc17bfafd401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f11d4b695244430" /><Relationship Type="http://schemas.openxmlformats.org/officeDocument/2006/relationships/notesSlide" Target="/ppt/notesSlides/notesSlide62.xml" Id="Rc0a5c5691d8149e5" /></Relationships>
</file>

<file path=ppt/slides/charts/chart1.xml><?xml version="1.0" encoding="utf-8"?>
<c:chartSpace xmlns:c="http://schemas.openxmlformats.org/drawingml/2006/chart">
  <c:lang val="en-US"/>
  <c:chart>
    <c:plotArea>
      <c:barChart>
        <c:barDir val="bar"/>
        <c:grouping val="clustered"/>
        <c:varyColors val="0"/>
        <c:ser>
          <c:idx val="0"/>
          <c:order val="0"/>
          <c:tx>
            <c:v>Pass rate</c:v>
          </c:tx>
          <c:spPr>
            <a:solidFill xmlns:a="http://schemas.openxmlformats.org/drawingml/2006/main">
              <a:srgbClr val="0C6570"/>
            </a:solidFill>
          </c:spPr>
          <c:cat>
            <c:strLit>
              <c:ptCount val="7"/>
              <c:pt idx="0">
                <c:v>End-to-end 20/22</c:v>
              </c:pt>
              <c:pt idx="1">
                <c:v>Scene 11/11</c:v>
              </c:pt>
              <c:pt idx="2">
                <c:v>Stateful KB 7/7</c:v>
              </c:pt>
              <c:pt idx="3">
                <c:v>Multi-step 7/9</c:v>
              </c:pt>
              <c:pt idx="4">
                <c:v>Robustness 12/15</c:v>
              </c:pt>
              <c:pt idx="5">
                <c:v>Capability 5/7</c:v>
              </c:pt>
              <c:pt idx="6">
                <c:v>Nav recovery 1/1</c:v>
              </c:pt>
            </c:strLit>
          </c:cat>
          <c:val>
            <c:numLit>
              <c:formatCode>0"%"</c:formatCode>
              <c:ptCount val="7"/>
              <c:pt idx="0">
                <c:v>90.9</c:v>
              </c:pt>
              <c:pt idx="1">
                <c:v>100</c:v>
              </c:pt>
              <c:pt idx="2">
                <c:v>100</c:v>
              </c:pt>
              <c:pt idx="3">
                <c:v>77.8</c:v>
              </c:pt>
              <c:pt idx="4">
                <c:v>80</c:v>
              </c:pt>
              <c:pt idx="5">
                <c:v>71.4</c:v>
              </c:pt>
              <c:pt idx="6">
                <c:v>100</c:v>
              </c:pt>
            </c:numLit>
          </c:val>
        </c:ser>
        <c:dLbls>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770"/>
                </a:solidFill>
              </a:defRPr>
            </a:pPr>
          </a:p>
        </c:txPr>
        <c:crossAx val="48672768"/>
      </c:catAx>
      <c:valAx>
        <c:axId val="48672768"/>
        <c:scaling>
          <c:orientation val="minMax"/>
          <c:max val="100"/>
          <c:min val="0"/>
        </c:scaling>
        <c:delete val="0"/>
        <c:axPos val="b"/>
        <c:majorGridlines>
          <c:spPr>
            <a:ln xmlns:a="http://schemas.openxmlformats.org/drawingml/2006/main" w="4763">
              <a:solidFill>
                <a:srgbClr val="DDE4E4"/>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73F47"/>
                </a:solidFill>
              </a:defRPr>
            </a:pPr>
          </a:p>
        </c:txPr>
        <c:crossAx val="48650112"/>
        <c:crossBetween val="between"/>
        <c:majorUnit val="20"/>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A0F03F-3A45-4F92-BC59-84423AF2695A}"/>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E4CA6F8-6E1C-4C4F-B027-D4A196450BC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6642CB4-A5AE-45BA-85FC-03D63C15E93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OPENING</a:t>
            </a:r>
          </a:p>
        </p:txBody>
      </p:sp>
      <p:sp>
        <p:nvSpPr>
          <p:cNvPr id="4" name="">
            <a:extLst xmlns:a="http://schemas.openxmlformats.org/drawingml/2006/main">
              <a:ext uri="{FF2B5EF4-FFF2-40B4-BE49-F238E27FC236}">
                <a16:creationId xmlns:a16="http://schemas.microsoft.com/office/drawing/2014/main" id="{53A3B3BA-25F0-48AC-96C1-EED31E0F64F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2E1CB9C-D215-4435-A358-3E4E65D6A1B9}"/>
              </a:ext>
            </a:extLst>
          </p:cNvPr>
          <p:cNvSpPr>
            <a:spLocks xmlns:a="http://schemas.openxmlformats.org/drawingml/2006/main" noGrp="1"/>
          </p:cNvSpPr>
          <p:nvPr/>
        </p:nvSpPr>
        <p:spPr>
          <a:xfrm xmlns:a="http://schemas.openxmlformats.org/drawingml/2006/main">
            <a:off x="685800" y="72390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0C6570"/>
                </a:solidFill>
                <a:latin typeface="Arial"/>
                <a:ea typeface="Arial"/>
                <a:cs typeface="Arial"/>
              </a:defRPr>
            </a:pPr>
            <a:r>
              <a:rPr sz="1125" b="1" i="0">
                <a:solidFill>
                  <a:srgbClr val="0C6570"/>
                </a:solidFill>
                <a:latin typeface="Arial"/>
                <a:ea typeface="Arial"/>
                <a:cs typeface="Arial"/>
              </a:rPr>
              <a:t>MASTER'S THESIS DEFENCE</a:t>
            </a:r>
          </a:p>
        </p:txBody>
      </p:sp>
      <p:sp>
        <p:nvSpPr>
          <p:cNvPr id="6" name="">
            <a:extLst xmlns:a="http://schemas.openxmlformats.org/drawingml/2006/main">
              <a:ext uri="{FF2B5EF4-FFF2-40B4-BE49-F238E27FC236}">
                <a16:creationId xmlns:a16="http://schemas.microsoft.com/office/drawing/2014/main" id="{A9BBD080-F1EF-4D48-877F-916DB8B506AA}"/>
              </a:ext>
            </a:extLst>
          </p:cNvPr>
          <p:cNvSpPr>
            <a:spLocks xmlns:a="http://schemas.openxmlformats.org/drawingml/2006/main" noGrp="1"/>
          </p:cNvSpPr>
          <p:nvPr/>
        </p:nvSpPr>
        <p:spPr>
          <a:xfrm xmlns:a="http://schemas.openxmlformats.org/drawingml/2006/main">
            <a:off x="685800" y="1104900"/>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Design, Integration, and</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Validation of a Modular</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LLM-Based Interactive</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Architecture</a:t>
            </a:r>
          </a:p>
        </p:txBody>
      </p:sp>
      <p:sp>
        <p:nvSpPr>
          <p:cNvPr id="7" name="">
            <a:extLst xmlns:a="http://schemas.openxmlformats.org/drawingml/2006/main">
              <a:ext uri="{FF2B5EF4-FFF2-40B4-BE49-F238E27FC236}">
                <a16:creationId xmlns:a16="http://schemas.microsoft.com/office/drawing/2014/main" id="{B597FC6D-176C-4F67-B09F-FCDD5CFB2867}"/>
              </a:ext>
            </a:extLst>
          </p:cNvPr>
          <p:cNvSpPr>
            <a:spLocks xmlns:a="http://schemas.openxmlformats.org/drawingml/2006/main" noGrp="1"/>
          </p:cNvSpPr>
          <p:nvPr/>
        </p:nvSpPr>
        <p:spPr>
          <a:xfrm xmlns:a="http://schemas.openxmlformats.org/drawingml/2006/main">
            <a:off x="685800" y="4143375"/>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B6770"/>
                </a:solidFill>
                <a:latin typeface="Arial"/>
                <a:ea typeface="Arial"/>
                <a:cs typeface="Arial"/>
              </a:defRPr>
            </a:pPr>
            <a:r>
              <a:rPr sz="1875" b="0" i="0">
                <a:solidFill>
                  <a:srgbClr val="5B6770"/>
                </a:solidFill>
                <a:latin typeface="Arial"/>
                <a:ea typeface="Arial"/>
                <a:cs typeface="Arial"/>
              </a:rPr>
              <a:t>A NAO-centred ROS 2 architecture for grounded dialogue, structured planning, deterministic execution, and evidence-based reporting.</a:t>
            </a:r>
          </a:p>
        </p:txBody>
      </p:sp>
      <p:sp>
        <p:nvSpPr>
          <p:cNvPr id="8" name="">
            <a:extLst xmlns:a="http://schemas.openxmlformats.org/drawingml/2006/main">
              <a:ext uri="{FF2B5EF4-FFF2-40B4-BE49-F238E27FC236}">
                <a16:creationId xmlns:a16="http://schemas.microsoft.com/office/drawing/2014/main" id="{C83A81A4-D618-486B-9C0F-BFE80B414B43}"/>
              </a:ext>
            </a:extLst>
          </p:cNvPr>
          <p:cNvSpPr>
            <a:spLocks xmlns:a="http://schemas.openxmlformats.org/drawingml/2006/main" noGrp="1"/>
          </p:cNvSpPr>
          <p:nvPr/>
        </p:nvSpPr>
        <p:spPr>
          <a:xfrm xmlns:a="http://schemas.openxmlformats.org/drawingml/2006/main">
            <a:off x="685800" y="5257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Juan David Bendek Williamson    •    Supervised by Raquel Ros    •    2025–2026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69bf5f7605f460c"/>
          <a:stretch xmlns:a="http://schemas.openxmlformats.org/drawingml/2006/main"/>
        </p:blipFill>
        <p:spPr>
          <a:xfrm xmlns:a="http://schemas.openxmlformats.org/drawingml/2006/main">
            <a:off x="718125" y="5753100"/>
            <a:ext cx="11355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E019D3-651E-44B5-A34B-87AEF2F3AAEF}"/>
              </a:ext>
            </a:extLst>
          </p:cNvPr>
          <p:cNvSpPr>
            <a:spLocks xmlns:a="http://schemas.openxmlformats.org/drawingml/2006/main" noGrp="1"/>
          </p:cNvSpPr>
          <p:nvPr/>
        </p:nvSpPr>
        <p:spPr>
          <a:xfrm xmlns:a="http://schemas.openxmlformats.org/drawingml/2006/main">
            <a:off x="2076450" y="5734050"/>
            <a:ext cx="9525" cy="514350"/>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1" name="">
            <a:extLst xmlns:a="http://schemas.openxmlformats.org/drawingml/2006/main">
              <a:ext uri="{FF2B5EF4-FFF2-40B4-BE49-F238E27FC236}">
                <a16:creationId xmlns:a16="http://schemas.microsoft.com/office/drawing/2014/main" id="{F8999E49-9FC6-44A8-8471-626219BFDEF0}"/>
              </a:ext>
            </a:extLst>
          </p:cNvPr>
          <p:cNvSpPr>
            <a:spLocks xmlns:a="http://schemas.openxmlformats.org/drawingml/2006/main" noGrp="1"/>
          </p:cNvSpPr>
          <p:nvPr/>
        </p:nvSpPr>
        <p:spPr>
          <a:xfrm xmlns:a="http://schemas.openxmlformats.org/drawingml/2006/main">
            <a:off x="2266950" y="578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IIIA-CSIC / Universitat Autònoma de Barcelona</a:t>
            </a:r>
          </a:p>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MSc Modelling for Science and Engineering</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6fb8e36684e40fc"/>
          <a:srcRect xmlns:a="http://schemas.openxmlformats.org/drawingml/2006/main" l="0" t="9038" r="0" b="9038"/>
          <a:stretch xmlns:a="http://schemas.openxmlformats.org/drawingml/2006/main">
            <a:fillRect l="0" t="0" r="0" b="0"/>
          </a:stretch>
        </p:blipFill>
        <p:spPr>
          <a:xfrm xmlns:a="http://schemas.openxmlformats.org/drawingml/2006/main">
            <a:off x="8334375" y="1800225"/>
            <a:ext cx="3095625" cy="3381375"/>
          </a:xfrm>
          <a:prstGeom xmlns:a="http://schemas.openxmlformats.org/drawingml/2006/main" prst="rect">
            <a:avLst/>
          </a:prstGeom>
        </p:spPr>
      </p:pic>
    </p:spTree>
    <p:extLst>
      <p:ext uri="{BB962C8B-B14F-4D97-AF65-F5344CB8AC3E}">
        <p14:creationId xmlns:p14="http://schemas.microsoft.com/office/powerpoint/2010/main" val="2574498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Language must become verifiable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References depend on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instruction can combine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plausible answer may omit a target or invent a capability.</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needs explicit state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Ground symbols in the available scene and knowledge.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Validate capabilities, arguments and ordered steps.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Establish completion from results, not from predicted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Problem: connect flexible interpretation to bounded, inspectable execution.</a:t>
            </a:r>
          </a:p>
        </p:txBody>
      </p:sp>
    </p:spTree>
    <p:extLst>
      <p:ext uri="{BB962C8B-B14F-4D97-AF65-F5344CB8AC3E}">
        <p14:creationId xmlns:p14="http://schemas.microsoft.com/office/powerpoint/2010/main" val="16944355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0992EBC-519E-4D5D-A072-7B778C96220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51050CB-7CAF-45E9-9D1C-6B0C91F8AE7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B82BD1D-6CB1-44CB-85FE-846FDFD59DE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301AB84D-CB9C-4CD2-800B-0441A57D83D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DC95708-F7C5-4091-962E-25C1DBAA447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7C6A082C-DF18-4447-B7FF-4911281149DC}"/>
              </a:ext>
            </a:extLst>
          </p:cNvPr>
          <p:cNvSpPr>
            <a:spLocks xmlns:a="http://schemas.openxmlformats.org/drawingml/2006/main" noGrp="1"/>
          </p:cNvSpPr>
          <p:nvPr/>
        </p:nvSpPr>
        <p:spPr>
          <a:xfrm xmlns:a="http://schemas.openxmlformats.org/drawingml/2006/main">
            <a:off x="685800" y="838200"/>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775" b="1" i="0">
                <a:solidFill>
                  <a:srgbClr val="13202A"/>
                </a:solidFill>
                <a:latin typeface="Georgia"/>
                <a:ea typeface="Georgia"/>
                <a:cs typeface="Georgia"/>
              </a:defRPr>
            </a:pPr>
            <a:r>
              <a:rPr sz="2775" b="1" i="0">
                <a:solidFill>
                  <a:srgbClr val="13202A"/>
                </a:solidFill>
                <a:latin typeface="Georgia"/>
                <a:ea typeface="Georgia"/>
                <a:cs typeface="Georgia"/>
              </a:rPr>
              <a:t>Five questions guide the integrated stack.</a:t>
            </a:r>
          </a:p>
        </p:txBody>
      </p:sp>
      <p:sp>
        <p:nvSpPr>
          <p:cNvPr id="7" name="">
            <a:extLst xmlns:a="http://schemas.openxmlformats.org/drawingml/2006/main">
              <a:ext uri="{FF2B5EF4-FFF2-40B4-BE49-F238E27FC236}">
                <a16:creationId xmlns:a16="http://schemas.microsoft.com/office/drawing/2014/main" id="{3EB56797-BB8B-491E-B4BD-DC0C299F90D5}"/>
              </a:ext>
            </a:extLst>
          </p:cNvPr>
          <p:cNvSpPr>
            <a:spLocks xmlns:a="http://schemas.openxmlformats.org/drawingml/2006/main" noGrp="1"/>
          </p:cNvSpPr>
          <p:nvPr/>
        </p:nvSpPr>
        <p:spPr>
          <a:xfrm xmlns:a="http://schemas.openxmlformats.org/drawingml/2006/main">
            <a:off x="685800" y="1952625"/>
            <a:ext cx="10763250" cy="1352550"/>
          </a:xfrm>
          <a:prstGeom xmlns:a="http://schemas.openxmlformats.org/drawingml/2006/main" prst="roundRect">
            <a:avLst>
              <a:gd name="adj" fmla="val 14085"/>
            </a:avLst>
          </a:prstGeom>
          <a:solidFill xmlns:a="http://schemas.openxmlformats.org/drawingml/2006/main">
            <a:srgbClr val="073F47"/>
          </a:solidFill>
          <a:ln xmlns:a="http://schemas.openxmlformats.org/drawingml/2006/main" w="0">
            <a:solidFill>
              <a:srgbClr val="073F47"/>
            </a:solidFill>
            <a:prstDash val="solid"/>
          </a:ln>
        </p:spPr>
      </p:sp>
      <p:sp>
        <p:nvSpPr>
          <p:cNvPr id="8" name="">
            <a:extLst xmlns:a="http://schemas.openxmlformats.org/drawingml/2006/main">
              <a:ext uri="{FF2B5EF4-FFF2-40B4-BE49-F238E27FC236}">
                <a16:creationId xmlns:a16="http://schemas.microsoft.com/office/drawing/2014/main" id="{AC47A6D2-D4D8-4B0D-A8C9-A841ABD6242E}"/>
              </a:ext>
            </a:extLst>
          </p:cNvPr>
          <p:cNvSpPr>
            <a:spLocks xmlns:a="http://schemas.openxmlformats.org/drawingml/2006/main" noGrp="1"/>
          </p:cNvSpPr>
          <p:nvPr/>
        </p:nvSpPr>
        <p:spPr>
          <a:xfrm xmlns:a="http://schemas.openxmlformats.org/drawingml/2006/main">
            <a:off x="1028700" y="2209800"/>
            <a:ext cx="1007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FFFFFF"/>
                </a:solidFill>
                <a:latin typeface="Georgia"/>
                <a:ea typeface="Georgia"/>
                <a:cs typeface="Georgia"/>
              </a:defRPr>
            </a:pPr>
            <a:r>
              <a:rPr sz="1875" b="1" i="0">
                <a:solidFill>
                  <a:srgbClr val="FFFFFF"/>
                </a:solidFill>
                <a:latin typeface="Georgia"/>
                <a:ea typeface="Georgia"/>
                <a:cs typeface="Georgia"/>
              </a:rPr>
              <a:t>How can a modular robot architecture integrate dialogue, symbolic grounding, planning, deterministic execution, and feedback while preserving clear responsibility boundaries and evidence-based communication?</a:t>
            </a:r>
          </a:p>
        </p:txBody>
      </p:sp>
      <p:sp>
        <p:nvSpPr>
          <p:cNvPr id="9" name="">
            <a:extLst xmlns:a="http://schemas.openxmlformats.org/drawingml/2006/main">
              <a:ext uri="{FF2B5EF4-FFF2-40B4-BE49-F238E27FC236}">
                <a16:creationId xmlns:a16="http://schemas.microsoft.com/office/drawing/2014/main" id="{D25F9782-9553-44CC-8BC2-8AF71558D022}"/>
              </a:ext>
            </a:extLst>
          </p:cNvPr>
          <p:cNvSpPr>
            <a:spLocks xmlns:a="http://schemas.openxmlformats.org/drawingml/2006/main" noGrp="1"/>
          </p:cNvSpPr>
          <p:nvPr/>
        </p:nvSpPr>
        <p:spPr>
          <a:xfrm xmlns:a="http://schemas.openxmlformats.org/drawingml/2006/main">
            <a:off x="6858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A63CDF09-2066-40F4-9302-C489D3B38C75}"/>
              </a:ext>
            </a:extLst>
          </p:cNvPr>
          <p:cNvSpPr>
            <a:spLocks xmlns:a="http://schemas.openxmlformats.org/drawingml/2006/main" noGrp="1"/>
          </p:cNvSpPr>
          <p:nvPr/>
        </p:nvSpPr>
        <p:spPr>
          <a:xfrm xmlns:a="http://schemas.openxmlformats.org/drawingml/2006/main">
            <a:off x="685800" y="3657600"/>
            <a:ext cx="57150" cy="1809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1" name="">
            <a:extLst xmlns:a="http://schemas.openxmlformats.org/drawingml/2006/main">
              <a:ext uri="{FF2B5EF4-FFF2-40B4-BE49-F238E27FC236}">
                <a16:creationId xmlns:a16="http://schemas.microsoft.com/office/drawing/2014/main" id="{B1BB0332-2659-445C-A825-2E05C26FE492}"/>
              </a:ext>
            </a:extLst>
          </p:cNvPr>
          <p:cNvSpPr>
            <a:spLocks xmlns:a="http://schemas.openxmlformats.org/drawingml/2006/main" noGrp="1"/>
          </p:cNvSpPr>
          <p:nvPr/>
        </p:nvSpPr>
        <p:spPr>
          <a:xfrm xmlns:a="http://schemas.openxmlformats.org/drawingml/2006/main">
            <a:off x="8953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RQ1–2 · Plan / ground</a:t>
            </a:r>
          </a:p>
        </p:txBody>
      </p:sp>
      <p:sp>
        <p:nvSpPr>
          <p:cNvPr id="12" name="">
            <a:extLst xmlns:a="http://schemas.openxmlformats.org/drawingml/2006/main">
              <a:ext uri="{FF2B5EF4-FFF2-40B4-BE49-F238E27FC236}">
                <a16:creationId xmlns:a16="http://schemas.microsoft.com/office/drawing/2014/main" id="{E56F611F-588D-4896-8C09-FB2F4D6056ED}"/>
              </a:ext>
            </a:extLst>
          </p:cNvPr>
          <p:cNvSpPr>
            <a:spLocks xmlns:a="http://schemas.openxmlformats.org/drawingml/2006/main" noGrp="1"/>
          </p:cNvSpPr>
          <p:nvPr/>
        </p:nvSpPr>
        <p:spPr>
          <a:xfrm xmlns:a="http://schemas.openxmlformats.org/drawingml/2006/main">
            <a:off x="8953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the stack preserve ordered tasks, target sets and the roles of people, objects and locations?</a:t>
            </a:r>
          </a:p>
        </p:txBody>
      </p:sp>
      <p:sp>
        <p:nvSpPr>
          <p:cNvPr id="13" name="">
            <a:extLst xmlns:a="http://schemas.openxmlformats.org/drawingml/2006/main">
              <a:ext uri="{FF2B5EF4-FFF2-40B4-BE49-F238E27FC236}">
                <a16:creationId xmlns:a16="http://schemas.microsoft.com/office/drawing/2014/main" id="{BA4D2953-C83B-4BAA-8FCD-2D96C6CB6EA7}"/>
              </a:ext>
            </a:extLst>
          </p:cNvPr>
          <p:cNvSpPr>
            <a:spLocks xmlns:a="http://schemas.openxmlformats.org/drawingml/2006/main" noGrp="1"/>
          </p:cNvSpPr>
          <p:nvPr/>
        </p:nvSpPr>
        <p:spPr>
          <a:xfrm xmlns:a="http://schemas.openxmlformats.org/drawingml/2006/main">
            <a:off x="428625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B20A5DF3-53EE-40C7-8A47-23B29C327074}"/>
              </a:ext>
            </a:extLst>
          </p:cNvPr>
          <p:cNvSpPr>
            <a:spLocks xmlns:a="http://schemas.openxmlformats.org/drawingml/2006/main" noGrp="1"/>
          </p:cNvSpPr>
          <p:nvPr/>
        </p:nvSpPr>
        <p:spPr>
          <a:xfrm xmlns:a="http://schemas.openxmlformats.org/drawingml/2006/main">
            <a:off x="4286250" y="3657600"/>
            <a:ext cx="57150" cy="1809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5" name="">
            <a:extLst xmlns:a="http://schemas.openxmlformats.org/drawingml/2006/main">
              <a:ext uri="{FF2B5EF4-FFF2-40B4-BE49-F238E27FC236}">
                <a16:creationId xmlns:a16="http://schemas.microsoft.com/office/drawing/2014/main" id="{025ADEF2-E4FB-499E-8087-830D30FB7D29}"/>
              </a:ext>
            </a:extLst>
          </p:cNvPr>
          <p:cNvSpPr>
            <a:spLocks xmlns:a="http://schemas.openxmlformats.org/drawingml/2006/main" noGrp="1"/>
          </p:cNvSpPr>
          <p:nvPr/>
        </p:nvSpPr>
        <p:spPr>
          <a:xfrm xmlns:a="http://schemas.openxmlformats.org/drawingml/2006/main">
            <a:off x="449580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RQ3 · Admission</a:t>
            </a:r>
          </a:p>
        </p:txBody>
      </p:sp>
      <p:sp>
        <p:nvSpPr>
          <p:cNvPr id="16" name="">
            <a:extLst xmlns:a="http://schemas.openxmlformats.org/drawingml/2006/main">
              <a:ext uri="{FF2B5EF4-FFF2-40B4-BE49-F238E27FC236}">
                <a16:creationId xmlns:a16="http://schemas.microsoft.com/office/drawing/2014/main" id="{A63B682B-DC70-47AE-B72F-C2E91E1DACDF}"/>
              </a:ext>
            </a:extLst>
          </p:cNvPr>
          <p:cNvSpPr>
            <a:spLocks xmlns:a="http://schemas.openxmlformats.org/drawingml/2006/main" noGrp="1"/>
          </p:cNvSpPr>
          <p:nvPr/>
        </p:nvSpPr>
        <p:spPr>
          <a:xfrm xmlns:a="http://schemas.openxmlformats.org/drawingml/2006/main">
            <a:off x="449580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reviewed skills and deterministic checks reject unsupported or malformed proposals before dispatch?</a:t>
            </a:r>
          </a:p>
        </p:txBody>
      </p:sp>
      <p:sp>
        <p:nvSpPr>
          <p:cNvPr id="17" name="">
            <a:extLst xmlns:a="http://schemas.openxmlformats.org/drawingml/2006/main">
              <a:ext uri="{FF2B5EF4-FFF2-40B4-BE49-F238E27FC236}">
                <a16:creationId xmlns:a16="http://schemas.microsoft.com/office/drawing/2014/main" id="{DD464616-A4F4-44C4-8683-34A394DD1AE3}"/>
              </a:ext>
            </a:extLst>
          </p:cNvPr>
          <p:cNvSpPr>
            <a:spLocks xmlns:a="http://schemas.openxmlformats.org/drawingml/2006/main" noGrp="1"/>
          </p:cNvSpPr>
          <p:nvPr/>
        </p:nvSpPr>
        <p:spPr>
          <a:xfrm xmlns:a="http://schemas.openxmlformats.org/drawingml/2006/main">
            <a:off x="78867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8" name="">
            <a:extLst xmlns:a="http://schemas.openxmlformats.org/drawingml/2006/main">
              <a:ext uri="{FF2B5EF4-FFF2-40B4-BE49-F238E27FC236}">
                <a16:creationId xmlns:a16="http://schemas.microsoft.com/office/drawing/2014/main" id="{518A8853-C2A0-4A71-9A80-2B53D76C5341}"/>
              </a:ext>
            </a:extLst>
          </p:cNvPr>
          <p:cNvSpPr>
            <a:spLocks xmlns:a="http://schemas.openxmlformats.org/drawingml/2006/main" noGrp="1"/>
          </p:cNvSpPr>
          <p:nvPr/>
        </p:nvSpPr>
        <p:spPr>
          <a:xfrm xmlns:a="http://schemas.openxmlformats.org/drawingml/2006/main">
            <a:off x="7886700" y="3657600"/>
            <a:ext cx="57150" cy="1809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9" name="">
            <a:extLst xmlns:a="http://schemas.openxmlformats.org/drawingml/2006/main">
              <a:ext uri="{FF2B5EF4-FFF2-40B4-BE49-F238E27FC236}">
                <a16:creationId xmlns:a16="http://schemas.microsoft.com/office/drawing/2014/main" id="{5711C3A4-4B7B-484D-9C0B-F2AC66376A09}"/>
              </a:ext>
            </a:extLst>
          </p:cNvPr>
          <p:cNvSpPr>
            <a:spLocks xmlns:a="http://schemas.openxmlformats.org/drawingml/2006/main" noGrp="1"/>
          </p:cNvSpPr>
          <p:nvPr/>
        </p:nvSpPr>
        <p:spPr>
          <a:xfrm xmlns:a="http://schemas.openxmlformats.org/drawingml/2006/main">
            <a:off x="80962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RQ4–5 · Feedback</a:t>
            </a:r>
          </a:p>
        </p:txBody>
      </p:sp>
      <p:sp>
        <p:nvSpPr>
          <p:cNvPr id="20" name="">
            <a:extLst xmlns:a="http://schemas.openxmlformats.org/drawingml/2006/main">
              <a:ext uri="{FF2B5EF4-FFF2-40B4-BE49-F238E27FC236}">
                <a16:creationId xmlns:a16="http://schemas.microsoft.com/office/drawing/2014/main" id="{7E2FADA6-7080-47DD-86D0-D77784352502}"/>
              </a:ext>
            </a:extLst>
          </p:cNvPr>
          <p:cNvSpPr>
            <a:spLocks xmlns:a="http://schemas.openxmlformats.org/drawingml/2006/main" noGrp="1"/>
          </p:cNvSpPr>
          <p:nvPr/>
        </p:nvSpPr>
        <p:spPr>
          <a:xfrm xmlns:a="http://schemas.openxmlformats.org/drawingml/2006/main">
            <a:off x="80962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failures trigger recovery or truthful closure while responsibilities remain inspectable?</a:t>
            </a:r>
          </a:p>
        </p:txBody>
      </p:sp>
      <p:sp>
        <p:nvSpPr>
          <p:cNvPr id="21" name="">
            <a:extLst xmlns:a="http://schemas.openxmlformats.org/drawingml/2006/main">
              <a:ext uri="{FF2B5EF4-FFF2-40B4-BE49-F238E27FC236}">
                <a16:creationId xmlns:a16="http://schemas.microsoft.com/office/drawing/2014/main" id="{A9CBB695-0791-4533-A720-250356C94F4D}"/>
              </a:ext>
            </a:extLst>
          </p:cNvPr>
          <p:cNvSpPr>
            <a:spLocks xmlns:a="http://schemas.openxmlformats.org/drawingml/2006/main" noGrp="1"/>
          </p:cNvSpPr>
          <p:nvPr/>
        </p:nvSpPr>
        <p:spPr>
          <a:xfrm xmlns:a="http://schemas.openxmlformats.org/drawingml/2006/main">
            <a:off x="1962150" y="5772150"/>
            <a:ext cx="14287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850718B1-9361-4A0D-B474-01D67383C7A3}"/>
              </a:ext>
            </a:extLst>
          </p:cNvPr>
          <p:cNvSpPr>
            <a:spLocks xmlns:a="http://schemas.openxmlformats.org/drawingml/2006/main" noGrp="1"/>
          </p:cNvSpPr>
          <p:nvPr/>
        </p:nvSpPr>
        <p:spPr>
          <a:xfrm xmlns:a="http://schemas.openxmlformats.org/drawingml/2006/main">
            <a:off x="2038350" y="58388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 plans</a:t>
            </a:r>
          </a:p>
        </p:txBody>
      </p:sp>
      <p:sp>
        <p:nvSpPr>
          <p:cNvPr id="23" name="">
            <a:extLst xmlns:a="http://schemas.openxmlformats.org/drawingml/2006/main">
              <a:ext uri="{FF2B5EF4-FFF2-40B4-BE49-F238E27FC236}">
                <a16:creationId xmlns:a16="http://schemas.microsoft.com/office/drawing/2014/main" id="{A5FB4717-0A2A-45A4-ABE7-95C92146AD51}"/>
              </a:ext>
            </a:extLst>
          </p:cNvPr>
          <p:cNvSpPr>
            <a:spLocks xmlns:a="http://schemas.openxmlformats.org/drawingml/2006/main" noGrp="1"/>
          </p:cNvSpPr>
          <p:nvPr/>
        </p:nvSpPr>
        <p:spPr>
          <a:xfrm xmlns:a="http://schemas.openxmlformats.org/drawingml/2006/main">
            <a:off x="3543300" y="5772150"/>
            <a:ext cx="1619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4" name="">
            <a:extLst xmlns:a="http://schemas.openxmlformats.org/drawingml/2006/main">
              <a:ext uri="{FF2B5EF4-FFF2-40B4-BE49-F238E27FC236}">
                <a16:creationId xmlns:a16="http://schemas.microsoft.com/office/drawing/2014/main" id="{B24F606B-BFBA-4DE6-86DB-09459A3AF58F}"/>
              </a:ext>
            </a:extLst>
          </p:cNvPr>
          <p:cNvSpPr>
            <a:spLocks xmlns:a="http://schemas.openxmlformats.org/drawingml/2006/main" noGrp="1"/>
          </p:cNvSpPr>
          <p:nvPr/>
        </p:nvSpPr>
        <p:spPr>
          <a:xfrm xmlns:a="http://schemas.openxmlformats.org/drawingml/2006/main">
            <a:off x="3619500" y="583882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 grounding</a:t>
            </a:r>
          </a:p>
        </p:txBody>
      </p:sp>
      <p:sp>
        <p:nvSpPr>
          <p:cNvPr id="25" name="">
            <a:extLst xmlns:a="http://schemas.openxmlformats.org/drawingml/2006/main">
              <a:ext uri="{FF2B5EF4-FFF2-40B4-BE49-F238E27FC236}">
                <a16:creationId xmlns:a16="http://schemas.microsoft.com/office/drawing/2014/main" id="{2EE44B33-CF8F-4FEA-83F3-497F97715F1A}"/>
              </a:ext>
            </a:extLst>
          </p:cNvPr>
          <p:cNvSpPr>
            <a:spLocks xmlns:a="http://schemas.openxmlformats.org/drawingml/2006/main" noGrp="1"/>
          </p:cNvSpPr>
          <p:nvPr/>
        </p:nvSpPr>
        <p:spPr>
          <a:xfrm xmlns:a="http://schemas.openxmlformats.org/drawingml/2006/main">
            <a:off x="5314950" y="5772150"/>
            <a:ext cx="15621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6" name="">
            <a:extLst xmlns:a="http://schemas.openxmlformats.org/drawingml/2006/main">
              <a:ext uri="{FF2B5EF4-FFF2-40B4-BE49-F238E27FC236}">
                <a16:creationId xmlns:a16="http://schemas.microsoft.com/office/drawing/2014/main" id="{F13C306D-4277-4BBD-A21B-0048FA02D073}"/>
              </a:ext>
            </a:extLst>
          </p:cNvPr>
          <p:cNvSpPr>
            <a:spLocks xmlns:a="http://schemas.openxmlformats.org/drawingml/2006/main" noGrp="1"/>
          </p:cNvSpPr>
          <p:nvPr/>
        </p:nvSpPr>
        <p:spPr>
          <a:xfrm xmlns:a="http://schemas.openxmlformats.org/drawingml/2006/main">
            <a:off x="5391150" y="58388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 admission</a:t>
            </a:r>
          </a:p>
        </p:txBody>
      </p:sp>
      <p:sp>
        <p:nvSpPr>
          <p:cNvPr id="27" name="">
            <a:extLst xmlns:a="http://schemas.openxmlformats.org/drawingml/2006/main">
              <a:ext uri="{FF2B5EF4-FFF2-40B4-BE49-F238E27FC236}">
                <a16:creationId xmlns:a16="http://schemas.microsoft.com/office/drawing/2014/main" id="{BFD1B424-9EF9-4273-886D-B71DC052C124}"/>
              </a:ext>
            </a:extLst>
          </p:cNvPr>
          <p:cNvSpPr>
            <a:spLocks xmlns:a="http://schemas.openxmlformats.org/drawingml/2006/main" noGrp="1"/>
          </p:cNvSpPr>
          <p:nvPr/>
        </p:nvSpPr>
        <p:spPr>
          <a:xfrm xmlns:a="http://schemas.openxmlformats.org/drawingml/2006/main">
            <a:off x="7029450" y="5772150"/>
            <a:ext cx="15240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009BDAA9-79A1-46B7-BCE4-F8E58CB34908}"/>
              </a:ext>
            </a:extLst>
          </p:cNvPr>
          <p:cNvSpPr>
            <a:spLocks xmlns:a="http://schemas.openxmlformats.org/drawingml/2006/main" noGrp="1"/>
          </p:cNvSpPr>
          <p:nvPr/>
        </p:nvSpPr>
        <p:spPr>
          <a:xfrm xmlns:a="http://schemas.openxmlformats.org/drawingml/2006/main">
            <a:off x="7105650" y="5838825"/>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 recovery</a:t>
            </a:r>
          </a:p>
        </p:txBody>
      </p:sp>
      <p:sp>
        <p:nvSpPr>
          <p:cNvPr id="29" name="">
            <a:extLst xmlns:a="http://schemas.openxmlformats.org/drawingml/2006/main">
              <a:ext uri="{FF2B5EF4-FFF2-40B4-BE49-F238E27FC236}">
                <a16:creationId xmlns:a16="http://schemas.microsoft.com/office/drawing/2014/main" id="{E0F47174-35EC-4E42-8C62-A60E8E8ECCCB}"/>
              </a:ext>
            </a:extLst>
          </p:cNvPr>
          <p:cNvSpPr>
            <a:spLocks xmlns:a="http://schemas.openxmlformats.org/drawingml/2006/main" noGrp="1"/>
          </p:cNvSpPr>
          <p:nvPr/>
        </p:nvSpPr>
        <p:spPr>
          <a:xfrm xmlns:a="http://schemas.openxmlformats.org/drawingml/2006/main">
            <a:off x="8705850" y="5772150"/>
            <a:ext cx="16573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30" name="">
            <a:extLst xmlns:a="http://schemas.openxmlformats.org/drawingml/2006/main">
              <a:ext uri="{FF2B5EF4-FFF2-40B4-BE49-F238E27FC236}">
                <a16:creationId xmlns:a16="http://schemas.microsoft.com/office/drawing/2014/main" id="{0EC743D3-D3FE-492E-8DFC-B734E5CDD1D1}"/>
              </a:ext>
            </a:extLst>
          </p:cNvPr>
          <p:cNvSpPr>
            <a:spLocks xmlns:a="http://schemas.openxmlformats.org/drawingml/2006/main" noGrp="1"/>
          </p:cNvSpPr>
          <p:nvPr/>
        </p:nvSpPr>
        <p:spPr>
          <a:xfrm xmlns:a="http://schemas.openxmlformats.org/drawingml/2006/main">
            <a:off x="8782050" y="5838825"/>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 ownership</a:t>
            </a:r>
          </a:p>
        </p:txBody>
      </p:sp>
    </p:spTree>
    <p:extLst>
      <p:ext uri="{BB962C8B-B14F-4D97-AF65-F5344CB8AC3E}">
        <p14:creationId xmlns:p14="http://schemas.microsoft.com/office/powerpoint/2010/main" val="681103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E531CA5-128A-49B0-B0E8-EE106E20090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96768E2-5BF7-4202-A05C-CDD9DF0EAE0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F62D8FC-94C8-4352-A687-29274BC3433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07CC6531-DA90-49FD-AAC8-8C28DE7F5FA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C95443E-7BEC-4056-A22D-ED494D171DA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F19E40AF-8226-4E53-A960-F4B303A6F181}"/>
              </a:ext>
            </a:extLst>
          </p:cNvPr>
          <p:cNvSpPr>
            <a:spLocks xmlns:a="http://schemas.openxmlformats.org/drawingml/2006/main" noGrp="1"/>
          </p:cNvSpPr>
          <p:nvPr/>
        </p:nvSpPr>
        <p:spPr>
          <a:xfrm xmlns:a="http://schemas.openxmlformats.org/drawingml/2006/main">
            <a:off x="685800" y="8382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625" b="1" i="0">
                <a:solidFill>
                  <a:srgbClr val="13202A"/>
                </a:solidFill>
                <a:latin typeface="Georgia"/>
                <a:ea typeface="Georgia"/>
                <a:cs typeface="Georgia"/>
              </a:defRPr>
            </a:pPr>
            <a:r>
              <a:rPr sz="2625" b="1" i="0">
                <a:solidFill>
                  <a:srgbClr val="13202A"/>
                </a:solidFill>
                <a:latin typeface="Georgia"/>
                <a:ea typeface="Georgia"/>
                <a:cs typeface="Georgia"/>
              </a:rPr>
              <a:t>Implementation and validation objectives</a:t>
            </a:r>
          </a:p>
        </p:txBody>
      </p:sp>
      <p:sp>
        <p:nvSpPr>
          <p:cNvPr id="7" name="">
            <a:extLst xmlns:a="http://schemas.openxmlformats.org/drawingml/2006/main">
              <a:ext uri="{FF2B5EF4-FFF2-40B4-BE49-F238E27FC236}">
                <a16:creationId xmlns:a16="http://schemas.microsoft.com/office/drawing/2014/main" id="{09EFDC93-1CE8-4434-8397-50E8905A6ED7}"/>
              </a:ext>
            </a:extLst>
          </p:cNvPr>
          <p:cNvSpPr>
            <a:spLocks xmlns:a="http://schemas.openxmlformats.org/drawingml/2006/main" noGrp="1"/>
          </p:cNvSpPr>
          <p:nvPr/>
        </p:nvSpPr>
        <p:spPr>
          <a:xfrm xmlns:a="http://schemas.openxmlformats.org/drawingml/2006/main">
            <a:off x="685800"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7055511-1E96-4F50-956F-B6D874BC8278}"/>
              </a:ext>
            </a:extLst>
          </p:cNvPr>
          <p:cNvSpPr>
            <a:spLocks xmlns:a="http://schemas.openxmlformats.org/drawingml/2006/main" noGrp="1"/>
          </p:cNvSpPr>
          <p:nvPr/>
        </p:nvSpPr>
        <p:spPr>
          <a:xfrm xmlns:a="http://schemas.openxmlformats.org/drawingml/2006/main">
            <a:off x="914400" y="201930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24FB25-61FD-4BB8-B60F-39839F5DA1AC}"/>
              </a:ext>
            </a:extLst>
          </p:cNvPr>
          <p:cNvSpPr>
            <a:spLocks xmlns:a="http://schemas.openxmlformats.org/drawingml/2006/main" noGrp="1"/>
          </p:cNvSpPr>
          <p:nvPr/>
        </p:nvSpPr>
        <p:spPr>
          <a:xfrm xmlns:a="http://schemas.openxmlformats.org/drawingml/2006/main">
            <a:off x="1028700"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79BAE96-5955-4CEC-B373-CA1C6DF0AD88}"/>
              </a:ext>
            </a:extLst>
          </p:cNvPr>
          <p:cNvSpPr>
            <a:spLocks xmlns:a="http://schemas.openxmlformats.org/drawingml/2006/main" noGrp="1"/>
          </p:cNvSpPr>
          <p:nvPr/>
        </p:nvSpPr>
        <p:spPr>
          <a:xfrm xmlns:a="http://schemas.openxmlformats.org/drawingml/2006/main">
            <a:off x="1685925"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Integrate dialogue, routing, grounding, planning, orchestration and skills through ROS 2.</a:t>
            </a:r>
          </a:p>
        </p:txBody>
      </p:sp>
      <p:sp>
        <p:nvSpPr>
          <p:cNvPr id="11" name="">
            <a:extLst xmlns:a="http://schemas.openxmlformats.org/drawingml/2006/main">
              <a:ext uri="{FF2B5EF4-FFF2-40B4-BE49-F238E27FC236}">
                <a16:creationId xmlns:a16="http://schemas.microsoft.com/office/drawing/2014/main" id="{3B3F2132-32D5-432D-A23E-77D35B0AB754}"/>
              </a:ext>
            </a:extLst>
          </p:cNvPr>
          <p:cNvSpPr>
            <a:spLocks xmlns:a="http://schemas.openxmlformats.org/drawingml/2006/main" noGrp="1"/>
          </p:cNvSpPr>
          <p:nvPr/>
        </p:nvSpPr>
        <p:spPr>
          <a:xfrm xmlns:a="http://schemas.openxmlformats.org/drawingml/2006/main">
            <a:off x="5972175"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B15B32C-9273-4DA1-8323-771E197596FF}"/>
              </a:ext>
            </a:extLst>
          </p:cNvPr>
          <p:cNvSpPr>
            <a:spLocks xmlns:a="http://schemas.openxmlformats.org/drawingml/2006/main" noGrp="1"/>
          </p:cNvSpPr>
          <p:nvPr/>
        </p:nvSpPr>
        <p:spPr>
          <a:xfrm xmlns:a="http://schemas.openxmlformats.org/drawingml/2006/main">
            <a:off x="6200775" y="201930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8515B7-91E0-4624-94B8-FA94991F7530}"/>
              </a:ext>
            </a:extLst>
          </p:cNvPr>
          <p:cNvSpPr>
            <a:spLocks xmlns:a="http://schemas.openxmlformats.org/drawingml/2006/main" noGrp="1"/>
          </p:cNvSpPr>
          <p:nvPr/>
        </p:nvSpPr>
        <p:spPr>
          <a:xfrm xmlns:a="http://schemas.openxmlformats.org/drawingml/2006/main">
            <a:off x="6315075"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3D388E5-DA6F-4C90-BFF3-E8A408CDCAC6}"/>
              </a:ext>
            </a:extLst>
          </p:cNvPr>
          <p:cNvSpPr>
            <a:spLocks xmlns:a="http://schemas.openxmlformats.org/drawingml/2006/main" noGrp="1"/>
          </p:cNvSpPr>
          <p:nvPr/>
        </p:nvSpPr>
        <p:spPr>
          <a:xfrm xmlns:a="http://schemas.openxmlformats.org/drawingml/2006/main">
            <a:off x="6972300"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Define contracts for turn output, context, requests, skills, plans, results, feedback and evidence.</a:t>
            </a:r>
          </a:p>
        </p:txBody>
      </p:sp>
      <p:sp>
        <p:nvSpPr>
          <p:cNvPr id="15" name="">
            <a:extLst xmlns:a="http://schemas.openxmlformats.org/drawingml/2006/main">
              <a:ext uri="{FF2B5EF4-FFF2-40B4-BE49-F238E27FC236}">
                <a16:creationId xmlns:a16="http://schemas.microsoft.com/office/drawing/2014/main" id="{7AF72098-8D17-4C39-8DB5-B5C582A2BA32}"/>
              </a:ext>
            </a:extLst>
          </p:cNvPr>
          <p:cNvSpPr>
            <a:spLocks xmlns:a="http://schemas.openxmlformats.org/drawingml/2006/main" noGrp="1"/>
          </p:cNvSpPr>
          <p:nvPr/>
        </p:nvSpPr>
        <p:spPr>
          <a:xfrm xmlns:a="http://schemas.openxmlformats.org/drawingml/2006/main">
            <a:off x="685800"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9AFE42C-E826-4D30-8AA6-564CD077B541}"/>
              </a:ext>
            </a:extLst>
          </p:cNvPr>
          <p:cNvSpPr>
            <a:spLocks xmlns:a="http://schemas.openxmlformats.org/drawingml/2006/main" noGrp="1"/>
          </p:cNvSpPr>
          <p:nvPr/>
        </p:nvSpPr>
        <p:spPr>
          <a:xfrm xmlns:a="http://schemas.openxmlformats.org/drawingml/2006/main">
            <a:off x="914400" y="3400425"/>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6AA0A0-8D94-4ABC-98A0-F5D3B42CDD54}"/>
              </a:ext>
            </a:extLst>
          </p:cNvPr>
          <p:cNvSpPr>
            <a:spLocks xmlns:a="http://schemas.openxmlformats.org/drawingml/2006/main" noGrp="1"/>
          </p:cNvSpPr>
          <p:nvPr/>
        </p:nvSpPr>
        <p:spPr>
          <a:xfrm xmlns:a="http://schemas.openxmlformats.org/drawingml/2006/main">
            <a:off x="1028700"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62DC436-455D-4827-BE89-511EFEB0E540}"/>
              </a:ext>
            </a:extLst>
          </p:cNvPr>
          <p:cNvSpPr>
            <a:spLocks xmlns:a="http://schemas.openxmlformats.org/drawingml/2006/main" noGrp="1"/>
          </p:cNvSpPr>
          <p:nvPr/>
        </p:nvSpPr>
        <p:spPr>
          <a:xfrm xmlns:a="http://schemas.openxmlformats.org/drawingml/2006/main">
            <a:off x="1685925"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Expose capabilities through reviewed skill definitions, not generated robot API calls.</a:t>
            </a:r>
          </a:p>
        </p:txBody>
      </p:sp>
      <p:sp>
        <p:nvSpPr>
          <p:cNvPr id="19" name="">
            <a:extLst xmlns:a="http://schemas.openxmlformats.org/drawingml/2006/main">
              <a:ext uri="{FF2B5EF4-FFF2-40B4-BE49-F238E27FC236}">
                <a16:creationId xmlns:a16="http://schemas.microsoft.com/office/drawing/2014/main" id="{7270EE5A-AEEF-4D98-852F-1C4091D8589E}"/>
              </a:ext>
            </a:extLst>
          </p:cNvPr>
          <p:cNvSpPr>
            <a:spLocks xmlns:a="http://schemas.openxmlformats.org/drawingml/2006/main" noGrp="1"/>
          </p:cNvSpPr>
          <p:nvPr/>
        </p:nvSpPr>
        <p:spPr>
          <a:xfrm xmlns:a="http://schemas.openxmlformats.org/drawingml/2006/main">
            <a:off x="5972175"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042421B2-8759-44B1-875D-1AAEAC591FC3}"/>
              </a:ext>
            </a:extLst>
          </p:cNvPr>
          <p:cNvSpPr>
            <a:spLocks xmlns:a="http://schemas.openxmlformats.org/drawingml/2006/main" noGrp="1"/>
          </p:cNvSpPr>
          <p:nvPr/>
        </p:nvSpPr>
        <p:spPr>
          <a:xfrm xmlns:a="http://schemas.openxmlformats.org/drawingml/2006/main">
            <a:off x="6200775" y="3400425"/>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3FCD6-00C4-46D9-9F30-B3A9CA441AE0}"/>
              </a:ext>
            </a:extLst>
          </p:cNvPr>
          <p:cNvSpPr>
            <a:spLocks xmlns:a="http://schemas.openxmlformats.org/drawingml/2006/main" noGrp="1"/>
          </p:cNvSpPr>
          <p:nvPr/>
        </p:nvSpPr>
        <p:spPr>
          <a:xfrm xmlns:a="http://schemas.openxmlformats.org/drawingml/2006/main">
            <a:off x="6315075"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DDA7B5C-6E23-46D5-BA0D-0F01ECDD4B07}"/>
              </a:ext>
            </a:extLst>
          </p:cNvPr>
          <p:cNvSpPr>
            <a:spLocks xmlns:a="http://schemas.openxmlformats.org/drawingml/2006/main" noGrp="1"/>
          </p:cNvSpPr>
          <p:nvPr/>
        </p:nvSpPr>
        <p:spPr>
          <a:xfrm xmlns:a="http://schemas.openxmlformats.org/drawingml/2006/main">
            <a:off x="6972300"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Support dialogue, knowledge and simple/composite actions with clear ownership.</a:t>
            </a:r>
          </a:p>
        </p:txBody>
      </p:sp>
      <p:sp>
        <p:nvSpPr>
          <p:cNvPr id="23" name="">
            <a:extLst xmlns:a="http://schemas.openxmlformats.org/drawingml/2006/main">
              <a:ext uri="{FF2B5EF4-FFF2-40B4-BE49-F238E27FC236}">
                <a16:creationId xmlns:a16="http://schemas.microsoft.com/office/drawing/2014/main" id="{1ED2013A-C48E-4543-8E91-F681E92ADD9C}"/>
              </a:ext>
            </a:extLst>
          </p:cNvPr>
          <p:cNvSpPr>
            <a:spLocks xmlns:a="http://schemas.openxmlformats.org/drawingml/2006/main" noGrp="1"/>
          </p:cNvSpPr>
          <p:nvPr/>
        </p:nvSpPr>
        <p:spPr>
          <a:xfrm xmlns:a="http://schemas.openxmlformats.org/drawingml/2006/main">
            <a:off x="685800"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D5F0A89D-EA83-4744-9480-01E25927BFF8}"/>
              </a:ext>
            </a:extLst>
          </p:cNvPr>
          <p:cNvSpPr>
            <a:spLocks xmlns:a="http://schemas.openxmlformats.org/drawingml/2006/main" noGrp="1"/>
          </p:cNvSpPr>
          <p:nvPr/>
        </p:nvSpPr>
        <p:spPr>
          <a:xfrm xmlns:a="http://schemas.openxmlformats.org/drawingml/2006/main">
            <a:off x="914400" y="478155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DB26E-8490-41A3-A55E-A06D4ED2A6FB}"/>
              </a:ext>
            </a:extLst>
          </p:cNvPr>
          <p:cNvSpPr>
            <a:spLocks xmlns:a="http://schemas.openxmlformats.org/drawingml/2006/main" noGrp="1"/>
          </p:cNvSpPr>
          <p:nvPr/>
        </p:nvSpPr>
        <p:spPr>
          <a:xfrm xmlns:a="http://schemas.openxmlformats.org/drawingml/2006/main">
            <a:off x="1028700"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4E0F54-54F2-4EF3-A948-8455ABD0F53C}"/>
              </a:ext>
            </a:extLst>
          </p:cNvPr>
          <p:cNvSpPr>
            <a:spLocks xmlns:a="http://schemas.openxmlformats.org/drawingml/2006/main" noGrp="1"/>
          </p:cNvSpPr>
          <p:nvPr/>
        </p:nvSpPr>
        <p:spPr>
          <a:xfrm xmlns:a="http://schemas.openxmlformats.org/drawingml/2006/main">
            <a:off x="1685925"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Validate candidate plans deterministically before dispatch.</a:t>
            </a:r>
          </a:p>
        </p:txBody>
      </p:sp>
      <p:sp>
        <p:nvSpPr>
          <p:cNvPr id="27" name="">
            <a:extLst xmlns:a="http://schemas.openxmlformats.org/drawingml/2006/main">
              <a:ext uri="{FF2B5EF4-FFF2-40B4-BE49-F238E27FC236}">
                <a16:creationId xmlns:a16="http://schemas.microsoft.com/office/drawing/2014/main" id="{DA481F5C-356D-45C7-A91E-DFD4B95742E4}"/>
              </a:ext>
            </a:extLst>
          </p:cNvPr>
          <p:cNvSpPr>
            <a:spLocks xmlns:a="http://schemas.openxmlformats.org/drawingml/2006/main" noGrp="1"/>
          </p:cNvSpPr>
          <p:nvPr/>
        </p:nvSpPr>
        <p:spPr>
          <a:xfrm xmlns:a="http://schemas.openxmlformats.org/drawingml/2006/main">
            <a:off x="5972175"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162BD50E-11DB-457D-9954-E4C96C2130D2}"/>
              </a:ext>
            </a:extLst>
          </p:cNvPr>
          <p:cNvSpPr>
            <a:spLocks xmlns:a="http://schemas.openxmlformats.org/drawingml/2006/main" noGrp="1"/>
          </p:cNvSpPr>
          <p:nvPr/>
        </p:nvSpPr>
        <p:spPr>
          <a:xfrm xmlns:a="http://schemas.openxmlformats.org/drawingml/2006/main">
            <a:off x="6200775" y="478155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E0A7DB-0071-49B0-B3C3-FAD974B2902F}"/>
              </a:ext>
            </a:extLst>
          </p:cNvPr>
          <p:cNvSpPr>
            <a:spLocks xmlns:a="http://schemas.openxmlformats.org/drawingml/2006/main" noGrp="1"/>
          </p:cNvSpPr>
          <p:nvPr/>
        </p:nvSpPr>
        <p:spPr>
          <a:xfrm xmlns:a="http://schemas.openxmlformats.org/drawingml/2006/main">
            <a:off x="6315075"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6</a:t>
            </a:r>
          </a:p>
        </p:txBody>
      </p:sp>
      <p:sp>
        <p:nvSpPr>
          <p:cNvPr id="30" name="">
            <a:extLst xmlns:a="http://schemas.openxmlformats.org/drawingml/2006/main">
              <a:ext uri="{FF2B5EF4-FFF2-40B4-BE49-F238E27FC236}">
                <a16:creationId xmlns:a16="http://schemas.microsoft.com/office/drawing/2014/main" id="{A3302854-6AE4-43CC-A015-26C4B9790D8A}"/>
              </a:ext>
            </a:extLst>
          </p:cNvPr>
          <p:cNvSpPr>
            <a:spLocks xmlns:a="http://schemas.openxmlformats.org/drawingml/2006/main" noGrp="1"/>
          </p:cNvSpPr>
          <p:nvPr/>
        </p:nvSpPr>
        <p:spPr>
          <a:xfrm xmlns:a="http://schemas.openxmlformats.org/drawingml/2006/main">
            <a:off x="6972300"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typed evidence for failure, clarification, replanning and truthful reporting.</a:t>
            </a:r>
          </a:p>
        </p:txBody>
      </p:sp>
      <p:sp>
        <p:nvSpPr>
          <p:cNvPr id="32" name="">
            <a:extLst xmlns:a="http://schemas.openxmlformats.org/drawingml/2006/main">
              <a:ext uri="{FF2B5EF4-FFF2-40B4-BE49-F238E27FC236}">
                <a16:creationId xmlns:a16="http://schemas.microsoft.com/office/drawing/2014/main" id="{F2422826-658F-41E2-9BB6-29C9CBE0C99A}"/>
              </a:ext>
            </a:extLst>
          </p:cNvPr>
          <p:cNvSpPr>
            <a:spLocks xmlns:a="http://schemas.openxmlformats.org/drawingml/2006/main" noGrp="1"/>
          </p:cNvSpPr>
          <p:nvPr/>
        </p:nvSpPr>
        <p:spPr>
          <a:xfrm xmlns:a="http://schemas.openxmlformats.org/drawingml/2006/main">
            <a:off x="809625" y="5857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73F47"/>
                </a:solidFill>
                <a:latin typeface="Arial"/>
                <a:ea typeface="Arial"/>
                <a:cs typeface="Arial"/>
              </a:defRPr>
            </a:pPr>
            <a:r>
              <a:rPr sz="1350" b="1">
                <a:solidFill>
                  <a:srgbClr val="073F47"/>
                </a:solidFill>
                <a:latin typeface="Arial"/>
                <a:ea typeface="Arial"/>
                <a:cs typeface="Arial"/>
              </a:rPr>
              <a:t>7. Validate full user turns, focused subsystems, controlled outcomes and symbolic postconditions.</a:t>
            </a:r>
          </a:p>
        </p:txBody>
      </p:sp>
    </p:spTree>
    <p:extLst>
      <p:ext uri="{BB962C8B-B14F-4D97-AF65-F5344CB8AC3E}">
        <p14:creationId xmlns:p14="http://schemas.microsoft.com/office/powerpoint/2010/main" val="1638900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FOUNDATIONS</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NAO, ROS 2 and ROS4HRI</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4295775" y="176212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 humanoid connected through ROS nodes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4295775" y="2209800"/>
            <a:ext cx="7096125"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 speech, cameras, articulated motion and gaze.</a:t>
            </a:r>
          </a:p>
          <a:p xmlns:a="http://schemas.openxmlformats.org/drawingml/2006/main">
            <a:pPr algn="l">
              <a:defRPr sz="1500">
                <a:solidFill>
                  <a:srgbClr val="5B6770"/>
                </a:solidFill>
                <a:latin typeface="Arial"/>
                <a:ea typeface="Arial"/>
                <a:cs typeface="Arial"/>
              </a:defRPr>
            </a:pPr>
            <a:r>
              <a:rPr sz="1500">
                <a:solidFill>
                  <a:srgbClr val="5B6770"/>
                </a:solidFill>
                <a:latin typeface="Arial"/>
                <a:ea typeface="Arial"/>
                <a:cs typeface="Arial"/>
              </a:rPr>
              <a:t>ROS 2: independently running nodes with typed interfaces.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ROS4HRI: shared people, speech and interaction conventions.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TOPIC  ·  publish/subscribe streams or events (.msg)</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/scene/summary → std_msgs/msg/String</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SERVICE  ·  request → response (.srv)</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DialogueInteraction → a dialogue turn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ACTION  ·  goal → feedback → result; supports cancellation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/nao/say → communication_skills/action/Say</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29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ROS interface carries the message; the application contract defines its meaning.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c91eda8b6cb462d"/>
          <a:srcRect xmlns:a="http://schemas.openxmlformats.org/drawingml/2006/main" l="0" t="4512" r="0" b="4512"/>
          <a:stretch xmlns:a="http://schemas.openxmlformats.org/drawingml/2006/main">
            <a:fillRect l="0" t="0" r="0" b="0"/>
          </a:stretch>
        </p:blipFill>
        <p:spPr>
          <a:xfrm xmlns:a="http://schemas.openxmlformats.org/drawingml/2006/main">
            <a:off x="685800" y="1733550"/>
            <a:ext cx="3219450" cy="3905250"/>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BACKGROUND</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BACKGROUND · LITERATURE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An LLM agent is more than a model</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Model + agent harness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LLM · large language model</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A trained model generates text or structured output. Multimodal models can also process images.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Agent harness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Supplies context, tools, state and output rules.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Observations and results guide the next decision.</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Two specialised agent roles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chatbot_llm</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Interprets a turn, selects its route and prepares a grounded request.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planner_llm</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Selects reviewed skills, proposes a plan and reacts to execution feedback.</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Agent pattern: observe → propose → validate/act → inspect the result.</a:t>
            </a:r>
          </a:p>
        </p:txBody>
      </p:sp>
    </p:spTree>
    <p:extLst>
      <p:ext uri="{BB962C8B-B14F-4D97-AF65-F5344CB8AC3E}">
        <p14:creationId xmlns:p14="http://schemas.microsoft.com/office/powerpoint/2010/main" val="169443552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BACKGROUND</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BACKGROUND · LITERATURE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Grounded planning in embodied systems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Relevant approaches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PDDL / HTN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Explicit actions, conditions, effects and task decomposition.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SayCan · Ahn et al., 2022</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Language-level skill selection linked to robot affordances.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PaLM-E · Driess et al., 2023</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Multimodal inputs connected to embodied reasoning.</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Position of this thesis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Multimodal capability alone is not reliable grounding or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The stack uses compact symbolic context and reviewed skill contracts.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Contribution: integrate language reasoning with validated execution and feedback—not train an end-to-end VLA.</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planner interface connects flexible reasoning to explicit robot capabilities.</a:t>
            </a:r>
          </a:p>
        </p:txBody>
      </p:sp>
    </p:spTree>
    <p:extLst>
      <p:ext uri="{BB962C8B-B14F-4D97-AF65-F5344CB8AC3E}">
        <p14:creationId xmlns:p14="http://schemas.microsoft.com/office/powerpoint/2010/main" val="169443552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SYSTEM DESIGN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SYSTEM DESIGN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System architecture and ownership</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953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Reused: dialogue, HRI and KnowledgeCore  ·  Local: planning, orchestration and NAO integration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377b27813704b3d"/>
          <a:stretch xmlns:a="http://schemas.openxmlformats.org/drawingml/2006/main"/>
        </p:blipFill>
        <p:spPr>
          <a:xfrm xmlns:a="http://schemas.openxmlformats.org/drawingml/2006/main">
            <a:off x="808853" y="1590675"/>
            <a:ext cx="10402845" cy="4276725"/>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SYSTEM DESIGN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SYSTEM DESIGN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Runtime: request, action and feedback</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7934325" y="177165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Execution-only planning</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7934325" y="2447925"/>
            <a:ext cx="3429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Dialogue / knowledge</a:t>
            </a:r>
          </a:p>
          <a:p xmlns:a="http://schemas.openxmlformats.org/drawingml/2006/main">
            <a:pPr algn="l">
              <a:defRPr sz="1500">
                <a:solidFill>
                  <a:srgbClr val="5B6770"/>
                </a:solidFill>
                <a:latin typeface="Arial"/>
                <a:ea typeface="Arial"/>
                <a:cs typeface="Arial"/>
              </a:defRPr>
            </a:pPr>
            <a:r>
              <a:rPr sz="1500">
                <a:solidFill>
                  <a:srgbClr val="5B6770"/>
                </a:solidFill>
                <a:latin typeface="Arial"/>
                <a:ea typeface="Arial"/>
                <a:cs typeface="Arial"/>
              </a:rPr>
              <a:t>Answer without a robot-action plan.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00">
                <a:solidFill>
                  <a:srgbClr val="5B6770"/>
                </a:solidFill>
                <a:latin typeface="Arial"/>
                <a:ea typeface="Arial"/>
                <a:cs typeface="Arial"/>
              </a:defRPr>
            </a:pPr>
            <a:r>
              <a:rPr sz="1500">
                <a:solidFill>
                  <a:srgbClr val="5B6770"/>
                </a:solidFill>
                <a:latin typeface="Arial"/>
                <a:ea typeface="Arial"/>
                <a:cs typeface="Arial"/>
              </a:rPr>
              <a:t>Execution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Admit the goal, generate a plan, validate and dispatch.</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Feedback</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Replan, clarify or close using observed results.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953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Implementation adds explicit admission and dialogue-act relay boundaries.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b91b7cbe1394d4f"/>
          <a:stretch xmlns:a="http://schemas.openxmlformats.org/drawingml/2006/main"/>
        </p:blipFill>
        <p:spPr>
          <a:xfrm xmlns:a="http://schemas.openxmlformats.org/drawingml/2006/main">
            <a:off x="1143968" y="1628775"/>
            <a:ext cx="6008340" cy="4248150"/>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1</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Dialogue ownership and chatbot routing</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dialogue_manager · reused</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Owns conversation lifecycle and speaking. Calls chatbot_msgs/srv/DialogueInteraction.</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chatbot_llm · extended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Returns verbal_ack, route, confidence and user_intent; submits execution requests, never executable plans.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route ∈ {dialogue, knowledge_query, execution} · goal_text is an objective, not a step list.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03735ea0ee14e63"/>
          <a:stretch xmlns:a="http://schemas.openxmlformats.org/drawingml/2006/main"/>
        </p:blipFill>
        <p:spPr>
          <a:xfrm xmlns:a="http://schemas.openxmlformats.org/drawingml/2006/main">
            <a:off x="685800" y="1531004"/>
            <a:ext cx="10668000" cy="3176868"/>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2</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Grounding builds a bounded scene context</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Normalise and preserve roles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nao_scene_grounding: detector labels → stable IDs and transient facts. Reused HRI nodes retain person identity.</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Project, do not duplicate the world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chatbot_llm merges scene/KB/person evidence into entities, locations and bounded relations. Raw evidence stays at its owner.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id = handle · label = readable name · kind/class = semantics · visible = current state · relations = context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16b03938cf4423f"/>
          <a:stretch xmlns:a="http://schemas.openxmlformats.org/drawingml/2006/main"/>
        </p:blipFill>
        <p:spPr>
          <a:xfrm xmlns:a="http://schemas.openxmlformats.org/drawingml/2006/main">
            <a:off x="1129748" y="1524000"/>
            <a:ext cx="9780103" cy="3190875"/>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3</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planner request is an admitted objective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Intent.data · abbreviated contract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"dialogue_turn_id": "__default__:d343701c:1",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"goal_id": "goal_default___d343701c_1",</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"request_kind": "new_goal",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"goal_text": "look at ALEX and report completion",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"normalized_intents":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"grounded_context":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"entities":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{"id": "alex_person", "kind": "person", "visible":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Each field has a responsibility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dialogue_turn_id links to the conversation.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goal_id links plans and 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request_kind proposes a goal transition.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goal_text states the objective.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normalized_intents guide skill selection.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grounded_context supplies bounded evidence.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Chatbot → orchestrator admission → planner.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/nao_orchestrator/planner_request → /planner/request</a:t>
            </a:r>
          </a:p>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hri_actions_msgs/msg/Intent · JSON in data</a:t>
            </a:r>
          </a:p>
        </p:txBody>
      </p:sp>
    </p:spTree>
    <p:extLst>
      <p:ext uri="{BB962C8B-B14F-4D97-AF65-F5344CB8AC3E}">
        <p14:creationId xmlns:p14="http://schemas.microsoft.com/office/powerpoint/2010/main" val="169443552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skill definition is the planner’s vocabulary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pick_object · registry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"object_id":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"kind": "skill",</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"category": "manipulation",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"aliases": ["pick", "grab", "grab_object"],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"params": ["object_id", "target", "object", "support", "gripper", "result_mode"],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"required_params": ["target"]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Identity is not an invocation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object_id: canonical capability name.</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kind/category: skill and semantic family.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aliases: accepted compatibility names.</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params: allowed argument names.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required_params: mandatory subset.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 plan invokes this capability with concrete args; the registry is its definition.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AB=1: runtime skill. AB=0: primitive.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AB≥2: non-runtime proposal.</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Registry object_id identifies the skill; args.object_id identifies a target entity.</a:t>
            </a:r>
          </a:p>
        </p:txBody>
      </p:sp>
    </p:spTree>
    <p:extLst>
      <p:ext uri="{BB962C8B-B14F-4D97-AF65-F5344CB8AC3E}">
        <p14:creationId xmlns:p14="http://schemas.microsoft.com/office/powerpoint/2010/main" val="169443552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Declared effects must become observed evidence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pick_object · semantics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"preconditions": ["target object must be grounded or explicitly scenario-owned", "robot gripper should be free"],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"expected_effects": ["robot holds the object", "previous support relation is removed or replaced"],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"observable_success": ["status", "evidence.held", "evidence.kb_effects"],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"failure_modes": ["object_unavailable", "unreachable", "already_held", "grasp_failed"]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Selection, checking and dispatch</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planner_guidance: selection and ordering.</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result_schema: required result fields.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safety_flags: admission/dispatch labels.</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runtime_callable: exposure gate.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implementation_status: real/fake/hybrid.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robot_adapter_mapping: execution adapter.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supports_failure_injection: test support.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preconditions: assumptions to check.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expected_effects: predicted state change.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observable_success: evidence to inspect.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failure_modes: known failure outcomes.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Definition → invocation → execution result: three different objects with different authority.</a:t>
            </a:r>
          </a:p>
        </p:txBody>
      </p:sp>
    </p:spTree>
    <p:extLst>
      <p:ext uri="{BB962C8B-B14F-4D97-AF65-F5344CB8AC3E}">
        <p14:creationId xmlns:p14="http://schemas.microsoft.com/office/powerpoint/2010/main" val="169443552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5</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planner proposes and supervises plans</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 reviewed capability vocabulary</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Admitted goal + grounded context + skill entries condition the model. Parse and validate the candidate before publication.</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Lineage survives revision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plan.goal_id, plan_id and plan_version identify the proposal. steps contain id, name, args, requires and on_failure.</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/planner/request → planner_llm → /intents · hri_actions_msgs/msg/Intent, JSON nested under plan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4b13e5854884fb9"/>
          <a:stretch xmlns:a="http://schemas.openxmlformats.org/drawingml/2006/main"/>
        </p:blipFill>
        <p:spPr>
          <a:xfrm xmlns:a="http://schemas.openxmlformats.org/drawingml/2006/main">
            <a:off x="685800" y="2211009"/>
            <a:ext cx="10668000" cy="1816856"/>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VALIDATION &amp; DISPATCH</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orchestrator controls execution</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Check before dispatch</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Validate skill names, arguments, target roles, dependencies, policy and lineage. Track accepted and pending work.</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Dispatch and verify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Call the configured skill interface. Correlate typed results; apply successful KB effects via kb_skills and check postconditions.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nao_orchestrator owns deterministic execution—not task-planning policy or natural-language generation.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db9f1ce43474db5"/>
          <a:stretch xmlns:a="http://schemas.openxmlformats.org/drawingml/2006/main"/>
        </p:blipFill>
        <p:spPr>
          <a:xfrm xmlns:a="http://schemas.openxmlformats.org/drawingml/2006/main">
            <a:off x="685800" y="2050262"/>
            <a:ext cx="10668000" cy="2138352"/>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CONTRACTS 6–8</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Results drive feedback and truthful closure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Skill result · thesis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"skill": "place_object",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"status": "succeeded",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"summary_text": "I placed cup_1 on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"evidence":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"object_id": "cup_1",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"destination_id":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"kb_effects":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{"operation": "add", "statement": "cup_1 oro:isOn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"failure": null,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"metadata": {"fake":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Result → feedback → dialogue act</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C6 · skill result</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status + summary_text + evidence + failure + metadata.</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C7 · executor 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goal/plan/version + event + step + status/reason + result_payload.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C8 · planner communication request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 + reason + required slots → dialogue owner.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Action result → /planner/execution_feedback → /planner/dialogue_act → dialogue layer</a:t>
            </a:r>
          </a:p>
        </p:txBody>
      </p:sp>
    </p:spTree>
    <p:extLst>
      <p:ext uri="{BB962C8B-B14F-4D97-AF65-F5344CB8AC3E}">
        <p14:creationId xmlns:p14="http://schemas.microsoft.com/office/powerpoint/2010/main" val="169443552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SKILL ADAPTERS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Real and fake skills share a result boundary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Robot-facing adapters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Speech · /nao/say</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Posture / head · motion adapters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Gaze · ROS4HRI-compatible look_at</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Physical integration was exercised. The main semantic profile did not establish physical navigation, grasping or safety rates.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fake_skills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Action endpoints: /skill/fake/&lt;skill&gt;</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Carrier: nao_skills/action/ScanScene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Scenario, success, failure, alternating or seeded policy; targeted fail-once profiles.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Real KB guards + simulated outcome + typed result + declared KB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Keep metadata.fake=true visible; a simulated “held” result is not evidence of a physical grasp.</a:t>
            </a:r>
          </a:p>
        </p:txBody>
      </p:sp>
    </p:spTree>
    <p:extLst>
      <p:ext uri="{BB962C8B-B14F-4D97-AF65-F5344CB8AC3E}">
        <p14:creationId xmlns:p14="http://schemas.microsoft.com/office/powerpoint/2010/main" val="1694435529"/>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Evaluation qualifies a configuration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unit of analysis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One user request under a declared:</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model and generation settings;</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 software, prompts and contracts;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launch profile and selected adapters;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symbolic scene and conversation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harness and scoring procedure.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main profile isolates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Full-turn integration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Routing → planning → execution → closure.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Controlled skill outcomes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Repeatable success/failure for recovery.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Symbolic postconditions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State change checked independently from fluent speech.</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Scenario-based software validation—not unrestricted autonomy or a human-subject study.</a:t>
            </a:r>
          </a:p>
        </p:txBody>
      </p:sp>
    </p:spTree>
    <p:extLst>
      <p:ext uri="{BB962C8B-B14F-4D97-AF65-F5344CB8AC3E}">
        <p14:creationId xmlns:p14="http://schemas.microsoft.com/office/powerpoint/2010/main" val="169443552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1821DC-6624-42DF-900E-4D6BE752307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9E0EFB8-BBA5-4C92-9E5B-3440935A741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BAE2134-2AC1-4CC8-9A4B-49750C10CC4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131DD6B2-A209-4AA2-87A7-923A15AF615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9963DD07-3EEC-4AD8-8BF3-00E57638E4F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BFC0DF3F-DD62-49FB-A61D-742CF3AF31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pass requires the whole relevant trajectory.</a:t>
            </a:r>
          </a:p>
        </p:txBody>
      </p:sp>
      <p:sp>
        <p:nvSpPr>
          <p:cNvPr id="7" name="">
            <a:extLst xmlns:a="http://schemas.openxmlformats.org/drawingml/2006/main">
              <a:ext uri="{FF2B5EF4-FFF2-40B4-BE49-F238E27FC236}">
                <a16:creationId xmlns:a16="http://schemas.microsoft.com/office/drawing/2014/main" id="{07E74D5A-B4EE-479F-9B7B-7F02C240A2F0}"/>
              </a:ext>
            </a:extLst>
          </p:cNvPr>
          <p:cNvSpPr>
            <a:spLocks xmlns:a="http://schemas.openxmlformats.org/drawingml/2006/main" noGrp="1"/>
          </p:cNvSpPr>
          <p:nvPr/>
        </p:nvSpPr>
        <p:spPr>
          <a:xfrm xmlns:a="http://schemas.openxmlformats.org/drawingml/2006/main">
            <a:off x="6858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9166105B-EE34-4D26-980F-48CBEFA5BE9E}"/>
              </a:ext>
            </a:extLst>
          </p:cNvPr>
          <p:cNvSpPr>
            <a:spLocks xmlns:a="http://schemas.openxmlformats.org/drawingml/2006/main" noGrp="1"/>
          </p:cNvSpPr>
          <p:nvPr/>
        </p:nvSpPr>
        <p:spPr>
          <a:xfrm xmlns:a="http://schemas.openxmlformats.org/drawingml/2006/main">
            <a:off x="8191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0C6570"/>
                </a:solidFill>
                <a:latin typeface="Georgia"/>
                <a:ea typeface="Georgia"/>
                <a:cs typeface="Georgia"/>
              </a:defRPr>
            </a:pPr>
            <a:r>
              <a:rPr sz="3300" b="1" i="0">
                <a:solidFill>
                  <a:srgbClr val="0C6570"/>
                </a:solidFill>
                <a:latin typeface="Georgia"/>
                <a:ea typeface="Georgia"/>
                <a:cs typeface="Georgia"/>
              </a:rPr>
              <a:t>A</a:t>
            </a:r>
          </a:p>
        </p:txBody>
      </p:sp>
      <p:sp>
        <p:nvSpPr>
          <p:cNvPr id="9" name="">
            <a:extLst xmlns:a="http://schemas.openxmlformats.org/drawingml/2006/main">
              <a:ext uri="{FF2B5EF4-FFF2-40B4-BE49-F238E27FC236}">
                <a16:creationId xmlns:a16="http://schemas.microsoft.com/office/drawing/2014/main" id="{1360603F-BDB2-4ED0-AE63-10FCDA2BE2E3}"/>
              </a:ext>
            </a:extLst>
          </p:cNvPr>
          <p:cNvSpPr>
            <a:spLocks xmlns:a="http://schemas.openxmlformats.org/drawingml/2006/main" noGrp="1"/>
          </p:cNvSpPr>
          <p:nvPr/>
        </p:nvSpPr>
        <p:spPr>
          <a:xfrm xmlns:a="http://schemas.openxmlformats.org/drawingml/2006/main">
            <a:off x="8382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Semantic route</a:t>
            </a:r>
          </a:p>
        </p:txBody>
      </p:sp>
      <p:sp>
        <p:nvSpPr>
          <p:cNvPr id="10" name="">
            <a:extLst xmlns:a="http://schemas.openxmlformats.org/drawingml/2006/main">
              <a:ext uri="{FF2B5EF4-FFF2-40B4-BE49-F238E27FC236}">
                <a16:creationId xmlns:a16="http://schemas.microsoft.com/office/drawing/2014/main" id="{CD917EA2-6B97-4E62-BCC1-CC1780A1B50F}"/>
              </a:ext>
            </a:extLst>
          </p:cNvPr>
          <p:cNvSpPr>
            <a:spLocks xmlns:a="http://schemas.openxmlformats.org/drawingml/2006/main" noGrp="1"/>
          </p:cNvSpPr>
          <p:nvPr/>
        </p:nvSpPr>
        <p:spPr>
          <a:xfrm xmlns:a="http://schemas.openxmlformats.org/drawingml/2006/main">
            <a:off x="8572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Correct dialogue, knowledge, or execution path</a:t>
            </a:r>
          </a:p>
        </p:txBody>
      </p:sp>
      <p:sp>
        <p:nvSpPr>
          <p:cNvPr id="11" name="">
            <a:extLst xmlns:a="http://schemas.openxmlformats.org/drawingml/2006/main">
              <a:ext uri="{FF2B5EF4-FFF2-40B4-BE49-F238E27FC236}">
                <a16:creationId xmlns:a16="http://schemas.microsoft.com/office/drawing/2014/main" id="{A5C64D3F-7F97-40A9-817B-E651C598B0E9}"/>
              </a:ext>
            </a:extLst>
          </p:cNvPr>
          <p:cNvSpPr>
            <a:spLocks xmlns:a="http://schemas.openxmlformats.org/drawingml/2006/main" noGrp="1"/>
          </p:cNvSpPr>
          <p:nvPr/>
        </p:nvSpPr>
        <p:spPr>
          <a:xfrm xmlns:a="http://schemas.openxmlformats.org/drawingml/2006/main">
            <a:off x="33337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5C21DED-BF7D-4C00-8BB3-C0AAFF8AA7A3}"/>
              </a:ext>
            </a:extLst>
          </p:cNvPr>
          <p:cNvSpPr>
            <a:spLocks xmlns:a="http://schemas.openxmlformats.org/drawingml/2006/main" noGrp="1"/>
          </p:cNvSpPr>
          <p:nvPr/>
        </p:nvSpPr>
        <p:spPr>
          <a:xfrm xmlns:a="http://schemas.openxmlformats.org/drawingml/2006/main">
            <a:off x="34671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9B5C08"/>
                </a:solidFill>
                <a:latin typeface="Georgia"/>
                <a:ea typeface="Georgia"/>
                <a:cs typeface="Georgia"/>
              </a:defRPr>
            </a:pPr>
            <a:r>
              <a:rPr sz="3300" b="1" i="0">
                <a:solidFill>
                  <a:srgbClr val="9B5C08"/>
                </a:solidFill>
                <a:latin typeface="Georgia"/>
                <a:ea typeface="Georgia"/>
                <a:cs typeface="Georgia"/>
              </a:rPr>
              <a:t>B</a:t>
            </a:r>
          </a:p>
        </p:txBody>
      </p:sp>
      <p:sp>
        <p:nvSpPr>
          <p:cNvPr id="13" name="">
            <a:extLst xmlns:a="http://schemas.openxmlformats.org/drawingml/2006/main">
              <a:ext uri="{FF2B5EF4-FFF2-40B4-BE49-F238E27FC236}">
                <a16:creationId xmlns:a16="http://schemas.microsoft.com/office/drawing/2014/main" id="{9A3D66E3-9EF8-4D22-BB67-8A29EE78A131}"/>
              </a:ext>
            </a:extLst>
          </p:cNvPr>
          <p:cNvSpPr>
            <a:spLocks xmlns:a="http://schemas.openxmlformats.org/drawingml/2006/main" noGrp="1"/>
          </p:cNvSpPr>
          <p:nvPr/>
        </p:nvSpPr>
        <p:spPr>
          <a:xfrm xmlns:a="http://schemas.openxmlformats.org/drawingml/2006/main">
            <a:off x="34861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Accepted plan</a:t>
            </a:r>
          </a:p>
        </p:txBody>
      </p:sp>
      <p:sp>
        <p:nvSpPr>
          <p:cNvPr id="14" name="">
            <a:extLst xmlns:a="http://schemas.openxmlformats.org/drawingml/2006/main">
              <a:ext uri="{FF2B5EF4-FFF2-40B4-BE49-F238E27FC236}">
                <a16:creationId xmlns:a16="http://schemas.microsoft.com/office/drawing/2014/main" id="{0ADA32AD-5B5F-4E3E-814F-DE7D01F6F68F}"/>
              </a:ext>
            </a:extLst>
          </p:cNvPr>
          <p:cNvSpPr>
            <a:spLocks xmlns:a="http://schemas.openxmlformats.org/drawingml/2006/main" noGrp="1"/>
          </p:cNvSpPr>
          <p:nvPr/>
        </p:nvSpPr>
        <p:spPr>
          <a:xfrm xmlns:a="http://schemas.openxmlformats.org/drawingml/2006/main">
            <a:off x="35052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Complete targets, roles, skills, order, and lineage</a:t>
            </a:r>
          </a:p>
        </p:txBody>
      </p:sp>
      <p:sp>
        <p:nvSpPr>
          <p:cNvPr id="15" name="">
            <a:extLst xmlns:a="http://schemas.openxmlformats.org/drawingml/2006/main">
              <a:ext uri="{FF2B5EF4-FFF2-40B4-BE49-F238E27FC236}">
                <a16:creationId xmlns:a16="http://schemas.microsoft.com/office/drawing/2014/main" id="{36C7D75A-F542-4729-9D2E-567AACB78550}"/>
              </a:ext>
            </a:extLst>
          </p:cNvPr>
          <p:cNvSpPr>
            <a:spLocks xmlns:a="http://schemas.openxmlformats.org/drawingml/2006/main" noGrp="1"/>
          </p:cNvSpPr>
          <p:nvPr/>
        </p:nvSpPr>
        <p:spPr>
          <a:xfrm xmlns:a="http://schemas.openxmlformats.org/drawingml/2006/main">
            <a:off x="59817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DA09DF8-7FC5-43EB-B01B-C14859B2A30D}"/>
              </a:ext>
            </a:extLst>
          </p:cNvPr>
          <p:cNvSpPr>
            <a:spLocks xmlns:a="http://schemas.openxmlformats.org/drawingml/2006/main" noGrp="1"/>
          </p:cNvSpPr>
          <p:nvPr/>
        </p:nvSpPr>
        <p:spPr>
          <a:xfrm xmlns:a="http://schemas.openxmlformats.org/drawingml/2006/main">
            <a:off x="61150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A33B32"/>
                </a:solidFill>
                <a:latin typeface="Georgia"/>
                <a:ea typeface="Georgia"/>
                <a:cs typeface="Georgia"/>
              </a:defRPr>
            </a:pPr>
            <a:r>
              <a:rPr sz="3300" b="1" i="0">
                <a:solidFill>
                  <a:srgbClr val="A33B32"/>
                </a:solidFill>
                <a:latin typeface="Georgia"/>
                <a:ea typeface="Georgia"/>
                <a:cs typeface="Georgia"/>
              </a:rPr>
              <a:t>C</a:t>
            </a:r>
          </a:p>
        </p:txBody>
      </p:sp>
      <p:sp>
        <p:nvSpPr>
          <p:cNvPr id="17" name="">
            <a:extLst xmlns:a="http://schemas.openxmlformats.org/drawingml/2006/main">
              <a:ext uri="{FF2B5EF4-FFF2-40B4-BE49-F238E27FC236}">
                <a16:creationId xmlns:a16="http://schemas.microsoft.com/office/drawing/2014/main" id="{A43EAEC0-CBFA-45B7-9623-C24471CADC39}"/>
              </a:ext>
            </a:extLst>
          </p:cNvPr>
          <p:cNvSpPr>
            <a:spLocks xmlns:a="http://schemas.openxmlformats.org/drawingml/2006/main" noGrp="1"/>
          </p:cNvSpPr>
          <p:nvPr/>
        </p:nvSpPr>
        <p:spPr>
          <a:xfrm xmlns:a="http://schemas.openxmlformats.org/drawingml/2006/main">
            <a:off x="61341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Controlled outcome</a:t>
            </a:r>
          </a:p>
        </p:txBody>
      </p:sp>
      <p:sp>
        <p:nvSpPr>
          <p:cNvPr id="18" name="">
            <a:extLst xmlns:a="http://schemas.openxmlformats.org/drawingml/2006/main">
              <a:ext uri="{FF2B5EF4-FFF2-40B4-BE49-F238E27FC236}">
                <a16:creationId xmlns:a16="http://schemas.microsoft.com/office/drawing/2014/main" id="{A549A199-F363-412D-B663-38F5EB9642D1}"/>
              </a:ext>
            </a:extLst>
          </p:cNvPr>
          <p:cNvSpPr>
            <a:spLocks xmlns:a="http://schemas.openxmlformats.org/drawingml/2006/main" noGrp="1"/>
          </p:cNvSpPr>
          <p:nvPr/>
        </p:nvSpPr>
        <p:spPr>
          <a:xfrm xmlns:a="http://schemas.openxmlformats.org/drawingml/2006/main">
            <a:off x="61531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Success, failure, clarification, or bounded replan</a:t>
            </a:r>
          </a:p>
        </p:txBody>
      </p:sp>
      <p:sp>
        <p:nvSpPr>
          <p:cNvPr id="19" name="">
            <a:extLst xmlns:a="http://schemas.openxmlformats.org/drawingml/2006/main">
              <a:ext uri="{FF2B5EF4-FFF2-40B4-BE49-F238E27FC236}">
                <a16:creationId xmlns:a16="http://schemas.microsoft.com/office/drawing/2014/main" id="{8B1F6B1B-38CE-4300-A4AA-1BF5957C32AB}"/>
              </a:ext>
            </a:extLst>
          </p:cNvPr>
          <p:cNvSpPr>
            <a:spLocks xmlns:a="http://schemas.openxmlformats.org/drawingml/2006/main" noGrp="1"/>
          </p:cNvSpPr>
          <p:nvPr/>
        </p:nvSpPr>
        <p:spPr>
          <a:xfrm xmlns:a="http://schemas.openxmlformats.org/drawingml/2006/main">
            <a:off x="86296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1D9F0F5F-BD72-486A-B530-B11FD6B10321}"/>
              </a:ext>
            </a:extLst>
          </p:cNvPr>
          <p:cNvSpPr>
            <a:spLocks xmlns:a="http://schemas.openxmlformats.org/drawingml/2006/main" noGrp="1"/>
          </p:cNvSpPr>
          <p:nvPr/>
        </p:nvSpPr>
        <p:spPr>
          <a:xfrm xmlns:a="http://schemas.openxmlformats.org/drawingml/2006/main">
            <a:off x="87630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477A59"/>
                </a:solidFill>
                <a:latin typeface="Georgia"/>
                <a:ea typeface="Georgia"/>
                <a:cs typeface="Georgia"/>
              </a:defRPr>
            </a:pPr>
            <a:r>
              <a:rPr sz="3300" b="1" i="0">
                <a:solidFill>
                  <a:srgbClr val="477A59"/>
                </a:solidFill>
                <a:latin typeface="Georgia"/>
                <a:ea typeface="Georgia"/>
                <a:cs typeface="Georgia"/>
              </a:rPr>
              <a:t>D</a:t>
            </a:r>
          </a:p>
        </p:txBody>
      </p:sp>
      <p:sp>
        <p:nvSpPr>
          <p:cNvPr id="21" name="">
            <a:extLst xmlns:a="http://schemas.openxmlformats.org/drawingml/2006/main">
              <a:ext uri="{FF2B5EF4-FFF2-40B4-BE49-F238E27FC236}">
                <a16:creationId xmlns:a16="http://schemas.microsoft.com/office/drawing/2014/main" id="{DB60D3EA-4F5B-47DD-89C3-F3BE72777AB4}"/>
              </a:ext>
            </a:extLst>
          </p:cNvPr>
          <p:cNvSpPr>
            <a:spLocks xmlns:a="http://schemas.openxmlformats.org/drawingml/2006/main" noGrp="1"/>
          </p:cNvSpPr>
          <p:nvPr/>
        </p:nvSpPr>
        <p:spPr>
          <a:xfrm xmlns:a="http://schemas.openxmlformats.org/drawingml/2006/main">
            <a:off x="87820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Verified closure</a:t>
            </a:r>
          </a:p>
        </p:txBody>
      </p:sp>
      <p:sp>
        <p:nvSpPr>
          <p:cNvPr id="22" name="">
            <a:extLst xmlns:a="http://schemas.openxmlformats.org/drawingml/2006/main">
              <a:ext uri="{FF2B5EF4-FFF2-40B4-BE49-F238E27FC236}">
                <a16:creationId xmlns:a16="http://schemas.microsoft.com/office/drawing/2014/main" id="{DC604515-88D0-4F36-85EE-BD0D3E49E48C}"/>
              </a:ext>
            </a:extLst>
          </p:cNvPr>
          <p:cNvSpPr>
            <a:spLocks xmlns:a="http://schemas.openxmlformats.org/drawingml/2006/main" noGrp="1"/>
          </p:cNvSpPr>
          <p:nvPr/>
        </p:nvSpPr>
        <p:spPr>
          <a:xfrm xmlns:a="http://schemas.openxmlformats.org/drawingml/2006/main">
            <a:off x="88011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Postcondition and final report agree with evidence</a:t>
            </a:r>
          </a:p>
        </p:txBody>
      </p:sp>
      <p:sp>
        <p:nvSpPr>
          <p:cNvPr id="23" name="">
            <a:extLst xmlns:a="http://schemas.openxmlformats.org/drawingml/2006/main">
              <a:ext uri="{FF2B5EF4-FFF2-40B4-BE49-F238E27FC236}">
                <a16:creationId xmlns:a16="http://schemas.microsoft.com/office/drawing/2014/main" id="{ACB22E52-75EF-4DF8-8EE7-6983E76131EE}"/>
              </a:ext>
            </a:extLst>
          </p:cNvPr>
          <p:cNvSpPr>
            <a:spLocks xmlns:a="http://schemas.openxmlformats.org/drawingml/2006/main" noGrp="1"/>
          </p:cNvSpPr>
          <p:nvPr/>
        </p:nvSpPr>
        <p:spPr>
          <a:xfrm xmlns:a="http://schemas.openxmlformats.org/drawingml/2006/main">
            <a:off x="1000125" y="5095875"/>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Route + plan + execution evidence + postconditions + truthful closure</a:t>
            </a:r>
          </a:p>
        </p:txBody>
      </p:sp>
      <p:sp>
        <p:nvSpPr>
          <p:cNvPr id="24" name="">
            <a:extLst xmlns:a="http://schemas.openxmlformats.org/drawingml/2006/main">
              <a:ext uri="{FF2B5EF4-FFF2-40B4-BE49-F238E27FC236}">
                <a16:creationId xmlns:a16="http://schemas.microsoft.com/office/drawing/2014/main" id="{D051F8D0-6423-4B2B-9FF3-3C19423581BE}"/>
              </a:ext>
            </a:extLst>
          </p:cNvPr>
          <p:cNvSpPr>
            <a:spLocks xmlns:a="http://schemas.openxmlformats.org/drawingml/2006/main" noGrp="1"/>
          </p:cNvSpPr>
          <p:nvPr/>
        </p:nvSpPr>
        <p:spPr>
          <a:xfrm xmlns:a="http://schemas.openxmlformats.org/drawingml/2006/main">
            <a:off x="1285875" y="57150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425" b="0" i="0">
                <a:solidFill>
                  <a:srgbClr val="5B6770"/>
                </a:solidFill>
                <a:latin typeface="Arial"/>
                <a:ea typeface="Arial"/>
                <a:cs typeface="Arial"/>
              </a:defRPr>
            </a:pPr>
            <a:r>
              <a:rPr sz="1425" b="0" i="0">
                <a:solidFill>
                  <a:srgbClr val="5B6770"/>
                </a:solidFill>
                <a:latin typeface="Arial"/>
                <a:ea typeface="Arial"/>
                <a:cs typeface="Arial"/>
              </a:rPr>
              <a:t>Missing correlated evidence is not automatically a model failure; preserve exclusions explicitly.</a:t>
            </a:r>
          </a:p>
        </p:txBody>
      </p:sp>
    </p:spTree>
    <p:extLst>
      <p:ext uri="{BB962C8B-B14F-4D97-AF65-F5344CB8AC3E}">
        <p14:creationId xmlns:p14="http://schemas.microsoft.com/office/powerpoint/2010/main" val="177426516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Human-supervised, agent-assisted validation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Bounded development loop</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robot-stack-iteration-loop</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“Establish A Red Gate”</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“Patch The Owning Seam”</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“Accept a round only when source and live evidence agree.”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Delegated task → test/probe → proposed change → verification → human acceptance.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Evidence-based runtime review</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robot-runtime-performance-review</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“Read raw evidence, not summaries only.”</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“Separate fact absence from model failure.”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“Score state and wording independently.”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Review routing, grounding, lineage, recovery and duplicate speech.</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Author-directed: all agent-generated project code was reviewed, revised and tuned by Juan.</a:t>
            </a:r>
          </a:p>
        </p:txBody>
      </p:sp>
    </p:spTree>
    <p:extLst>
      <p:ext uri="{BB962C8B-B14F-4D97-AF65-F5344CB8AC3E}">
        <p14:creationId xmlns:p14="http://schemas.microsoft.com/office/powerpoint/2010/main" val="169443552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E5FBD3-A4BA-47B5-B853-79E57A3CDAB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33CEC5FF-C62C-462C-B24F-52762BBDADC1}"/>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50826AD-07CA-482F-A030-880A8A8FF41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AD4C4632-7CC3-4C17-95F9-FB3EC75DD7A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60E013C9-77CC-460D-AD93-D9DB4DF5158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7A15AED1-D130-4C37-83FB-06A8A357654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One primary campaign; separate supporting sets.</a:t>
            </a:r>
          </a:p>
        </p:txBody>
      </p:sp>
      <p:sp>
        <p:nvSpPr>
          <p:cNvPr id="7" name="">
            <a:extLst xmlns:a="http://schemas.openxmlformats.org/drawingml/2006/main">
              <a:ext uri="{FF2B5EF4-FFF2-40B4-BE49-F238E27FC236}">
                <a16:creationId xmlns:a16="http://schemas.microsoft.com/office/drawing/2014/main" id="{313561BA-6F4E-4E64-B9B7-CB269631BCF7}"/>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D219546-9DE8-464A-A147-BE7031678F71}"/>
              </a:ext>
            </a:extLst>
          </p:cNvPr>
          <p:cNvSpPr>
            <a:spLocks xmlns:a="http://schemas.openxmlformats.org/drawingml/2006/main" noGrp="1"/>
          </p:cNvSpPr>
          <p:nvPr/>
        </p:nvSpPr>
        <p:spPr>
          <a:xfrm xmlns:a="http://schemas.openxmlformats.org/drawingml/2006/main">
            <a:off x="8191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108</a:t>
            </a:r>
          </a:p>
        </p:txBody>
      </p:sp>
      <p:sp>
        <p:nvSpPr>
          <p:cNvPr id="9" name="">
            <a:extLst xmlns:a="http://schemas.openxmlformats.org/drawingml/2006/main">
              <a:ext uri="{FF2B5EF4-FFF2-40B4-BE49-F238E27FC236}">
                <a16:creationId xmlns:a16="http://schemas.microsoft.com/office/drawing/2014/main" id="{9698E7A7-CEE0-4541-AD62-772139A6C13C}"/>
              </a:ext>
            </a:extLst>
          </p:cNvPr>
          <p:cNvSpPr>
            <a:spLocks xmlns:a="http://schemas.openxmlformats.org/drawingml/2006/main" noGrp="1"/>
          </p:cNvSpPr>
          <p:nvPr/>
        </p:nvSpPr>
        <p:spPr>
          <a:xfrm xmlns:a="http://schemas.openxmlformats.org/drawingml/2006/main">
            <a:off x="8382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Retained case records</a:t>
            </a:r>
          </a:p>
        </p:txBody>
      </p:sp>
      <p:sp>
        <p:nvSpPr>
          <p:cNvPr id="10" name="">
            <a:extLst xmlns:a="http://schemas.openxmlformats.org/drawingml/2006/main">
              <a:ext uri="{FF2B5EF4-FFF2-40B4-BE49-F238E27FC236}">
                <a16:creationId xmlns:a16="http://schemas.microsoft.com/office/drawing/2014/main" id="{FA6F513F-C2E3-4C5A-8693-A68A0A08F828}"/>
              </a:ext>
            </a:extLst>
          </p:cNvPr>
          <p:cNvSpPr>
            <a:spLocks xmlns:a="http://schemas.openxmlformats.org/drawingml/2006/main" noGrp="1"/>
          </p:cNvSpPr>
          <p:nvPr/>
        </p:nvSpPr>
        <p:spPr>
          <a:xfrm xmlns:a="http://schemas.openxmlformats.org/drawingml/2006/main">
            <a:off x="8572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33 source artifacts across the primary provenance index.</a:t>
            </a:r>
          </a:p>
        </p:txBody>
      </p:sp>
      <p:sp>
        <p:nvSpPr>
          <p:cNvPr id="11" name="">
            <a:extLst xmlns:a="http://schemas.openxmlformats.org/drawingml/2006/main">
              <a:ext uri="{FF2B5EF4-FFF2-40B4-BE49-F238E27FC236}">
                <a16:creationId xmlns:a16="http://schemas.microsoft.com/office/drawing/2014/main" id="{C195E7C4-1382-4E86-967D-89028B8D0D10}"/>
              </a:ext>
            </a:extLst>
          </p:cNvPr>
          <p:cNvSpPr>
            <a:spLocks xmlns:a="http://schemas.openxmlformats.org/drawingml/2006/main" noGrp="1"/>
          </p:cNvSpPr>
          <p:nvPr/>
        </p:nvSpPr>
        <p:spPr>
          <a:xfrm xmlns:a="http://schemas.openxmlformats.org/drawingml/2006/main">
            <a:off x="42291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CAB78222-9C29-4EF4-B511-B9F17BE8385E}"/>
              </a:ext>
            </a:extLst>
          </p:cNvPr>
          <p:cNvSpPr>
            <a:spLocks xmlns:a="http://schemas.openxmlformats.org/drawingml/2006/main" noGrp="1"/>
          </p:cNvSpPr>
          <p:nvPr/>
        </p:nvSpPr>
        <p:spPr>
          <a:xfrm xmlns:a="http://schemas.openxmlformats.org/drawingml/2006/main">
            <a:off x="43624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72</a:t>
            </a:r>
          </a:p>
        </p:txBody>
      </p:sp>
      <p:sp>
        <p:nvSpPr>
          <p:cNvPr id="13" name="">
            <a:extLst xmlns:a="http://schemas.openxmlformats.org/drawingml/2006/main">
              <a:ext uri="{FF2B5EF4-FFF2-40B4-BE49-F238E27FC236}">
                <a16:creationId xmlns:a16="http://schemas.microsoft.com/office/drawing/2014/main" id="{041A424C-EB54-42DD-ACAD-951C7A4492C0}"/>
              </a:ext>
            </a:extLst>
          </p:cNvPr>
          <p:cNvSpPr>
            <a:spLocks xmlns:a="http://schemas.openxmlformats.org/drawingml/2006/main" noGrp="1"/>
          </p:cNvSpPr>
          <p:nvPr/>
        </p:nvSpPr>
        <p:spPr>
          <a:xfrm xmlns:a="http://schemas.openxmlformats.org/drawingml/2006/main">
            <a:off x="43815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Primary records</a:t>
            </a:r>
          </a:p>
        </p:txBody>
      </p:sp>
      <p:sp>
        <p:nvSpPr>
          <p:cNvPr id="14" name="">
            <a:extLst xmlns:a="http://schemas.openxmlformats.org/drawingml/2006/main">
              <a:ext uri="{FF2B5EF4-FFF2-40B4-BE49-F238E27FC236}">
                <a16:creationId xmlns:a16="http://schemas.microsoft.com/office/drawing/2014/main" id="{EBB0F67B-0041-4626-82D1-BE5EA2B7F98D}"/>
              </a:ext>
            </a:extLst>
          </p:cNvPr>
          <p:cNvSpPr>
            <a:spLocks xmlns:a="http://schemas.openxmlformats.org/drawingml/2006/main" noGrp="1"/>
          </p:cNvSpPr>
          <p:nvPr/>
        </p:nvSpPr>
        <p:spPr>
          <a:xfrm xmlns:a="http://schemas.openxmlformats.org/drawingml/2006/main">
            <a:off x="44005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Qwen3-VL: 64 passes and 8 non-passes under the primary qualification.</a:t>
            </a:r>
          </a:p>
        </p:txBody>
      </p:sp>
      <p:sp>
        <p:nvSpPr>
          <p:cNvPr id="15" name="">
            <a:extLst xmlns:a="http://schemas.openxmlformats.org/drawingml/2006/main">
              <a:ext uri="{FF2B5EF4-FFF2-40B4-BE49-F238E27FC236}">
                <a16:creationId xmlns:a16="http://schemas.microsoft.com/office/drawing/2014/main" id="{939C2BF3-1980-454D-99D5-A735749A66F0}"/>
              </a:ext>
            </a:extLst>
          </p:cNvPr>
          <p:cNvSpPr>
            <a:spLocks xmlns:a="http://schemas.openxmlformats.org/drawingml/2006/main" noGrp="1"/>
          </p:cNvSpPr>
          <p:nvPr/>
        </p:nvSpPr>
        <p:spPr>
          <a:xfrm xmlns:a="http://schemas.openxmlformats.org/drawingml/2006/main">
            <a:off x="77724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09C4F971-664F-4E7A-BBC3-093634B32F2F}"/>
              </a:ext>
            </a:extLst>
          </p:cNvPr>
          <p:cNvSpPr>
            <a:spLocks xmlns:a="http://schemas.openxmlformats.org/drawingml/2006/main" noGrp="1"/>
          </p:cNvSpPr>
          <p:nvPr/>
        </p:nvSpPr>
        <p:spPr>
          <a:xfrm xmlns:a="http://schemas.openxmlformats.org/drawingml/2006/main">
            <a:off x="79057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191</a:t>
            </a:r>
          </a:p>
        </p:txBody>
      </p:sp>
      <p:sp>
        <p:nvSpPr>
          <p:cNvPr id="17" name="">
            <a:extLst xmlns:a="http://schemas.openxmlformats.org/drawingml/2006/main">
              <a:ext uri="{FF2B5EF4-FFF2-40B4-BE49-F238E27FC236}">
                <a16:creationId xmlns:a16="http://schemas.microsoft.com/office/drawing/2014/main" id="{143DF589-DFA9-4F49-B8A2-61A69A780B46}"/>
              </a:ext>
            </a:extLst>
          </p:cNvPr>
          <p:cNvSpPr>
            <a:spLocks xmlns:a="http://schemas.openxmlformats.org/drawingml/2006/main" noGrp="1"/>
          </p:cNvSpPr>
          <p:nvPr/>
        </p:nvSpPr>
        <p:spPr>
          <a:xfrm xmlns:a="http://schemas.openxmlformats.org/drawingml/2006/main">
            <a:off x="79248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Model supplement</a:t>
            </a:r>
          </a:p>
        </p:txBody>
      </p:sp>
      <p:sp>
        <p:nvSpPr>
          <p:cNvPr id="18" name="">
            <a:extLst xmlns:a="http://schemas.openxmlformats.org/drawingml/2006/main">
              <a:ext uri="{FF2B5EF4-FFF2-40B4-BE49-F238E27FC236}">
                <a16:creationId xmlns:a16="http://schemas.microsoft.com/office/drawing/2014/main" id="{3CA4F9DB-8D80-4F33-9077-094A92FF775D}"/>
              </a:ext>
            </a:extLst>
          </p:cNvPr>
          <p:cNvSpPr>
            <a:spLocks xmlns:a="http://schemas.openxmlformats.org/drawingml/2006/main" noGrp="1"/>
          </p:cNvSpPr>
          <p:nvPr/>
        </p:nvSpPr>
        <p:spPr>
          <a:xfrm xmlns:a="http://schemas.openxmlformats.org/drawingml/2006/main">
            <a:off x="79438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Three-model supplement. Kept outside the primary denominator.</a:t>
            </a:r>
          </a:p>
        </p:txBody>
      </p:sp>
      <p:sp>
        <p:nvSpPr>
          <p:cNvPr id="19" name="">
            <a:extLst xmlns:a="http://schemas.openxmlformats.org/drawingml/2006/main">
              <a:ext uri="{FF2B5EF4-FFF2-40B4-BE49-F238E27FC236}">
                <a16:creationId xmlns:a16="http://schemas.microsoft.com/office/drawing/2014/main" id="{C683F4CA-2246-4B95-821D-1D3624EC6A22}"/>
              </a:ext>
            </a:extLst>
          </p:cNvPr>
          <p:cNvSpPr>
            <a:spLocks xmlns:a="http://schemas.openxmlformats.org/drawingml/2006/main" noGrp="1"/>
          </p:cNvSpPr>
          <p:nvPr/>
        </p:nvSpPr>
        <p:spPr>
          <a:xfrm xmlns:a="http://schemas.openxmlformats.org/drawingml/2006/main">
            <a:off x="1600200" y="54292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2025" b="1" i="0">
                <a:solidFill>
                  <a:srgbClr val="073F47"/>
                </a:solidFill>
                <a:latin typeface="Georgia"/>
                <a:ea typeface="Georgia"/>
                <a:cs typeface="Georgia"/>
              </a:defRPr>
            </a:pPr>
            <a:r>
              <a:rPr sz="2025" b="1" i="0">
                <a:solidFill>
                  <a:srgbClr val="073F47"/>
                </a:solidFill>
                <a:latin typeface="Georgia"/>
                <a:ea typeface="Georgia"/>
                <a:cs typeface="Georgia"/>
              </a:rPr>
              <a:t>108 = 72 primary + 26 ablation + 10 archived records</a:t>
            </a:r>
          </a:p>
        </p:txBody>
      </p:sp>
    </p:spTree>
    <p:extLst>
      <p:ext uri="{BB962C8B-B14F-4D97-AF65-F5344CB8AC3E}">
        <p14:creationId xmlns:p14="http://schemas.microsoft.com/office/powerpoint/2010/main" val="110381476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461758-9581-47B2-AE36-8E4741D1721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8826674-F222-4A3D-A4E9-AC5578FDB5D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C75879E8-73B9-47EA-B87B-FFB8C15EEF00}"/>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61DEE54B-8EC2-48C1-858C-1120E788438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7F950701-7BCB-42DE-BD22-DB277E77B05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05CF0C8F-A1A1-44AB-B415-B42993FD3AE7}"/>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64 of 72 primary cases passed.</a:t>
            </a:r>
          </a:p>
        </p:txBody>
      </p:sp>
      <p:sp>
        <p:nvSpPr>
          <p:cNvPr id="8" name="">
            <a:extLst xmlns:a="http://schemas.openxmlformats.org/drawingml/2006/main">
              <a:ext uri="{FF2B5EF4-FFF2-40B4-BE49-F238E27FC236}">
                <a16:creationId xmlns:a16="http://schemas.microsoft.com/office/drawing/2014/main" id="{6AFCDB74-2BE7-419A-A4A9-BD348488D15D}"/>
              </a:ext>
            </a:extLst>
          </p:cNvPr>
          <p:cNvSpPr>
            <a:spLocks xmlns:a="http://schemas.openxmlformats.org/drawingml/2006/main" noGrp="1"/>
          </p:cNvSpPr>
          <p:nvPr/>
        </p:nvSpPr>
        <p:spPr>
          <a:xfrm xmlns:a="http://schemas.openxmlformats.org/drawingml/2006/main">
            <a:off x="7239000" y="2047875"/>
            <a:ext cx="3714750" cy="26670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2D5D4"/>
            </a:solidFill>
            <a:prstDash val="solid"/>
          </a:ln>
        </p:spPr>
      </p:sp>
      <p:sp>
        <p:nvSpPr>
          <p:cNvPr id="9" name="">
            <a:extLst xmlns:a="http://schemas.openxmlformats.org/drawingml/2006/main">
              <a:ext uri="{FF2B5EF4-FFF2-40B4-BE49-F238E27FC236}">
                <a16:creationId xmlns:a16="http://schemas.microsoft.com/office/drawing/2014/main" id="{CA02132A-C72A-4F5E-A0D5-EF69D0D1DD57}"/>
              </a:ext>
            </a:extLst>
          </p:cNvPr>
          <p:cNvSpPr>
            <a:spLocks xmlns:a="http://schemas.openxmlformats.org/drawingml/2006/main" noGrp="1"/>
          </p:cNvSpPr>
          <p:nvPr/>
        </p:nvSpPr>
        <p:spPr>
          <a:xfrm xmlns:a="http://schemas.openxmlformats.org/drawingml/2006/main">
            <a:off x="7239000" y="2047875"/>
            <a:ext cx="57150" cy="26670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0" name="">
            <a:extLst xmlns:a="http://schemas.openxmlformats.org/drawingml/2006/main">
              <a:ext uri="{FF2B5EF4-FFF2-40B4-BE49-F238E27FC236}">
                <a16:creationId xmlns:a16="http://schemas.microsoft.com/office/drawing/2014/main" id="{81ADD5B6-86AB-4025-9DC3-44D01FD47055}"/>
              </a:ext>
            </a:extLst>
          </p:cNvPr>
          <p:cNvSpPr>
            <a:spLocks xmlns:a="http://schemas.openxmlformats.org/drawingml/2006/main" noGrp="1"/>
          </p:cNvSpPr>
          <p:nvPr/>
        </p:nvSpPr>
        <p:spPr>
          <a:xfrm xmlns:a="http://schemas.openxmlformats.org/drawingml/2006/main">
            <a:off x="7448550" y="221932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suites test</a:t>
            </a:r>
          </a:p>
        </p:txBody>
      </p:sp>
      <p:sp>
        <p:nvSpPr>
          <p:cNvPr id="11" name="">
            <a:extLst xmlns:a="http://schemas.openxmlformats.org/drawingml/2006/main">
              <a:ext uri="{FF2B5EF4-FFF2-40B4-BE49-F238E27FC236}">
                <a16:creationId xmlns:a16="http://schemas.microsoft.com/office/drawing/2014/main" id="{BFE45643-81E4-41D0-8F62-9C64B45C0238}"/>
              </a:ext>
            </a:extLst>
          </p:cNvPr>
          <p:cNvSpPr>
            <a:spLocks xmlns:a="http://schemas.openxmlformats.org/drawingml/2006/main" noGrp="1"/>
          </p:cNvSpPr>
          <p:nvPr/>
        </p:nvSpPr>
        <p:spPr>
          <a:xfrm xmlns:a="http://schemas.openxmlformats.org/drawingml/2006/main">
            <a:off x="7448550" y="2619375"/>
            <a:ext cx="32956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Named scenes and relation grounding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Stateful KB mutation and verification</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Five robustness prompts repeated three times</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Multi-step and multi-capability tasks</a:t>
            </a:r>
          </a:p>
        </p:txBody>
      </p:sp>
      <p:sp>
        <p:nvSpPr>
          <p:cNvPr id="12" name="">
            <a:extLst xmlns:a="http://schemas.openxmlformats.org/drawingml/2006/main">
              <a:ext uri="{FF2B5EF4-FFF2-40B4-BE49-F238E27FC236}">
                <a16:creationId xmlns:a16="http://schemas.microsoft.com/office/drawing/2014/main" id="{0C0F55BD-F88E-4B88-84EE-015784D00285}"/>
              </a:ext>
            </a:extLst>
          </p:cNvPr>
          <p:cNvSpPr>
            <a:spLocks xmlns:a="http://schemas.openxmlformats.org/drawingml/2006/main" noGrp="1"/>
          </p:cNvSpPr>
          <p:nvPr/>
        </p:nvSpPr>
        <p:spPr>
          <a:xfrm xmlns:a="http://schemas.openxmlformats.org/drawingml/2006/main">
            <a:off x="7239000" y="4810125"/>
            <a:ext cx="3714750" cy="1190625"/>
          </a:xfrm>
          <a:prstGeom xmlns:a="http://schemas.openxmlformats.org/drawingml/2006/main" prst="roundRect">
            <a:avLst>
              <a:gd name="adj" fmla="val 12800"/>
            </a:avLst>
          </a:prstGeom>
          <a:solidFill xmlns:a="http://schemas.openxmlformats.org/drawingml/2006/main">
            <a:srgbClr val="FFFFFF"/>
          </a:solidFill>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E5AC7257-4E9F-4E57-A412-F5C71053E60F}"/>
              </a:ext>
            </a:extLst>
          </p:cNvPr>
          <p:cNvSpPr>
            <a:spLocks xmlns:a="http://schemas.openxmlformats.org/drawingml/2006/main" noGrp="1"/>
          </p:cNvSpPr>
          <p:nvPr/>
        </p:nvSpPr>
        <p:spPr>
          <a:xfrm xmlns:a="http://schemas.openxmlformats.org/drawingml/2006/main">
            <a:off x="7239000" y="4810125"/>
            <a:ext cx="57150" cy="1190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4" name="">
            <a:extLst xmlns:a="http://schemas.openxmlformats.org/drawingml/2006/main">
              <a:ext uri="{FF2B5EF4-FFF2-40B4-BE49-F238E27FC236}">
                <a16:creationId xmlns:a16="http://schemas.microsoft.com/office/drawing/2014/main" id="{82155759-F2BF-41A2-B79E-C2D4B80FF7F0}"/>
              </a:ext>
            </a:extLst>
          </p:cNvPr>
          <p:cNvSpPr>
            <a:spLocks xmlns:a="http://schemas.openxmlformats.org/drawingml/2006/main" noGrp="1"/>
          </p:cNvSpPr>
          <p:nvPr/>
        </p:nvSpPr>
        <p:spPr>
          <a:xfrm xmlns:a="http://schemas.openxmlformats.org/drawingml/2006/main">
            <a:off x="7448550" y="49815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Interpretation</a:t>
            </a:r>
          </a:p>
        </p:txBody>
      </p:sp>
      <p:sp>
        <p:nvSpPr>
          <p:cNvPr id="15" name="">
            <a:extLst xmlns:a="http://schemas.openxmlformats.org/drawingml/2006/main">
              <a:ext uri="{FF2B5EF4-FFF2-40B4-BE49-F238E27FC236}">
                <a16:creationId xmlns:a16="http://schemas.microsoft.com/office/drawing/2014/main" id="{603ABBFD-5A9E-4549-8FD5-C7411816B0D1}"/>
              </a:ext>
            </a:extLst>
          </p:cNvPr>
          <p:cNvSpPr>
            <a:spLocks xmlns:a="http://schemas.openxmlformats.org/drawingml/2006/main" noGrp="1"/>
          </p:cNvSpPr>
          <p:nvPr/>
        </p:nvSpPr>
        <p:spPr>
          <a:xfrm xmlns:a="http://schemas.openxmlformats.org/drawingml/2006/main">
            <a:off x="7448550" y="5267325"/>
            <a:ext cx="32956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Controlled symbolic success is not physical performance. Safe rejection does not make an incomplete task successful.</a:t>
            </a:r>
          </a:p>
        </p:txBody>
      </p:sp>
      <p:graphicFrame>
        <p:nvGraphicFramePr>
          <p:cNvPr id="33" name="Chart"/>
          <p:cNvGraphicFramePr/>
          <p:nvPr/>
        </p:nvGraphicFramePr>
        <p:xfrm>
          <a:off xmlns:a="http://schemas.openxmlformats.org/drawingml/2006/main" x="685800" y="2009775"/>
          <a:ext xmlns:a="http://schemas.openxmlformats.org/drawingml/2006/main" cx="6334125" cy="3619500"/>
        </p:xfrm>
        <a:graphic xmlns:a="http://schemas.openxmlformats.org/drawingml/2006/main">
          <a:graphicData uri="http://schemas.openxmlformats.org/drawingml/2006/chart">
            <c:chart xmlns:r="http://schemas.openxmlformats.org/officeDocument/2006/relationships" xmlns:c="http://schemas.openxmlformats.org/drawingml/2006/chart" r:id="R5353948bba71495a"/>
          </a:graphicData>
        </a:graphic>
      </p:graphicFrame>
    </p:spTree>
    <p:extLst>
      <p:ext uri="{BB962C8B-B14F-4D97-AF65-F5344CB8AC3E}">
        <p14:creationId xmlns:p14="http://schemas.microsoft.com/office/powerpoint/2010/main" val="1977999802"/>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4366195-4A18-4748-BFCC-AD7237B95A8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504E224-1EC5-4974-9699-EA6E3F9480A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FA55BAE-005C-4861-8354-6EC983A4EEE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CBC062C8-446D-4D12-BAEF-3B2CC86DAAB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65C6429B-89EF-4B9D-AAFB-CACAAD939EF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E37BB146-A8DB-4A39-B7B6-5F98A179943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Semantic failures remained attributable.</a:t>
            </a:r>
          </a:p>
        </p:txBody>
      </p:sp>
      <p:sp>
        <p:nvSpPr>
          <p:cNvPr id="7" name="">
            <a:extLst xmlns:a="http://schemas.openxmlformats.org/drawingml/2006/main">
              <a:ext uri="{FF2B5EF4-FFF2-40B4-BE49-F238E27FC236}">
                <a16:creationId xmlns:a16="http://schemas.microsoft.com/office/drawing/2014/main" id="{F46CFC9C-20E0-41B4-B9DE-58F050272B73}"/>
              </a:ext>
            </a:extLst>
          </p:cNvPr>
          <p:cNvSpPr>
            <a:spLocks xmlns:a="http://schemas.openxmlformats.org/drawingml/2006/main" noGrp="1"/>
          </p:cNvSpPr>
          <p:nvPr/>
        </p:nvSpPr>
        <p:spPr>
          <a:xfrm xmlns:a="http://schemas.openxmlformats.org/drawingml/2006/main">
            <a:off x="685800" y="20288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8" name="">
            <a:extLst xmlns:a="http://schemas.openxmlformats.org/drawingml/2006/main">
              <a:ext uri="{FF2B5EF4-FFF2-40B4-BE49-F238E27FC236}">
                <a16:creationId xmlns:a16="http://schemas.microsoft.com/office/drawing/2014/main" id="{33F7141F-94AC-4399-BBB2-61B1ABBB063E}"/>
              </a:ext>
            </a:extLst>
          </p:cNvPr>
          <p:cNvSpPr>
            <a:spLocks xmlns:a="http://schemas.openxmlformats.org/drawingml/2006/main" noGrp="1"/>
          </p:cNvSpPr>
          <p:nvPr/>
        </p:nvSpPr>
        <p:spPr>
          <a:xfrm xmlns:a="http://schemas.openxmlformats.org/drawingml/2006/main">
            <a:off x="762000" y="20955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6EAC1A10-2290-4F4C-B117-70654D3BF4B9}"/>
              </a:ext>
            </a:extLst>
          </p:cNvPr>
          <p:cNvSpPr>
            <a:spLocks xmlns:a="http://schemas.openxmlformats.org/drawingml/2006/main" noGrp="1"/>
          </p:cNvSpPr>
          <p:nvPr/>
        </p:nvSpPr>
        <p:spPr>
          <a:xfrm xmlns:a="http://schemas.openxmlformats.org/drawingml/2006/main">
            <a:off x="2324100" y="19812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KB update entered the execution planner</a:t>
            </a:r>
          </a:p>
        </p:txBody>
      </p:sp>
      <p:sp>
        <p:nvSpPr>
          <p:cNvPr id="10" name="">
            <a:extLst xmlns:a="http://schemas.openxmlformats.org/drawingml/2006/main">
              <a:ext uri="{FF2B5EF4-FFF2-40B4-BE49-F238E27FC236}">
                <a16:creationId xmlns:a16="http://schemas.microsoft.com/office/drawing/2014/main" id="{3FC82834-FC31-4395-8084-ED5E8E434ECC}"/>
              </a:ext>
            </a:extLst>
          </p:cNvPr>
          <p:cNvSpPr>
            <a:spLocks xmlns:a="http://schemas.openxmlformats.org/drawingml/2006/main" noGrp="1"/>
          </p:cNvSpPr>
          <p:nvPr/>
        </p:nvSpPr>
        <p:spPr>
          <a:xfrm xmlns:a="http://schemas.openxmlformats.org/drawingml/2006/main">
            <a:off x="7715250" y="20288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Route and ownership failure</a:t>
            </a:r>
          </a:p>
        </p:txBody>
      </p:sp>
      <p:sp>
        <p:nvSpPr>
          <p:cNvPr id="11" name="">
            <a:extLst xmlns:a="http://schemas.openxmlformats.org/drawingml/2006/main">
              <a:ext uri="{FF2B5EF4-FFF2-40B4-BE49-F238E27FC236}">
                <a16:creationId xmlns:a16="http://schemas.microsoft.com/office/drawing/2014/main" id="{460602EA-802E-40BD-9556-31781BD65BFA}"/>
              </a:ext>
            </a:extLst>
          </p:cNvPr>
          <p:cNvSpPr>
            <a:spLocks xmlns:a="http://schemas.openxmlformats.org/drawingml/2006/main" noGrp="1"/>
          </p:cNvSpPr>
          <p:nvPr/>
        </p:nvSpPr>
        <p:spPr>
          <a:xfrm xmlns:a="http://schemas.openxmlformats.org/drawingml/2006/main">
            <a:off x="685800" y="25622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0E1061-92FB-4D69-9F2E-3590C4F7758C}"/>
              </a:ext>
            </a:extLst>
          </p:cNvPr>
          <p:cNvSpPr>
            <a:spLocks xmlns:a="http://schemas.openxmlformats.org/drawingml/2006/main" noGrp="1"/>
          </p:cNvSpPr>
          <p:nvPr/>
        </p:nvSpPr>
        <p:spPr>
          <a:xfrm xmlns:a="http://schemas.openxmlformats.org/drawingml/2006/main">
            <a:off x="685800" y="28098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3" name="">
            <a:extLst xmlns:a="http://schemas.openxmlformats.org/drawingml/2006/main">
              <a:ext uri="{FF2B5EF4-FFF2-40B4-BE49-F238E27FC236}">
                <a16:creationId xmlns:a16="http://schemas.microsoft.com/office/drawing/2014/main" id="{50DF5E3D-EF9E-4E69-85D4-00EF144EC5A5}"/>
              </a:ext>
            </a:extLst>
          </p:cNvPr>
          <p:cNvSpPr>
            <a:spLocks xmlns:a="http://schemas.openxmlformats.org/drawingml/2006/main" noGrp="1"/>
          </p:cNvSpPr>
          <p:nvPr/>
        </p:nvSpPr>
        <p:spPr>
          <a:xfrm xmlns:a="http://schemas.openxmlformats.org/drawingml/2006/main">
            <a:off x="762000" y="2876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SELECTION</a:t>
            </a:r>
          </a:p>
        </p:txBody>
      </p:sp>
      <p:sp>
        <p:nvSpPr>
          <p:cNvPr id="14" name="">
            <a:extLst xmlns:a="http://schemas.openxmlformats.org/drawingml/2006/main">
              <a:ext uri="{FF2B5EF4-FFF2-40B4-BE49-F238E27FC236}">
                <a16:creationId xmlns:a16="http://schemas.microsoft.com/office/drawing/2014/main" id="{54C62EA0-F300-40EB-BA8A-BB998581CF08}"/>
              </a:ext>
            </a:extLst>
          </p:cNvPr>
          <p:cNvSpPr>
            <a:spLocks xmlns:a="http://schemas.openxmlformats.org/drawingml/2006/main" noGrp="1"/>
          </p:cNvSpPr>
          <p:nvPr/>
        </p:nvSpPr>
        <p:spPr>
          <a:xfrm xmlns:a="http://schemas.openxmlformats.org/drawingml/2006/main">
            <a:off x="2324100" y="27622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One member omitted from an “all objects” set</a:t>
            </a:r>
          </a:p>
        </p:txBody>
      </p:sp>
      <p:sp>
        <p:nvSpPr>
          <p:cNvPr id="15" name="">
            <a:extLst xmlns:a="http://schemas.openxmlformats.org/drawingml/2006/main">
              <a:ext uri="{FF2B5EF4-FFF2-40B4-BE49-F238E27FC236}">
                <a16:creationId xmlns:a16="http://schemas.microsoft.com/office/drawing/2014/main" id="{C491286F-1549-41F2-8480-0155F81F1F9D}"/>
              </a:ext>
            </a:extLst>
          </p:cNvPr>
          <p:cNvSpPr>
            <a:spLocks xmlns:a="http://schemas.openxmlformats.org/drawingml/2006/main" noGrp="1"/>
          </p:cNvSpPr>
          <p:nvPr/>
        </p:nvSpPr>
        <p:spPr>
          <a:xfrm xmlns:a="http://schemas.openxmlformats.org/drawingml/2006/main">
            <a:off x="7715250" y="28098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Target-set failure</a:t>
            </a:r>
          </a:p>
        </p:txBody>
      </p:sp>
      <p:sp>
        <p:nvSpPr>
          <p:cNvPr id="16" name="">
            <a:extLst xmlns:a="http://schemas.openxmlformats.org/drawingml/2006/main">
              <a:ext uri="{FF2B5EF4-FFF2-40B4-BE49-F238E27FC236}">
                <a16:creationId xmlns:a16="http://schemas.microsoft.com/office/drawing/2014/main" id="{7034FE58-83FB-4C6D-8323-894A4370F565}"/>
              </a:ext>
            </a:extLst>
          </p:cNvPr>
          <p:cNvSpPr>
            <a:spLocks xmlns:a="http://schemas.openxmlformats.org/drawingml/2006/main" noGrp="1"/>
          </p:cNvSpPr>
          <p:nvPr/>
        </p:nvSpPr>
        <p:spPr>
          <a:xfrm xmlns:a="http://schemas.openxmlformats.org/drawingml/2006/main">
            <a:off x="685800" y="33432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434CB78E-276C-4CD5-BBE6-E044CFD4D661}"/>
              </a:ext>
            </a:extLst>
          </p:cNvPr>
          <p:cNvSpPr>
            <a:spLocks xmlns:a="http://schemas.openxmlformats.org/drawingml/2006/main" noGrp="1"/>
          </p:cNvSpPr>
          <p:nvPr/>
        </p:nvSpPr>
        <p:spPr>
          <a:xfrm xmlns:a="http://schemas.openxmlformats.org/drawingml/2006/main">
            <a:off x="685800" y="35909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8" name="">
            <a:extLst xmlns:a="http://schemas.openxmlformats.org/drawingml/2006/main">
              <a:ext uri="{FF2B5EF4-FFF2-40B4-BE49-F238E27FC236}">
                <a16:creationId xmlns:a16="http://schemas.microsoft.com/office/drawing/2014/main" id="{74ECEA71-A485-4EB1-9201-7C8F47FFCD4F}"/>
              </a:ext>
            </a:extLst>
          </p:cNvPr>
          <p:cNvSpPr>
            <a:spLocks xmlns:a="http://schemas.openxmlformats.org/drawingml/2006/main" noGrp="1"/>
          </p:cNvSpPr>
          <p:nvPr/>
        </p:nvSpPr>
        <p:spPr>
          <a:xfrm xmlns:a="http://schemas.openxmlformats.org/drawingml/2006/main">
            <a:off x="762000" y="36576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ROLE</a:t>
            </a:r>
          </a:p>
        </p:txBody>
      </p:sp>
      <p:sp>
        <p:nvSpPr>
          <p:cNvPr id="19" name="">
            <a:extLst xmlns:a="http://schemas.openxmlformats.org/drawingml/2006/main">
              <a:ext uri="{FF2B5EF4-FFF2-40B4-BE49-F238E27FC236}">
                <a16:creationId xmlns:a16="http://schemas.microsoft.com/office/drawing/2014/main" id="{89454E82-897F-4BE2-97BE-75694D30ACD8}"/>
              </a:ext>
            </a:extLst>
          </p:cNvPr>
          <p:cNvSpPr>
            <a:spLocks xmlns:a="http://schemas.openxmlformats.org/drawingml/2006/main" noGrp="1"/>
          </p:cNvSpPr>
          <p:nvPr/>
        </p:nvSpPr>
        <p:spPr>
          <a:xfrm xmlns:a="http://schemas.openxmlformats.org/drawingml/2006/main">
            <a:off x="2324100" y="35433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Kitchen treated as the delivery recipient</a:t>
            </a:r>
          </a:p>
        </p:txBody>
      </p:sp>
      <p:sp>
        <p:nvSpPr>
          <p:cNvPr id="20" name="">
            <a:extLst xmlns:a="http://schemas.openxmlformats.org/drawingml/2006/main">
              <a:ext uri="{FF2B5EF4-FFF2-40B4-BE49-F238E27FC236}">
                <a16:creationId xmlns:a16="http://schemas.microsoft.com/office/drawing/2014/main" id="{F74B84A7-8AD9-461F-9951-F14811686837}"/>
              </a:ext>
            </a:extLst>
          </p:cNvPr>
          <p:cNvSpPr>
            <a:spLocks xmlns:a="http://schemas.openxmlformats.org/drawingml/2006/main" noGrp="1"/>
          </p:cNvSpPr>
          <p:nvPr/>
        </p:nvSpPr>
        <p:spPr>
          <a:xfrm xmlns:a="http://schemas.openxmlformats.org/drawingml/2006/main">
            <a:off x="7715250" y="35909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Entity-role failure</a:t>
            </a:r>
          </a:p>
        </p:txBody>
      </p:sp>
      <p:sp>
        <p:nvSpPr>
          <p:cNvPr id="21" name="">
            <a:extLst xmlns:a="http://schemas.openxmlformats.org/drawingml/2006/main">
              <a:ext uri="{FF2B5EF4-FFF2-40B4-BE49-F238E27FC236}">
                <a16:creationId xmlns:a16="http://schemas.microsoft.com/office/drawing/2014/main" id="{1CA83F22-C0A7-496C-96E1-AB7ABBA483C7}"/>
              </a:ext>
            </a:extLst>
          </p:cNvPr>
          <p:cNvSpPr>
            <a:spLocks xmlns:a="http://schemas.openxmlformats.org/drawingml/2006/main" noGrp="1"/>
          </p:cNvSpPr>
          <p:nvPr/>
        </p:nvSpPr>
        <p:spPr>
          <a:xfrm xmlns:a="http://schemas.openxmlformats.org/drawingml/2006/main">
            <a:off x="685800" y="41243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1CEC130F-ABFF-41FB-9AE1-5606CB37383F}"/>
              </a:ext>
            </a:extLst>
          </p:cNvPr>
          <p:cNvSpPr>
            <a:spLocks xmlns:a="http://schemas.openxmlformats.org/drawingml/2006/main" noGrp="1"/>
          </p:cNvSpPr>
          <p:nvPr/>
        </p:nvSpPr>
        <p:spPr>
          <a:xfrm xmlns:a="http://schemas.openxmlformats.org/drawingml/2006/main">
            <a:off x="685800" y="43719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23" name="">
            <a:extLst xmlns:a="http://schemas.openxmlformats.org/drawingml/2006/main">
              <a:ext uri="{FF2B5EF4-FFF2-40B4-BE49-F238E27FC236}">
                <a16:creationId xmlns:a16="http://schemas.microsoft.com/office/drawing/2014/main" id="{28B0A9CA-2562-48D5-8D1D-7E272982D24D}"/>
              </a:ext>
            </a:extLst>
          </p:cNvPr>
          <p:cNvSpPr>
            <a:spLocks xmlns:a="http://schemas.openxmlformats.org/drawingml/2006/main" noGrp="1"/>
          </p:cNvSpPr>
          <p:nvPr/>
        </p:nvSpPr>
        <p:spPr>
          <a:xfrm xmlns:a="http://schemas.openxmlformats.org/drawingml/2006/main">
            <a:off x="762000" y="44386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COVERAGE</a:t>
            </a:r>
          </a:p>
        </p:txBody>
      </p:sp>
      <p:sp>
        <p:nvSpPr>
          <p:cNvPr id="24" name="">
            <a:extLst xmlns:a="http://schemas.openxmlformats.org/drawingml/2006/main">
              <a:ext uri="{FF2B5EF4-FFF2-40B4-BE49-F238E27FC236}">
                <a16:creationId xmlns:a16="http://schemas.microsoft.com/office/drawing/2014/main" id="{B7D24D1A-6C34-4E31-9290-DBA955399754}"/>
              </a:ext>
            </a:extLst>
          </p:cNvPr>
          <p:cNvSpPr>
            <a:spLocks xmlns:a="http://schemas.openxmlformats.org/drawingml/2006/main" noGrp="1"/>
          </p:cNvSpPr>
          <p:nvPr/>
        </p:nvSpPr>
        <p:spPr>
          <a:xfrm xmlns:a="http://schemas.openxmlformats.org/drawingml/2006/main">
            <a:off x="2324100" y="43243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Required action absent from a long composite</a:t>
            </a:r>
          </a:p>
        </p:txBody>
      </p:sp>
      <p:sp>
        <p:nvSpPr>
          <p:cNvPr id="25" name="">
            <a:extLst xmlns:a="http://schemas.openxmlformats.org/drawingml/2006/main">
              <a:ext uri="{FF2B5EF4-FFF2-40B4-BE49-F238E27FC236}">
                <a16:creationId xmlns:a16="http://schemas.microsoft.com/office/drawing/2014/main" id="{6D79B0FD-01C0-4860-893E-5C7290B74D35}"/>
              </a:ext>
            </a:extLst>
          </p:cNvPr>
          <p:cNvSpPr>
            <a:spLocks xmlns:a="http://schemas.openxmlformats.org/drawingml/2006/main" noGrp="1"/>
          </p:cNvSpPr>
          <p:nvPr/>
        </p:nvSpPr>
        <p:spPr>
          <a:xfrm xmlns:a="http://schemas.openxmlformats.org/drawingml/2006/main">
            <a:off x="7715250" y="4371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Plan-completeness failure</a:t>
            </a:r>
          </a:p>
        </p:txBody>
      </p:sp>
      <p:sp>
        <p:nvSpPr>
          <p:cNvPr id="26" name="">
            <a:extLst xmlns:a="http://schemas.openxmlformats.org/drawingml/2006/main">
              <a:ext uri="{FF2B5EF4-FFF2-40B4-BE49-F238E27FC236}">
                <a16:creationId xmlns:a16="http://schemas.microsoft.com/office/drawing/2014/main" id="{FBBD535C-343A-496E-9A4F-74F7F01A036B}"/>
              </a:ext>
            </a:extLst>
          </p:cNvPr>
          <p:cNvSpPr>
            <a:spLocks xmlns:a="http://schemas.openxmlformats.org/drawingml/2006/main" noGrp="1"/>
          </p:cNvSpPr>
          <p:nvPr/>
        </p:nvSpPr>
        <p:spPr>
          <a:xfrm xmlns:a="http://schemas.openxmlformats.org/drawingml/2006/main">
            <a:off x="685800" y="49053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CB094958-2BDC-4C35-97D1-1E0956D27BC9}"/>
              </a:ext>
            </a:extLst>
          </p:cNvPr>
          <p:cNvSpPr>
            <a:spLocks xmlns:a="http://schemas.openxmlformats.org/drawingml/2006/main" noGrp="1"/>
          </p:cNvSpPr>
          <p:nvPr/>
        </p:nvSpPr>
        <p:spPr>
          <a:xfrm xmlns:a="http://schemas.openxmlformats.org/drawingml/2006/main">
            <a:off x="685800" y="5153025"/>
            <a:ext cx="1352550" cy="323850"/>
          </a:xfrm>
          <a:prstGeom xmlns:a="http://schemas.openxmlformats.org/drawingml/2006/main" prst="roundRect">
            <a:avLst>
              <a:gd name="adj" fmla="val 50000"/>
            </a:avLst>
          </a:prstGeom>
          <a:solidFill xmlns:a="http://schemas.openxmlformats.org/drawingml/2006/main">
            <a:srgbClr val="F2DFDC"/>
          </a:solidFill>
          <a:ln xmlns:a="http://schemas.openxmlformats.org/drawingml/2006/main" w="0">
            <a:solidFill>
              <a:srgbClr val="F2DFDC"/>
            </a:solidFill>
            <a:prstDash val="solid"/>
          </a:ln>
        </p:spPr>
      </p:sp>
      <p:sp>
        <p:nvSpPr>
          <p:cNvPr id="28" name="">
            <a:extLst xmlns:a="http://schemas.openxmlformats.org/drawingml/2006/main">
              <a:ext uri="{FF2B5EF4-FFF2-40B4-BE49-F238E27FC236}">
                <a16:creationId xmlns:a16="http://schemas.microsoft.com/office/drawing/2014/main" id="{CF0578A7-0A3A-414A-892C-C4C8251078DF}"/>
              </a:ext>
            </a:extLst>
          </p:cNvPr>
          <p:cNvSpPr>
            <a:spLocks xmlns:a="http://schemas.openxmlformats.org/drawingml/2006/main" noGrp="1"/>
          </p:cNvSpPr>
          <p:nvPr/>
        </p:nvSpPr>
        <p:spPr>
          <a:xfrm xmlns:a="http://schemas.openxmlformats.org/drawingml/2006/main">
            <a:off x="762000" y="52197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A33B32"/>
                </a:solidFill>
                <a:latin typeface="Arial"/>
                <a:ea typeface="Arial"/>
                <a:cs typeface="Arial"/>
              </a:defRPr>
            </a:pPr>
            <a:r>
              <a:rPr sz="1050" b="1" i="0">
                <a:solidFill>
                  <a:srgbClr val="A33B32"/>
                </a:solidFill>
                <a:latin typeface="Arial"/>
                <a:ea typeface="Arial"/>
                <a:cs typeface="Arial"/>
              </a:rPr>
              <a:t>CLOSURE</a:t>
            </a:r>
          </a:p>
        </p:txBody>
      </p:sp>
      <p:sp>
        <p:nvSpPr>
          <p:cNvPr id="29" name="">
            <a:extLst xmlns:a="http://schemas.openxmlformats.org/drawingml/2006/main">
              <a:ext uri="{FF2B5EF4-FFF2-40B4-BE49-F238E27FC236}">
                <a16:creationId xmlns:a16="http://schemas.microsoft.com/office/drawing/2014/main" id="{6225B41E-5F2A-43D4-A8DB-767A8B868B87}"/>
              </a:ext>
            </a:extLst>
          </p:cNvPr>
          <p:cNvSpPr>
            <a:spLocks xmlns:a="http://schemas.openxmlformats.org/drawingml/2006/main" noGrp="1"/>
          </p:cNvSpPr>
          <p:nvPr/>
        </p:nvSpPr>
        <p:spPr>
          <a:xfrm xmlns:a="http://schemas.openxmlformats.org/drawingml/2006/main">
            <a:off x="2324100" y="51054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Recovery occurred without reliable terminal speech</a:t>
            </a:r>
          </a:p>
        </p:txBody>
      </p:sp>
      <p:sp>
        <p:nvSpPr>
          <p:cNvPr id="30" name="">
            <a:extLst xmlns:a="http://schemas.openxmlformats.org/drawingml/2006/main">
              <a:ext uri="{FF2B5EF4-FFF2-40B4-BE49-F238E27FC236}">
                <a16:creationId xmlns:a16="http://schemas.microsoft.com/office/drawing/2014/main" id="{A3049420-B677-4F1A-BD28-01056CCD6B2A}"/>
              </a:ext>
            </a:extLst>
          </p:cNvPr>
          <p:cNvSpPr>
            <a:spLocks xmlns:a="http://schemas.openxmlformats.org/drawingml/2006/main" noGrp="1"/>
          </p:cNvSpPr>
          <p:nvPr/>
        </p:nvSpPr>
        <p:spPr>
          <a:xfrm xmlns:a="http://schemas.openxmlformats.org/drawingml/2006/main">
            <a:off x="7715250" y="51530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Report/closure failure</a:t>
            </a:r>
          </a:p>
        </p:txBody>
      </p:sp>
      <p:sp>
        <p:nvSpPr>
          <p:cNvPr id="31" name="">
            <a:extLst xmlns:a="http://schemas.openxmlformats.org/drawingml/2006/main">
              <a:ext uri="{FF2B5EF4-FFF2-40B4-BE49-F238E27FC236}">
                <a16:creationId xmlns:a16="http://schemas.microsoft.com/office/drawing/2014/main" id="{FB308384-F97F-45A4-A4FD-272B0B918BE5}"/>
              </a:ext>
            </a:extLst>
          </p:cNvPr>
          <p:cNvSpPr>
            <a:spLocks xmlns:a="http://schemas.openxmlformats.org/drawingml/2006/main" noGrp="1"/>
          </p:cNvSpPr>
          <p:nvPr/>
        </p:nvSpPr>
        <p:spPr>
          <a:xfrm xmlns:a="http://schemas.openxmlformats.org/drawingml/2006/main">
            <a:off x="685800" y="56864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711A2113-FA84-4B06-8E5F-11D2D0D654E6}"/>
              </a:ext>
            </a:extLst>
          </p:cNvPr>
          <p:cNvSpPr>
            <a:spLocks xmlns:a="http://schemas.openxmlformats.org/drawingml/2006/main" noGrp="1"/>
          </p:cNvSpPr>
          <p:nvPr/>
        </p:nvSpPr>
        <p:spPr>
          <a:xfrm xmlns:a="http://schemas.openxmlformats.org/drawingml/2006/main">
            <a:off x="1143000" y="59531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Harness and wiring defects were classified separately; fluent output was not sufficient evidence.</a:t>
            </a:r>
          </a:p>
        </p:txBody>
      </p:sp>
    </p:spTree>
    <p:extLst>
      <p:ext uri="{BB962C8B-B14F-4D97-AF65-F5344CB8AC3E}">
        <p14:creationId xmlns:p14="http://schemas.microsoft.com/office/powerpoint/2010/main" val="425320538"/>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DDE8F3-79F2-4B46-BBE1-56C2FF2971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BCCA8E-9E7B-4765-9895-B5AF406C5DB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3DB7A12-0612-4C78-ABB4-9D424649CD0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4383F299-38F7-4FBC-AAA8-4C9A093C305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DECAFD28-516A-4834-96DC-04552E36AF1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BF03A514-317D-4434-8E49-87160FBEE66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Shared interfaces; different semantic behaviour.</a:t>
            </a:r>
          </a:p>
        </p:txBody>
      </p:sp>
      <p:sp>
        <p:nvSpPr>
          <p:cNvPr id="7" name="">
            <a:extLst xmlns:a="http://schemas.openxmlformats.org/drawingml/2006/main">
              <a:ext uri="{FF2B5EF4-FFF2-40B4-BE49-F238E27FC236}">
                <a16:creationId xmlns:a16="http://schemas.microsoft.com/office/drawing/2014/main" id="{2AC22915-C432-432C-AB41-573C12AF09B0}"/>
              </a:ext>
            </a:extLst>
          </p:cNvPr>
          <p:cNvSpPr>
            <a:spLocks xmlns:a="http://schemas.openxmlformats.org/drawingml/2006/main" noGrp="1"/>
          </p:cNvSpPr>
          <p:nvPr/>
        </p:nvSpPr>
        <p:spPr>
          <a:xfrm xmlns:a="http://schemas.openxmlformats.org/drawingml/2006/main">
            <a:off x="6858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BF55023-5A69-4241-869B-239CDD00BA3C}"/>
              </a:ext>
            </a:extLst>
          </p:cNvPr>
          <p:cNvSpPr>
            <a:spLocks xmlns:a="http://schemas.openxmlformats.org/drawingml/2006/main" noGrp="1"/>
          </p:cNvSpPr>
          <p:nvPr/>
        </p:nvSpPr>
        <p:spPr>
          <a:xfrm xmlns:a="http://schemas.openxmlformats.org/drawingml/2006/main">
            <a:off x="685800" y="2095500"/>
            <a:ext cx="57150" cy="28575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A8B04CC8-5986-41AF-B7D8-1169B5D25C12}"/>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Stable interfaces</a:t>
            </a:r>
          </a:p>
        </p:txBody>
      </p:sp>
      <p:sp>
        <p:nvSpPr>
          <p:cNvPr id="10" name="">
            <a:extLst xmlns:a="http://schemas.openxmlformats.org/drawingml/2006/main">
              <a:ext uri="{FF2B5EF4-FFF2-40B4-BE49-F238E27FC236}">
                <a16:creationId xmlns:a16="http://schemas.microsoft.com/office/drawing/2014/main" id="{92C14791-E17A-4D3F-89E5-C8C4B9A2BD9B}"/>
              </a:ext>
            </a:extLst>
          </p:cNvPr>
          <p:cNvSpPr>
            <a:spLocks xmlns:a="http://schemas.openxmlformats.org/drawingml/2006/main" noGrp="1"/>
          </p:cNvSpPr>
          <p:nvPr/>
        </p:nvSpPr>
        <p:spPr>
          <a:xfrm xmlns:a="http://schemas.openxmlformats.org/drawingml/2006/main">
            <a:off x="8953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scenario definitions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ROS ownership</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symbolic transport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request schema</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result contracts</a:t>
            </a:r>
          </a:p>
        </p:txBody>
      </p:sp>
      <p:sp>
        <p:nvSpPr>
          <p:cNvPr id="11" name="">
            <a:extLst xmlns:a="http://schemas.openxmlformats.org/drawingml/2006/main">
              <a:ext uri="{FF2B5EF4-FFF2-40B4-BE49-F238E27FC236}">
                <a16:creationId xmlns:a16="http://schemas.microsoft.com/office/drawing/2014/main" id="{6701E9B1-AD8A-4808-83C0-6E38A928B974}"/>
              </a:ext>
            </a:extLst>
          </p:cNvPr>
          <p:cNvSpPr>
            <a:spLocks xmlns:a="http://schemas.openxmlformats.org/drawingml/2006/main" noGrp="1"/>
          </p:cNvSpPr>
          <p:nvPr/>
        </p:nvSpPr>
        <p:spPr>
          <a:xfrm xmlns:a="http://schemas.openxmlformats.org/drawingml/2006/main">
            <a:off x="42291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1C2AE4A9-61F7-40FA-AD2F-B454E417F5CF}"/>
              </a:ext>
            </a:extLst>
          </p:cNvPr>
          <p:cNvSpPr>
            <a:spLocks xmlns:a="http://schemas.openxmlformats.org/drawingml/2006/main" noGrp="1"/>
          </p:cNvSpPr>
          <p:nvPr/>
        </p:nvSpPr>
        <p:spPr>
          <a:xfrm xmlns:a="http://schemas.openxmlformats.org/drawingml/2006/main">
            <a:off x="4229100" y="20955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B1C20BC5-A3EF-4DD4-96DF-9523905E771B}"/>
              </a:ext>
            </a:extLst>
          </p:cNvPr>
          <p:cNvSpPr>
            <a:spLocks xmlns:a="http://schemas.openxmlformats.org/drawingml/2006/main" noGrp="1"/>
          </p:cNvSpPr>
          <p:nvPr/>
        </p:nvSpPr>
        <p:spPr>
          <a:xfrm xmlns:a="http://schemas.openxmlformats.org/drawingml/2006/main">
            <a:off x="4438650" y="22669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Variable behaviour</a:t>
            </a:r>
          </a:p>
        </p:txBody>
      </p:sp>
      <p:sp>
        <p:nvSpPr>
          <p:cNvPr id="14" name="">
            <a:extLst xmlns:a="http://schemas.openxmlformats.org/drawingml/2006/main">
              <a:ext uri="{FF2B5EF4-FFF2-40B4-BE49-F238E27FC236}">
                <a16:creationId xmlns:a16="http://schemas.microsoft.com/office/drawing/2014/main" id="{38A5BA41-3F60-473F-AFEA-540357679599}"/>
              </a:ext>
            </a:extLst>
          </p:cNvPr>
          <p:cNvSpPr>
            <a:spLocks xmlns:a="http://schemas.openxmlformats.org/drawingml/2006/main" noGrp="1"/>
          </p:cNvSpPr>
          <p:nvPr/>
        </p:nvSpPr>
        <p:spPr>
          <a:xfrm xmlns:a="http://schemas.openxmlformats.org/drawingml/2006/main">
            <a:off x="4438650" y="2933700"/>
            <a:ext cx="2819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Route selection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Target coverage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Role assignment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Clarification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 and report completeness</a:t>
            </a:r>
          </a:p>
        </p:txBody>
      </p:sp>
      <p:sp>
        <p:nvSpPr>
          <p:cNvPr id="15" name="">
            <a:extLst xmlns:a="http://schemas.openxmlformats.org/drawingml/2006/main">
              <a:ext uri="{FF2B5EF4-FFF2-40B4-BE49-F238E27FC236}">
                <a16:creationId xmlns:a16="http://schemas.microsoft.com/office/drawing/2014/main" id="{D5D1A09B-5F00-4762-B116-8C44D59F9DC3}"/>
              </a:ext>
            </a:extLst>
          </p:cNvPr>
          <p:cNvSpPr>
            <a:spLocks xmlns:a="http://schemas.openxmlformats.org/drawingml/2006/main" noGrp="1"/>
          </p:cNvSpPr>
          <p:nvPr/>
        </p:nvSpPr>
        <p:spPr>
          <a:xfrm xmlns:a="http://schemas.openxmlformats.org/drawingml/2006/main">
            <a:off x="77724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190CDB7-52A0-4084-A117-557290E5D21D}"/>
              </a:ext>
            </a:extLst>
          </p:cNvPr>
          <p:cNvSpPr>
            <a:spLocks xmlns:a="http://schemas.openxmlformats.org/drawingml/2006/main" noGrp="1"/>
          </p:cNvSpPr>
          <p:nvPr/>
        </p:nvSpPr>
        <p:spPr>
          <a:xfrm xmlns:a="http://schemas.openxmlformats.org/drawingml/2006/main">
            <a:off x="7772400" y="2095500"/>
            <a:ext cx="57150" cy="285750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4C4A68A9-6C1E-4EA5-8D7E-5E6BC8F9719F}"/>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Matched supplement</a:t>
            </a:r>
          </a:p>
        </p:txBody>
      </p:sp>
      <p:sp>
        <p:nvSpPr>
          <p:cNvPr id="18" name="">
            <a:extLst xmlns:a="http://schemas.openxmlformats.org/drawingml/2006/main">
              <a:ext uri="{FF2B5EF4-FFF2-40B4-BE49-F238E27FC236}">
                <a16:creationId xmlns:a16="http://schemas.microsoft.com/office/drawing/2014/main" id="{6986F4CB-0DC9-4113-8343-4E8152C9B4BE}"/>
              </a:ext>
            </a:extLst>
          </p:cNvPr>
          <p:cNvSpPr>
            <a:spLocks xmlns:a="http://schemas.openxmlformats.org/drawingml/2006/main" noGrp="1"/>
          </p:cNvSpPr>
          <p:nvPr/>
        </p:nvSpPr>
        <p:spPr>
          <a:xfrm xmlns:a="http://schemas.openxmlformats.org/drawingml/2006/main">
            <a:off x="79819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Comparable strict profiles: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Gemma4:31b-cloud  50/59</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Gemma4:cloud       51/60</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Nemotron-3-super  43/56</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Descriptive results, not a statistical model ranking.</a:t>
            </a:r>
          </a:p>
        </p:txBody>
      </p:sp>
      <p:sp>
        <p:nvSpPr>
          <p:cNvPr id="19" name="">
            <a:extLst xmlns:a="http://schemas.openxmlformats.org/drawingml/2006/main">
              <a:ext uri="{FF2B5EF4-FFF2-40B4-BE49-F238E27FC236}">
                <a16:creationId xmlns:a16="http://schemas.microsoft.com/office/drawing/2014/main" id="{CE0DA1F0-F26F-4B76-ADDF-287EDFFD4DCE}"/>
              </a:ext>
            </a:extLst>
          </p:cNvPr>
          <p:cNvSpPr>
            <a:spLocks xmlns:a="http://schemas.openxmlformats.org/drawingml/2006/main" noGrp="1"/>
          </p:cNvSpPr>
          <p:nvPr/>
        </p:nvSpPr>
        <p:spPr>
          <a:xfrm xmlns:a="http://schemas.openxmlformats.org/drawingml/2006/main">
            <a:off x="1143000" y="54292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75" b="1" i="0">
                <a:solidFill>
                  <a:srgbClr val="073F47"/>
                </a:solidFill>
                <a:latin typeface="Georgia"/>
                <a:ea typeface="Georgia"/>
                <a:cs typeface="Georgia"/>
              </a:defRPr>
            </a:pPr>
            <a:r>
              <a:rPr sz="1875" b="1" i="0">
                <a:solidFill>
                  <a:srgbClr val="073F47"/>
                </a:solidFill>
                <a:latin typeface="Georgia"/>
                <a:ea typeface="Georgia"/>
                <a:cs typeface="Georgia"/>
              </a:rPr>
              <a:t>Backend compatibility permits substitution; each model still needs behavioural qualification.</a:t>
            </a:r>
          </a:p>
        </p:txBody>
      </p:sp>
    </p:spTree>
    <p:extLst>
      <p:ext uri="{BB962C8B-B14F-4D97-AF65-F5344CB8AC3E}">
        <p14:creationId xmlns:p14="http://schemas.microsoft.com/office/powerpoint/2010/main" val="49089968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7B9528-D91C-4661-80DD-91D304C3988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460869C-EB1F-4752-A0EE-A48AFEFF0DA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E5BBF02-02FC-4F72-8211-4F06A128891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C11354AA-5A76-46F2-8F37-B0C476B445C8}"/>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4A56E981-AF30-4ABE-BF34-370E46DAEA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 · TRACE</a:t>
            </a:r>
          </a:p>
        </p:txBody>
      </p:sp>
      <p:sp>
        <p:nvSpPr>
          <p:cNvPr id="6" name="">
            <a:extLst xmlns:a="http://schemas.openxmlformats.org/drawingml/2006/main">
              <a:ext uri="{FF2B5EF4-FFF2-40B4-BE49-F238E27FC236}">
                <a16:creationId xmlns:a16="http://schemas.microsoft.com/office/drawing/2014/main" id="{5B1C531E-BD07-495A-B204-0E8281E00F70}"/>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failed pick triggered a revised plan.</a:t>
            </a:r>
          </a:p>
        </p:txBody>
      </p:sp>
      <p:sp>
        <p:nvSpPr>
          <p:cNvPr id="7" name="">
            <a:extLst xmlns:a="http://schemas.openxmlformats.org/drawingml/2006/main">
              <a:ext uri="{FF2B5EF4-FFF2-40B4-BE49-F238E27FC236}">
                <a16:creationId xmlns:a16="http://schemas.microsoft.com/office/drawing/2014/main" id="{B843EEBC-DB63-46E9-9B67-7E49E1BCF99A}"/>
              </a:ext>
            </a:extLst>
          </p:cNvPr>
          <p:cNvSpPr>
            <a:spLocks xmlns:a="http://schemas.openxmlformats.org/drawingml/2006/main" noGrp="1"/>
          </p:cNvSpPr>
          <p:nvPr/>
        </p:nvSpPr>
        <p:spPr>
          <a:xfrm xmlns:a="http://schemas.openxmlformats.org/drawingml/2006/main">
            <a:off x="6191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8" name="">
            <a:extLst xmlns:a="http://schemas.openxmlformats.org/drawingml/2006/main">
              <a:ext uri="{FF2B5EF4-FFF2-40B4-BE49-F238E27FC236}">
                <a16:creationId xmlns:a16="http://schemas.microsoft.com/office/drawing/2014/main" id="{E9696CAC-5447-4D3F-8EC1-E446F63AC838}"/>
              </a:ext>
            </a:extLst>
          </p:cNvPr>
          <p:cNvSpPr>
            <a:spLocks xmlns:a="http://schemas.openxmlformats.org/drawingml/2006/main" noGrp="1"/>
          </p:cNvSpPr>
          <p:nvPr/>
        </p:nvSpPr>
        <p:spPr>
          <a:xfrm xmlns:a="http://schemas.openxmlformats.org/drawingml/2006/main">
            <a:off x="7524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find object</a:t>
            </a:r>
          </a:p>
        </p:txBody>
      </p:sp>
      <p:sp>
        <p:nvSpPr>
          <p:cNvPr id="9" name="">
            <a:extLst xmlns:a="http://schemas.openxmlformats.org/drawingml/2006/main">
              <a:ext uri="{FF2B5EF4-FFF2-40B4-BE49-F238E27FC236}">
                <a16:creationId xmlns:a16="http://schemas.microsoft.com/office/drawing/2014/main" id="{C5C9995E-C57F-4503-9EFD-6965F56DC4A1}"/>
              </a:ext>
            </a:extLst>
          </p:cNvPr>
          <p:cNvSpPr>
            <a:spLocks xmlns:a="http://schemas.openxmlformats.org/drawingml/2006/main" noGrp="1"/>
          </p:cNvSpPr>
          <p:nvPr/>
        </p:nvSpPr>
        <p:spPr>
          <a:xfrm xmlns:a="http://schemas.openxmlformats.org/drawingml/2006/main">
            <a:off x="7524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D09FEAC5-725F-4B1A-8024-4BE67D05FE40}"/>
              </a:ext>
            </a:extLst>
          </p:cNvPr>
          <p:cNvSpPr>
            <a:spLocks xmlns:a="http://schemas.openxmlformats.org/drawingml/2006/main" noGrp="1"/>
          </p:cNvSpPr>
          <p:nvPr/>
        </p:nvSpPr>
        <p:spPr>
          <a:xfrm xmlns:a="http://schemas.openxmlformats.org/drawingml/2006/main">
            <a:off x="24003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15DA87B-A8C1-4820-84D6-6214D0883370}"/>
              </a:ext>
            </a:extLst>
          </p:cNvPr>
          <p:cNvSpPr>
            <a:spLocks xmlns:a="http://schemas.openxmlformats.org/drawingml/2006/main" noGrp="1"/>
          </p:cNvSpPr>
          <p:nvPr/>
        </p:nvSpPr>
        <p:spPr>
          <a:xfrm xmlns:a="http://schemas.openxmlformats.org/drawingml/2006/main">
            <a:off x="27717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A33B32"/>
            </a:solidFill>
            <a:prstDash val="solid"/>
          </a:ln>
        </p:spPr>
      </p:sp>
      <p:sp>
        <p:nvSpPr>
          <p:cNvPr id="12" name="">
            <a:extLst xmlns:a="http://schemas.openxmlformats.org/drawingml/2006/main">
              <a:ext uri="{FF2B5EF4-FFF2-40B4-BE49-F238E27FC236}">
                <a16:creationId xmlns:a16="http://schemas.microsoft.com/office/drawing/2014/main" id="{3F5CA679-BD95-4412-8F16-D1519598C4D9}"/>
              </a:ext>
            </a:extLst>
          </p:cNvPr>
          <p:cNvSpPr>
            <a:spLocks xmlns:a="http://schemas.openxmlformats.org/drawingml/2006/main" noGrp="1"/>
          </p:cNvSpPr>
          <p:nvPr/>
        </p:nvSpPr>
        <p:spPr>
          <a:xfrm xmlns:a="http://schemas.openxmlformats.org/drawingml/2006/main">
            <a:off x="29051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pick object</a:t>
            </a:r>
          </a:p>
        </p:txBody>
      </p:sp>
      <p:sp>
        <p:nvSpPr>
          <p:cNvPr id="13" name="">
            <a:extLst xmlns:a="http://schemas.openxmlformats.org/drawingml/2006/main">
              <a:ext uri="{FF2B5EF4-FFF2-40B4-BE49-F238E27FC236}">
                <a16:creationId xmlns:a16="http://schemas.microsoft.com/office/drawing/2014/main" id="{A1807AAA-936E-43C8-9DBB-35AD82C0BA8F}"/>
              </a:ext>
            </a:extLst>
          </p:cNvPr>
          <p:cNvSpPr>
            <a:spLocks xmlns:a="http://schemas.openxmlformats.org/drawingml/2006/main" noGrp="1"/>
          </p:cNvSpPr>
          <p:nvPr/>
        </p:nvSpPr>
        <p:spPr>
          <a:xfrm xmlns:a="http://schemas.openxmlformats.org/drawingml/2006/main">
            <a:off x="29051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A33B32"/>
                </a:solidFill>
                <a:latin typeface="Arial"/>
                <a:ea typeface="Arial"/>
                <a:cs typeface="Arial"/>
              </a:defRPr>
            </a:pPr>
            <a:r>
              <a:rPr sz="1200" b="1" i="0">
                <a:solidFill>
                  <a:srgbClr val="A33B32"/>
                </a:solidFill>
                <a:latin typeface="Arial"/>
                <a:ea typeface="Arial"/>
                <a:cs typeface="Arial"/>
              </a:rPr>
              <a:t>failed</a:t>
            </a:r>
          </a:p>
        </p:txBody>
      </p:sp>
      <p:sp>
        <p:nvSpPr>
          <p:cNvPr id="14" name="">
            <a:extLst xmlns:a="http://schemas.openxmlformats.org/drawingml/2006/main">
              <a:ext uri="{FF2B5EF4-FFF2-40B4-BE49-F238E27FC236}">
                <a16:creationId xmlns:a16="http://schemas.microsoft.com/office/drawing/2014/main" id="{F3BA1CCB-F916-4251-901D-D1EF31AB8C9D}"/>
              </a:ext>
            </a:extLst>
          </p:cNvPr>
          <p:cNvSpPr>
            <a:spLocks xmlns:a="http://schemas.openxmlformats.org/drawingml/2006/main" noGrp="1"/>
          </p:cNvSpPr>
          <p:nvPr/>
        </p:nvSpPr>
        <p:spPr>
          <a:xfrm xmlns:a="http://schemas.openxmlformats.org/drawingml/2006/main">
            <a:off x="45529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03C6122-91D6-4073-AE59-95F37F256BC9}"/>
              </a:ext>
            </a:extLst>
          </p:cNvPr>
          <p:cNvSpPr>
            <a:spLocks xmlns:a="http://schemas.openxmlformats.org/drawingml/2006/main" noGrp="1"/>
          </p:cNvSpPr>
          <p:nvPr/>
        </p:nvSpPr>
        <p:spPr>
          <a:xfrm xmlns:a="http://schemas.openxmlformats.org/drawingml/2006/main">
            <a:off x="49244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0C6570"/>
            </a:solidFill>
            <a:prstDash val="solid"/>
          </a:ln>
        </p:spPr>
      </p:sp>
      <p:sp>
        <p:nvSpPr>
          <p:cNvPr id="16" name="">
            <a:extLst xmlns:a="http://schemas.openxmlformats.org/drawingml/2006/main">
              <a:ext uri="{FF2B5EF4-FFF2-40B4-BE49-F238E27FC236}">
                <a16:creationId xmlns:a16="http://schemas.microsoft.com/office/drawing/2014/main" id="{BA2471F3-A1F5-4175-88A2-C8425D08691C}"/>
              </a:ext>
            </a:extLst>
          </p:cNvPr>
          <p:cNvSpPr>
            <a:spLocks xmlns:a="http://schemas.openxmlformats.org/drawingml/2006/main" noGrp="1"/>
          </p:cNvSpPr>
          <p:nvPr/>
        </p:nvSpPr>
        <p:spPr>
          <a:xfrm xmlns:a="http://schemas.openxmlformats.org/drawingml/2006/main">
            <a:off x="5057775" y="2714625"/>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typed feedback</a:t>
            </a:r>
          </a:p>
        </p:txBody>
      </p:sp>
      <p:sp>
        <p:nvSpPr>
          <p:cNvPr id="17" name="">
            <a:extLst xmlns:a="http://schemas.openxmlformats.org/drawingml/2006/main">
              <a:ext uri="{FF2B5EF4-FFF2-40B4-BE49-F238E27FC236}">
                <a16:creationId xmlns:a16="http://schemas.microsoft.com/office/drawing/2014/main" id="{2693149E-48AD-46D0-BCDD-5E32586F32A2}"/>
              </a:ext>
            </a:extLst>
          </p:cNvPr>
          <p:cNvSpPr>
            <a:spLocks xmlns:a="http://schemas.openxmlformats.org/drawingml/2006/main" noGrp="1"/>
          </p:cNvSpPr>
          <p:nvPr/>
        </p:nvSpPr>
        <p:spPr>
          <a:xfrm xmlns:a="http://schemas.openxmlformats.org/drawingml/2006/main">
            <a:off x="50577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0C6570"/>
                </a:solidFill>
                <a:latin typeface="Arial"/>
                <a:ea typeface="Arial"/>
                <a:cs typeface="Arial"/>
              </a:defRPr>
            </a:pPr>
            <a:r>
              <a:rPr sz="1200" b="1" i="0">
                <a:solidFill>
                  <a:srgbClr val="0C6570"/>
                </a:solidFill>
                <a:latin typeface="Arial"/>
                <a:ea typeface="Arial"/>
                <a:cs typeface="Arial"/>
              </a:rPr>
              <a:t>goal + plan lineage</a:t>
            </a:r>
          </a:p>
        </p:txBody>
      </p:sp>
      <p:sp>
        <p:nvSpPr>
          <p:cNvPr id="18" name="">
            <a:extLst xmlns:a="http://schemas.openxmlformats.org/drawingml/2006/main">
              <a:ext uri="{FF2B5EF4-FFF2-40B4-BE49-F238E27FC236}">
                <a16:creationId xmlns:a16="http://schemas.microsoft.com/office/drawing/2014/main" id="{44B6B563-6CE7-4FFC-8BB7-68060768729A}"/>
              </a:ext>
            </a:extLst>
          </p:cNvPr>
          <p:cNvSpPr>
            <a:spLocks xmlns:a="http://schemas.openxmlformats.org/drawingml/2006/main" noGrp="1"/>
          </p:cNvSpPr>
          <p:nvPr/>
        </p:nvSpPr>
        <p:spPr>
          <a:xfrm xmlns:a="http://schemas.openxmlformats.org/drawingml/2006/main">
            <a:off x="67056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20A194C-27C7-4E9B-AE75-FE961C4AA47F}"/>
              </a:ext>
            </a:extLst>
          </p:cNvPr>
          <p:cNvSpPr>
            <a:spLocks xmlns:a="http://schemas.openxmlformats.org/drawingml/2006/main" noGrp="1"/>
          </p:cNvSpPr>
          <p:nvPr/>
        </p:nvSpPr>
        <p:spPr>
          <a:xfrm xmlns:a="http://schemas.openxmlformats.org/drawingml/2006/main">
            <a:off x="70770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ACA1FCED-726B-494D-827C-F632BB47AD0E}"/>
              </a:ext>
            </a:extLst>
          </p:cNvPr>
          <p:cNvSpPr>
            <a:spLocks xmlns:a="http://schemas.openxmlformats.org/drawingml/2006/main" noGrp="1"/>
          </p:cNvSpPr>
          <p:nvPr/>
        </p:nvSpPr>
        <p:spPr>
          <a:xfrm xmlns:a="http://schemas.openxmlformats.org/drawingml/2006/main">
            <a:off x="72104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plan v2</a:t>
            </a:r>
          </a:p>
        </p:txBody>
      </p:sp>
      <p:sp>
        <p:nvSpPr>
          <p:cNvPr id="21" name="">
            <a:extLst xmlns:a="http://schemas.openxmlformats.org/drawingml/2006/main">
              <a:ext uri="{FF2B5EF4-FFF2-40B4-BE49-F238E27FC236}">
                <a16:creationId xmlns:a16="http://schemas.microsoft.com/office/drawing/2014/main" id="{24B00AC8-EAC4-499E-B52A-26B7146B9AA7}"/>
              </a:ext>
            </a:extLst>
          </p:cNvPr>
          <p:cNvSpPr>
            <a:spLocks xmlns:a="http://schemas.openxmlformats.org/drawingml/2006/main" noGrp="1"/>
          </p:cNvSpPr>
          <p:nvPr/>
        </p:nvSpPr>
        <p:spPr>
          <a:xfrm xmlns:a="http://schemas.openxmlformats.org/drawingml/2006/main">
            <a:off x="72104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E89A2F"/>
                </a:solidFill>
                <a:latin typeface="Arial"/>
                <a:ea typeface="Arial"/>
                <a:cs typeface="Arial"/>
              </a:defRPr>
            </a:pPr>
            <a:r>
              <a:rPr sz="1200" b="1" i="0">
                <a:solidFill>
                  <a:srgbClr val="E89A2F"/>
                </a:solidFill>
                <a:latin typeface="Arial"/>
                <a:ea typeface="Arial"/>
                <a:cs typeface="Arial"/>
              </a:rPr>
              <a:t>scan → find → pick</a:t>
            </a:r>
          </a:p>
        </p:txBody>
      </p:sp>
      <p:sp>
        <p:nvSpPr>
          <p:cNvPr id="22" name="">
            <a:extLst xmlns:a="http://schemas.openxmlformats.org/drawingml/2006/main">
              <a:ext uri="{FF2B5EF4-FFF2-40B4-BE49-F238E27FC236}">
                <a16:creationId xmlns:a16="http://schemas.microsoft.com/office/drawing/2014/main" id="{064B7F9C-802A-4903-9EC2-36944A827809}"/>
              </a:ext>
            </a:extLst>
          </p:cNvPr>
          <p:cNvSpPr>
            <a:spLocks xmlns:a="http://schemas.openxmlformats.org/drawingml/2006/main" noGrp="1"/>
          </p:cNvSpPr>
          <p:nvPr/>
        </p:nvSpPr>
        <p:spPr>
          <a:xfrm xmlns:a="http://schemas.openxmlformats.org/drawingml/2006/main">
            <a:off x="88582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FD66610-FE7D-4F6C-A10D-25E7D1A09A8A}"/>
              </a:ext>
            </a:extLst>
          </p:cNvPr>
          <p:cNvSpPr>
            <a:spLocks xmlns:a="http://schemas.openxmlformats.org/drawingml/2006/main" noGrp="1"/>
          </p:cNvSpPr>
          <p:nvPr/>
        </p:nvSpPr>
        <p:spPr>
          <a:xfrm xmlns:a="http://schemas.openxmlformats.org/drawingml/2006/main">
            <a:off x="92297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24" name="">
            <a:extLst xmlns:a="http://schemas.openxmlformats.org/drawingml/2006/main">
              <a:ext uri="{FF2B5EF4-FFF2-40B4-BE49-F238E27FC236}">
                <a16:creationId xmlns:a16="http://schemas.microsoft.com/office/drawing/2014/main" id="{6571A04F-2618-4CFA-8212-E05C7EE33AA2}"/>
              </a:ext>
            </a:extLst>
          </p:cNvPr>
          <p:cNvSpPr>
            <a:spLocks xmlns:a="http://schemas.openxmlformats.org/drawingml/2006/main" noGrp="1"/>
          </p:cNvSpPr>
          <p:nvPr/>
        </p:nvSpPr>
        <p:spPr>
          <a:xfrm xmlns:a="http://schemas.openxmlformats.org/drawingml/2006/main">
            <a:off x="93630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report</a:t>
            </a:r>
          </a:p>
        </p:txBody>
      </p:sp>
      <p:sp>
        <p:nvSpPr>
          <p:cNvPr id="25" name="">
            <a:extLst xmlns:a="http://schemas.openxmlformats.org/drawingml/2006/main">
              <a:ext uri="{FF2B5EF4-FFF2-40B4-BE49-F238E27FC236}">
                <a16:creationId xmlns:a16="http://schemas.microsoft.com/office/drawing/2014/main" id="{9118B760-CF30-49EE-A1A0-84F62F88322E}"/>
              </a:ext>
            </a:extLst>
          </p:cNvPr>
          <p:cNvSpPr>
            <a:spLocks xmlns:a="http://schemas.openxmlformats.org/drawingml/2006/main" noGrp="1"/>
          </p:cNvSpPr>
          <p:nvPr/>
        </p:nvSpPr>
        <p:spPr>
          <a:xfrm xmlns:a="http://schemas.openxmlformats.org/drawingml/2006/main">
            <a:off x="93630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completed</a:t>
            </a:r>
          </a:p>
        </p:txBody>
      </p:sp>
      <p:sp>
        <p:nvSpPr>
          <p:cNvPr id="26" name="">
            <a:extLst xmlns:a="http://schemas.openxmlformats.org/drawingml/2006/main">
              <a:ext uri="{FF2B5EF4-FFF2-40B4-BE49-F238E27FC236}">
                <a16:creationId xmlns:a16="http://schemas.microsoft.com/office/drawing/2014/main" id="{F70B9B19-4A2F-4724-ABB7-4E97C66C985B}"/>
              </a:ext>
            </a:extLst>
          </p:cNvPr>
          <p:cNvSpPr>
            <a:spLocks xmlns:a="http://schemas.openxmlformats.org/drawingml/2006/main" noGrp="1"/>
          </p:cNvSpPr>
          <p:nvPr/>
        </p:nvSpPr>
        <p:spPr>
          <a:xfrm xmlns:a="http://schemas.openxmlformats.org/drawingml/2006/main">
            <a:off x="1143000" y="4429125"/>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find → pick failed → feedback → scan / find / pick → report</a:t>
            </a:r>
          </a:p>
        </p:txBody>
      </p:sp>
      <p:sp>
        <p:nvSpPr>
          <p:cNvPr id="27" name="">
            <a:extLst xmlns:a="http://schemas.openxmlformats.org/drawingml/2006/main">
              <a:ext uri="{FF2B5EF4-FFF2-40B4-BE49-F238E27FC236}">
                <a16:creationId xmlns:a16="http://schemas.microsoft.com/office/drawing/2014/main" id="{BC88D947-D8D7-46B4-80A0-2BE4A845B71A}"/>
              </a:ext>
            </a:extLst>
          </p:cNvPr>
          <p:cNvSpPr>
            <a:spLocks xmlns:a="http://schemas.openxmlformats.org/drawingml/2006/main" noGrp="1"/>
          </p:cNvSpPr>
          <p:nvPr/>
        </p:nvSpPr>
        <p:spPr>
          <a:xfrm xmlns:a="http://schemas.openxmlformats.org/drawingml/2006/main">
            <a:off x="1524000" y="5143500"/>
            <a:ext cx="8572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C2D5C82A-C4B3-40A4-B985-CE50163F4C30}"/>
              </a:ext>
            </a:extLst>
          </p:cNvPr>
          <p:cNvSpPr>
            <a:spLocks xmlns:a="http://schemas.openxmlformats.org/drawingml/2006/main" noGrp="1"/>
          </p:cNvSpPr>
          <p:nvPr/>
        </p:nvSpPr>
        <p:spPr>
          <a:xfrm xmlns:a="http://schemas.openxmlformats.org/drawingml/2006/main">
            <a:off x="1524000" y="5143500"/>
            <a:ext cx="57150" cy="952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29" name="">
            <a:extLst xmlns:a="http://schemas.openxmlformats.org/drawingml/2006/main">
              <a:ext uri="{FF2B5EF4-FFF2-40B4-BE49-F238E27FC236}">
                <a16:creationId xmlns:a16="http://schemas.microsoft.com/office/drawing/2014/main" id="{BCFB5454-6991-47D0-BEF2-1857ACC32CBF}"/>
              </a:ext>
            </a:extLst>
          </p:cNvPr>
          <p:cNvSpPr>
            <a:spLocks xmlns:a="http://schemas.openxmlformats.org/drawingml/2006/main" noGrp="1"/>
          </p:cNvSpPr>
          <p:nvPr/>
        </p:nvSpPr>
        <p:spPr>
          <a:xfrm xmlns:a="http://schemas.openxmlformats.org/drawingml/2006/main">
            <a:off x="1733550" y="5314950"/>
            <a:ext cx="815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Why this trace matters</a:t>
            </a:r>
          </a:p>
        </p:txBody>
      </p:sp>
      <p:sp>
        <p:nvSpPr>
          <p:cNvPr id="30" name="">
            <a:extLst xmlns:a="http://schemas.openxmlformats.org/drawingml/2006/main">
              <a:ext uri="{FF2B5EF4-FFF2-40B4-BE49-F238E27FC236}">
                <a16:creationId xmlns:a16="http://schemas.microsoft.com/office/drawing/2014/main" id="{4D408058-74C8-4414-BF7A-D27B31997364}"/>
              </a:ext>
            </a:extLst>
          </p:cNvPr>
          <p:cNvSpPr>
            <a:spLocks xmlns:a="http://schemas.openxmlformats.org/drawingml/2006/main" noGrp="1"/>
          </p:cNvSpPr>
          <p:nvPr/>
        </p:nvSpPr>
        <p:spPr>
          <a:xfrm xmlns:a="http://schemas.openxmlformats.org/drawingml/2006/main">
            <a:off x="1733550" y="5505450"/>
            <a:ext cx="815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The retained run completed after a middle-stage failure. The successful find was repeated. This is simulated recovery, not a physical grasp trial.</a:t>
            </a:r>
          </a:p>
        </p:txBody>
      </p:sp>
    </p:spTree>
    <p:extLst>
      <p:ext uri="{BB962C8B-B14F-4D97-AF65-F5344CB8AC3E}">
        <p14:creationId xmlns:p14="http://schemas.microsoft.com/office/powerpoint/2010/main" val="109528359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4B5E39-4ABB-4CCE-9302-63735FA37B0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A514A75-E0C5-4049-9AB2-F55EE4A5F19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64D8A0A4-A1B6-484A-99F1-2BC9D9A6385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C83232D9-DC6F-46B5-A47F-D2F9AC111BE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5B79BE4E-3A9C-4912-A40C-C87294358CC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DEMONSTRATION</a:t>
            </a:r>
          </a:p>
        </p:txBody>
      </p:sp>
      <p:sp>
        <p:nvSpPr>
          <p:cNvPr id="6" name="">
            <a:extLst xmlns:a="http://schemas.openxmlformats.org/drawingml/2006/main">
              <a:ext uri="{FF2B5EF4-FFF2-40B4-BE49-F238E27FC236}">
                <a16:creationId xmlns:a16="http://schemas.microsoft.com/office/drawing/2014/main" id="{AB07F6E5-25FC-462E-A692-CAFC98FD7B7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Three turns expose the main routes.</a:t>
            </a:r>
          </a:p>
        </p:txBody>
      </p:sp>
      <p:sp>
        <p:nvSpPr>
          <p:cNvPr id="7" name="">
            <a:extLst xmlns:a="http://schemas.openxmlformats.org/drawingml/2006/main">
              <a:ext uri="{FF2B5EF4-FFF2-40B4-BE49-F238E27FC236}">
                <a16:creationId xmlns:a16="http://schemas.microsoft.com/office/drawing/2014/main" id="{B6565582-EE84-427D-ACD3-EF5BC9C5ED47}"/>
              </a:ext>
            </a:extLst>
          </p:cNvPr>
          <p:cNvSpPr>
            <a:spLocks xmlns:a="http://schemas.openxmlformats.org/drawingml/2006/main" noGrp="1"/>
          </p:cNvSpPr>
          <p:nvPr/>
        </p:nvSpPr>
        <p:spPr>
          <a:xfrm xmlns:a="http://schemas.openxmlformats.org/drawingml/2006/main">
            <a:off x="685800" y="20478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F5BF8397-12C7-4495-9014-7164E73C1042}"/>
              </a:ext>
            </a:extLst>
          </p:cNvPr>
          <p:cNvSpPr>
            <a:spLocks xmlns:a="http://schemas.openxmlformats.org/drawingml/2006/main" noGrp="1"/>
          </p:cNvSpPr>
          <p:nvPr/>
        </p:nvSpPr>
        <p:spPr>
          <a:xfrm xmlns:a="http://schemas.openxmlformats.org/drawingml/2006/main">
            <a:off x="819150" y="22193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0C6570"/>
                </a:solidFill>
                <a:latin typeface="Georgia"/>
                <a:ea typeface="Georgia"/>
                <a:cs typeface="Georgia"/>
              </a:defRPr>
            </a:pPr>
            <a:r>
              <a:rPr sz="240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1F842DE0-23E4-41C8-BF12-55F2A2F13159}"/>
              </a:ext>
            </a:extLst>
          </p:cNvPr>
          <p:cNvSpPr>
            <a:spLocks xmlns:a="http://schemas.openxmlformats.org/drawingml/2006/main" noGrp="1"/>
          </p:cNvSpPr>
          <p:nvPr/>
        </p:nvSpPr>
        <p:spPr>
          <a:xfrm xmlns:a="http://schemas.openxmlformats.org/drawingml/2006/main">
            <a:off x="838200" y="28670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641F5A0-5C65-4546-A0B9-07A8B057EDA4}"/>
              </a:ext>
            </a:extLst>
          </p:cNvPr>
          <p:cNvSpPr>
            <a:spLocks xmlns:a="http://schemas.openxmlformats.org/drawingml/2006/main" noGrp="1"/>
          </p:cNvSpPr>
          <p:nvPr/>
        </p:nvSpPr>
        <p:spPr>
          <a:xfrm xmlns:a="http://schemas.openxmlformats.org/drawingml/2006/main" flipH="0" flipV="1">
            <a:off x="857250" y="28670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B5A0012-CDE0-4239-9020-CF9FD3AF6186}"/>
              </a:ext>
            </a:extLst>
          </p:cNvPr>
          <p:cNvSpPr>
            <a:spLocks xmlns:a="http://schemas.openxmlformats.org/drawingml/2006/main" noGrp="1"/>
          </p:cNvSpPr>
          <p:nvPr/>
        </p:nvSpPr>
        <p:spPr>
          <a:xfrm xmlns:a="http://schemas.openxmlformats.org/drawingml/2006/main">
            <a:off x="190500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“Hey, how are you?”</a:t>
            </a:r>
          </a:p>
        </p:txBody>
      </p:sp>
      <p:sp>
        <p:nvSpPr>
          <p:cNvPr id="12" name="">
            <a:extLst xmlns:a="http://schemas.openxmlformats.org/drawingml/2006/main">
              <a:ext uri="{FF2B5EF4-FFF2-40B4-BE49-F238E27FC236}">
                <a16:creationId xmlns:a16="http://schemas.microsoft.com/office/drawing/2014/main" id="{7D43063A-8BA2-4FE7-9B2A-15A01C6E1B78}"/>
              </a:ext>
            </a:extLst>
          </p:cNvPr>
          <p:cNvSpPr>
            <a:spLocks xmlns:a="http://schemas.openxmlformats.org/drawingml/2006/main" noGrp="1"/>
          </p:cNvSpPr>
          <p:nvPr/>
        </p:nvSpPr>
        <p:spPr>
          <a:xfrm xmlns:a="http://schemas.openxmlformats.org/drawingml/2006/main">
            <a:off x="6762750" y="210502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7B109CD9-97D6-40E8-AC51-57AD2FB3884A}"/>
              </a:ext>
            </a:extLst>
          </p:cNvPr>
          <p:cNvSpPr>
            <a:spLocks xmlns:a="http://schemas.openxmlformats.org/drawingml/2006/main" noGrp="1"/>
          </p:cNvSpPr>
          <p:nvPr/>
        </p:nvSpPr>
        <p:spPr>
          <a:xfrm xmlns:a="http://schemas.openxmlformats.org/drawingml/2006/main">
            <a:off x="6838950" y="21717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Dialogue route</a:t>
            </a:r>
          </a:p>
        </p:txBody>
      </p:sp>
      <p:sp>
        <p:nvSpPr>
          <p:cNvPr id="14" name="">
            <a:extLst xmlns:a="http://schemas.openxmlformats.org/drawingml/2006/main">
              <a:ext uri="{FF2B5EF4-FFF2-40B4-BE49-F238E27FC236}">
                <a16:creationId xmlns:a16="http://schemas.microsoft.com/office/drawing/2014/main" id="{98EA2E18-B000-4090-8DD5-F9C7BA1E910C}"/>
              </a:ext>
            </a:extLst>
          </p:cNvPr>
          <p:cNvSpPr>
            <a:spLocks xmlns:a="http://schemas.openxmlformats.org/drawingml/2006/main" noGrp="1"/>
          </p:cNvSpPr>
          <p:nvPr/>
        </p:nvSpPr>
        <p:spPr>
          <a:xfrm xmlns:a="http://schemas.openxmlformats.org/drawingml/2006/main">
            <a:off x="1905000" y="2571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one response, no planner request</a:t>
            </a:r>
          </a:p>
        </p:txBody>
      </p:sp>
      <p:sp>
        <p:nvSpPr>
          <p:cNvPr id="15" name="">
            <a:extLst xmlns:a="http://schemas.openxmlformats.org/drawingml/2006/main">
              <a:ext uri="{FF2B5EF4-FFF2-40B4-BE49-F238E27FC236}">
                <a16:creationId xmlns:a16="http://schemas.microsoft.com/office/drawing/2014/main" id="{61F53AA0-580E-43A1-A83B-4F3605C2FEBB}"/>
              </a:ext>
            </a:extLst>
          </p:cNvPr>
          <p:cNvSpPr>
            <a:spLocks xmlns:a="http://schemas.openxmlformats.org/drawingml/2006/main" noGrp="1"/>
          </p:cNvSpPr>
          <p:nvPr/>
        </p:nvSpPr>
        <p:spPr>
          <a:xfrm xmlns:a="http://schemas.openxmlformats.org/drawingml/2006/main">
            <a:off x="1905000" y="30480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9912706F-7AEA-4739-86F3-FAAB8DD2AC64}"/>
              </a:ext>
            </a:extLst>
          </p:cNvPr>
          <p:cNvSpPr>
            <a:spLocks xmlns:a="http://schemas.openxmlformats.org/drawingml/2006/main" noGrp="1"/>
          </p:cNvSpPr>
          <p:nvPr/>
        </p:nvSpPr>
        <p:spPr>
          <a:xfrm xmlns:a="http://schemas.openxmlformats.org/drawingml/2006/main">
            <a:off x="685800" y="328612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ECA7366C-A97F-4F28-BC00-512C5AE8A214}"/>
              </a:ext>
            </a:extLst>
          </p:cNvPr>
          <p:cNvSpPr>
            <a:spLocks xmlns:a="http://schemas.openxmlformats.org/drawingml/2006/main" noGrp="1"/>
          </p:cNvSpPr>
          <p:nvPr/>
        </p:nvSpPr>
        <p:spPr>
          <a:xfrm xmlns:a="http://schemas.openxmlformats.org/drawingml/2006/main">
            <a:off x="819150" y="345757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477A59"/>
                </a:solidFill>
                <a:latin typeface="Georgia"/>
                <a:ea typeface="Georgia"/>
                <a:cs typeface="Georgia"/>
              </a:defRPr>
            </a:pPr>
            <a:r>
              <a:rPr sz="2400" b="1" i="0">
                <a:solidFill>
                  <a:srgbClr val="477A59"/>
                </a:solidFill>
                <a:latin typeface="Georgia"/>
                <a:ea typeface="Georgia"/>
                <a:cs typeface="Georgia"/>
              </a:rPr>
              <a:t>02</a:t>
            </a:r>
          </a:p>
        </p:txBody>
      </p:sp>
      <p:sp>
        <p:nvSpPr>
          <p:cNvPr id="18" name="">
            <a:extLst xmlns:a="http://schemas.openxmlformats.org/drawingml/2006/main">
              <a:ext uri="{FF2B5EF4-FFF2-40B4-BE49-F238E27FC236}">
                <a16:creationId xmlns:a16="http://schemas.microsoft.com/office/drawing/2014/main" id="{839C4E0D-C0DF-4CA4-9E81-6E5947717E95}"/>
              </a:ext>
            </a:extLst>
          </p:cNvPr>
          <p:cNvSpPr>
            <a:spLocks xmlns:a="http://schemas.openxmlformats.org/drawingml/2006/main" noGrp="1"/>
          </p:cNvSpPr>
          <p:nvPr/>
        </p:nvSpPr>
        <p:spPr>
          <a:xfrm xmlns:a="http://schemas.openxmlformats.org/drawingml/2006/main">
            <a:off x="838200" y="410527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C9434110-EB06-45F3-920B-37517597278C}"/>
              </a:ext>
            </a:extLst>
          </p:cNvPr>
          <p:cNvSpPr>
            <a:spLocks xmlns:a="http://schemas.openxmlformats.org/drawingml/2006/main" noGrp="1"/>
          </p:cNvSpPr>
          <p:nvPr/>
        </p:nvSpPr>
        <p:spPr>
          <a:xfrm xmlns:a="http://schemas.openxmlformats.org/drawingml/2006/main" flipH="0" flipV="1">
            <a:off x="857250" y="410527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2AD4CA-C28D-43C1-BE55-9044F77D244C}"/>
              </a:ext>
            </a:extLst>
          </p:cNvPr>
          <p:cNvSpPr>
            <a:spLocks xmlns:a="http://schemas.openxmlformats.org/drawingml/2006/main" noGrp="1"/>
          </p:cNvSpPr>
          <p:nvPr/>
        </p:nvSpPr>
        <p:spPr>
          <a:xfrm xmlns:a="http://schemas.openxmlformats.org/drawingml/2006/main">
            <a:off x="1905000" y="3333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“What can you see now?”</a:t>
            </a:r>
          </a:p>
        </p:txBody>
      </p:sp>
      <p:sp>
        <p:nvSpPr>
          <p:cNvPr id="21" name="">
            <a:extLst xmlns:a="http://schemas.openxmlformats.org/drawingml/2006/main">
              <a:ext uri="{FF2B5EF4-FFF2-40B4-BE49-F238E27FC236}">
                <a16:creationId xmlns:a16="http://schemas.microsoft.com/office/drawing/2014/main" id="{E1980736-CB88-49D8-AFA1-7C6BEBCF6B75}"/>
              </a:ext>
            </a:extLst>
          </p:cNvPr>
          <p:cNvSpPr>
            <a:spLocks xmlns:a="http://schemas.openxmlformats.org/drawingml/2006/main" noGrp="1"/>
          </p:cNvSpPr>
          <p:nvPr/>
        </p:nvSpPr>
        <p:spPr>
          <a:xfrm xmlns:a="http://schemas.openxmlformats.org/drawingml/2006/main">
            <a:off x="6762750" y="334327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A29BF744-30B2-4BCE-9F93-1633DE9D496A}"/>
              </a:ext>
            </a:extLst>
          </p:cNvPr>
          <p:cNvSpPr>
            <a:spLocks xmlns:a="http://schemas.openxmlformats.org/drawingml/2006/main" noGrp="1"/>
          </p:cNvSpPr>
          <p:nvPr/>
        </p:nvSpPr>
        <p:spPr>
          <a:xfrm xmlns:a="http://schemas.openxmlformats.org/drawingml/2006/main">
            <a:off x="6838950" y="34099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Knowledge route</a:t>
            </a:r>
          </a:p>
        </p:txBody>
      </p:sp>
      <p:sp>
        <p:nvSpPr>
          <p:cNvPr id="23" name="">
            <a:extLst xmlns:a="http://schemas.openxmlformats.org/drawingml/2006/main">
              <a:ext uri="{FF2B5EF4-FFF2-40B4-BE49-F238E27FC236}">
                <a16:creationId xmlns:a16="http://schemas.microsoft.com/office/drawing/2014/main" id="{A35BFD58-B8EB-4CCC-A796-D45A0CB2D8B4}"/>
              </a:ext>
            </a:extLst>
          </p:cNvPr>
          <p:cNvSpPr>
            <a:spLocks xmlns:a="http://schemas.openxmlformats.org/drawingml/2006/main" noGrp="1"/>
          </p:cNvSpPr>
          <p:nvPr/>
        </p:nvSpPr>
        <p:spPr>
          <a:xfrm xmlns:a="http://schemas.openxmlformats.org/drawingml/2006/main">
            <a:off x="1905000" y="3810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answer from the declared symbolic state</a:t>
            </a:r>
          </a:p>
        </p:txBody>
      </p:sp>
      <p:sp>
        <p:nvSpPr>
          <p:cNvPr id="24" name="">
            <a:extLst xmlns:a="http://schemas.openxmlformats.org/drawingml/2006/main">
              <a:ext uri="{FF2B5EF4-FFF2-40B4-BE49-F238E27FC236}">
                <a16:creationId xmlns:a16="http://schemas.microsoft.com/office/drawing/2014/main" id="{313F5C51-67D1-4202-878D-173B46C8981A}"/>
              </a:ext>
            </a:extLst>
          </p:cNvPr>
          <p:cNvSpPr>
            <a:spLocks xmlns:a="http://schemas.openxmlformats.org/drawingml/2006/main" noGrp="1"/>
          </p:cNvSpPr>
          <p:nvPr/>
        </p:nvSpPr>
        <p:spPr>
          <a:xfrm xmlns:a="http://schemas.openxmlformats.org/drawingml/2006/main">
            <a:off x="1905000" y="428625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5" name="">
            <a:extLst xmlns:a="http://schemas.openxmlformats.org/drawingml/2006/main">
              <a:ext uri="{FF2B5EF4-FFF2-40B4-BE49-F238E27FC236}">
                <a16:creationId xmlns:a16="http://schemas.microsoft.com/office/drawing/2014/main" id="{FEF96972-FAFA-482F-86D2-574D11E093B0}"/>
              </a:ext>
            </a:extLst>
          </p:cNvPr>
          <p:cNvSpPr>
            <a:spLocks xmlns:a="http://schemas.openxmlformats.org/drawingml/2006/main" noGrp="1"/>
          </p:cNvSpPr>
          <p:nvPr/>
        </p:nvSpPr>
        <p:spPr>
          <a:xfrm xmlns:a="http://schemas.openxmlformats.org/drawingml/2006/main">
            <a:off x="685800" y="45243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63715329-2F66-4EF7-AB73-7076E80C8F82}"/>
              </a:ext>
            </a:extLst>
          </p:cNvPr>
          <p:cNvSpPr>
            <a:spLocks xmlns:a="http://schemas.openxmlformats.org/drawingml/2006/main" noGrp="1"/>
          </p:cNvSpPr>
          <p:nvPr/>
        </p:nvSpPr>
        <p:spPr>
          <a:xfrm xmlns:a="http://schemas.openxmlformats.org/drawingml/2006/main">
            <a:off x="819150" y="46958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E89A2F"/>
                </a:solidFill>
                <a:latin typeface="Georgia"/>
                <a:ea typeface="Georgia"/>
                <a:cs typeface="Georgia"/>
              </a:defRPr>
            </a:pPr>
            <a:r>
              <a:rPr sz="2400" b="1" i="0">
                <a:solidFill>
                  <a:srgbClr val="E89A2F"/>
                </a:solidFill>
                <a:latin typeface="Georgia"/>
                <a:ea typeface="Georgia"/>
                <a:cs typeface="Georgia"/>
              </a:rPr>
              <a:t>03</a:t>
            </a:r>
          </a:p>
        </p:txBody>
      </p:sp>
      <p:sp>
        <p:nvSpPr>
          <p:cNvPr id="27" name="">
            <a:extLst xmlns:a="http://schemas.openxmlformats.org/drawingml/2006/main">
              <a:ext uri="{FF2B5EF4-FFF2-40B4-BE49-F238E27FC236}">
                <a16:creationId xmlns:a16="http://schemas.microsoft.com/office/drawing/2014/main" id="{1C226C43-A092-47E9-88AD-87B1608630AF}"/>
              </a:ext>
            </a:extLst>
          </p:cNvPr>
          <p:cNvSpPr>
            <a:spLocks xmlns:a="http://schemas.openxmlformats.org/drawingml/2006/main" noGrp="1"/>
          </p:cNvSpPr>
          <p:nvPr/>
        </p:nvSpPr>
        <p:spPr>
          <a:xfrm xmlns:a="http://schemas.openxmlformats.org/drawingml/2006/main">
            <a:off x="838200" y="53435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CB89AC80-8D2E-440C-A0C7-FFD2833BF021}"/>
              </a:ext>
            </a:extLst>
          </p:cNvPr>
          <p:cNvSpPr>
            <a:spLocks xmlns:a="http://schemas.openxmlformats.org/drawingml/2006/main" noGrp="1"/>
          </p:cNvSpPr>
          <p:nvPr/>
        </p:nvSpPr>
        <p:spPr>
          <a:xfrm xmlns:a="http://schemas.openxmlformats.org/drawingml/2006/main" flipH="0" flipV="1">
            <a:off x="857250" y="53435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72306EB-0754-43E3-B548-9A67D28E66BD}"/>
              </a:ext>
            </a:extLst>
          </p:cNvPr>
          <p:cNvSpPr>
            <a:spLocks xmlns:a="http://schemas.openxmlformats.org/drawingml/2006/main" noGrp="1"/>
          </p:cNvSpPr>
          <p:nvPr/>
        </p:nvSpPr>
        <p:spPr>
          <a:xfrm xmlns:a="http://schemas.openxmlformats.org/drawingml/2006/main">
            <a:off x="1905000" y="45720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“Move your head up.”</a:t>
            </a:r>
          </a:p>
        </p:txBody>
      </p:sp>
      <p:sp>
        <p:nvSpPr>
          <p:cNvPr id="30" name="">
            <a:extLst xmlns:a="http://schemas.openxmlformats.org/drawingml/2006/main">
              <a:ext uri="{FF2B5EF4-FFF2-40B4-BE49-F238E27FC236}">
                <a16:creationId xmlns:a16="http://schemas.microsoft.com/office/drawing/2014/main" id="{FB1618D6-983A-4B1A-9917-95BB547D3051}"/>
              </a:ext>
            </a:extLst>
          </p:cNvPr>
          <p:cNvSpPr>
            <a:spLocks xmlns:a="http://schemas.openxmlformats.org/drawingml/2006/main" noGrp="1"/>
          </p:cNvSpPr>
          <p:nvPr/>
        </p:nvSpPr>
        <p:spPr>
          <a:xfrm xmlns:a="http://schemas.openxmlformats.org/drawingml/2006/main">
            <a:off x="6762750" y="4581525"/>
            <a:ext cx="171450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31" name="">
            <a:extLst xmlns:a="http://schemas.openxmlformats.org/drawingml/2006/main">
              <a:ext uri="{FF2B5EF4-FFF2-40B4-BE49-F238E27FC236}">
                <a16:creationId xmlns:a16="http://schemas.microsoft.com/office/drawing/2014/main" id="{A87D9D2B-D9B8-4367-AB32-890329DC8350}"/>
              </a:ext>
            </a:extLst>
          </p:cNvPr>
          <p:cNvSpPr>
            <a:spLocks xmlns:a="http://schemas.openxmlformats.org/drawingml/2006/main" noGrp="1"/>
          </p:cNvSpPr>
          <p:nvPr/>
        </p:nvSpPr>
        <p:spPr>
          <a:xfrm xmlns:a="http://schemas.openxmlformats.org/drawingml/2006/main">
            <a:off x="6838950" y="4648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Execution route</a:t>
            </a:r>
          </a:p>
        </p:txBody>
      </p:sp>
      <p:sp>
        <p:nvSpPr>
          <p:cNvPr id="32" name="">
            <a:extLst xmlns:a="http://schemas.openxmlformats.org/drawingml/2006/main">
              <a:ext uri="{FF2B5EF4-FFF2-40B4-BE49-F238E27FC236}">
                <a16:creationId xmlns:a16="http://schemas.microsoft.com/office/drawing/2014/main" id="{4EFC9BB8-694A-4AD1-8286-DCA9A11FEB68}"/>
              </a:ext>
            </a:extLst>
          </p:cNvPr>
          <p:cNvSpPr>
            <a:spLocks xmlns:a="http://schemas.openxmlformats.org/drawingml/2006/main" noGrp="1"/>
          </p:cNvSpPr>
          <p:nvPr/>
        </p:nvSpPr>
        <p:spPr>
          <a:xfrm xmlns:a="http://schemas.openxmlformats.org/drawingml/2006/main">
            <a:off x="1905000" y="5048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accepted plan, one skill result, one closure</a:t>
            </a:r>
          </a:p>
        </p:txBody>
      </p:sp>
      <p:sp>
        <p:nvSpPr>
          <p:cNvPr id="33" name="">
            <a:extLst xmlns:a="http://schemas.openxmlformats.org/drawingml/2006/main">
              <a:ext uri="{FF2B5EF4-FFF2-40B4-BE49-F238E27FC236}">
                <a16:creationId xmlns:a16="http://schemas.microsoft.com/office/drawing/2014/main" id="{3E6F81B6-95DF-48A9-94CA-65D50D40D5A5}"/>
              </a:ext>
            </a:extLst>
          </p:cNvPr>
          <p:cNvSpPr>
            <a:spLocks xmlns:a="http://schemas.openxmlformats.org/drawingml/2006/main" noGrp="1"/>
          </p:cNvSpPr>
          <p:nvPr/>
        </p:nvSpPr>
        <p:spPr>
          <a:xfrm xmlns:a="http://schemas.openxmlformats.org/drawingml/2006/main">
            <a:off x="1905000" y="55245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4" name="">
            <a:extLst xmlns:a="http://schemas.openxmlformats.org/drawingml/2006/main">
              <a:ext uri="{FF2B5EF4-FFF2-40B4-BE49-F238E27FC236}">
                <a16:creationId xmlns:a16="http://schemas.microsoft.com/office/drawing/2014/main" id="{251AA7D1-4831-4F42-823C-37D1851B8B83}"/>
              </a:ext>
            </a:extLst>
          </p:cNvPr>
          <p:cNvSpPr>
            <a:spLocks xmlns:a="http://schemas.openxmlformats.org/drawingml/2006/main" noGrp="1"/>
          </p:cNvSpPr>
          <p:nvPr/>
        </p:nvSpPr>
        <p:spPr>
          <a:xfrm xmlns:a="http://schemas.openxmlformats.org/drawingml/2006/main">
            <a:off x="1524000" y="59531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A33B32"/>
                </a:solidFill>
                <a:latin typeface="Arial"/>
                <a:ea typeface="Arial"/>
                <a:cs typeface="Arial"/>
              </a:defRPr>
            </a:pPr>
            <a:r>
              <a:rPr sz="1650" b="1" i="0">
                <a:solidFill>
                  <a:srgbClr val="A33B32"/>
                </a:solidFill>
                <a:latin typeface="Arial"/>
                <a:ea typeface="Arial"/>
                <a:cs typeface="Arial"/>
              </a:rPr>
              <a:t>Live demo illustrates the stack; frozen traces remain the scored evidence.</a:t>
            </a:r>
          </a:p>
        </p:txBody>
      </p:sp>
    </p:spTree>
    <p:extLst>
      <p:ext uri="{BB962C8B-B14F-4D97-AF65-F5344CB8AC3E}">
        <p14:creationId xmlns:p14="http://schemas.microsoft.com/office/powerpoint/2010/main" val="1795381869"/>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F0AB593-C2A7-4381-B71A-ADB61A93073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B3A6C75-6167-4364-9726-C9BF04B4366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B166746-4FE3-4FEF-B98B-B2BD676C53C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DISCUSSION</a:t>
            </a:r>
          </a:p>
        </p:txBody>
      </p:sp>
      <p:sp>
        <p:nvSpPr>
          <p:cNvPr id="4" name="">
            <a:extLst xmlns:a="http://schemas.openxmlformats.org/drawingml/2006/main">
              <a:ext uri="{FF2B5EF4-FFF2-40B4-BE49-F238E27FC236}">
                <a16:creationId xmlns:a16="http://schemas.microsoft.com/office/drawing/2014/main" id="{E8659BA5-DAA7-4BE9-ADE4-2DDA60AD9557}"/>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567274CC-FEDE-4706-A955-F32A3B201DB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DISCUSSION</a:t>
            </a:r>
          </a:p>
        </p:txBody>
      </p:sp>
      <p:sp>
        <p:nvSpPr>
          <p:cNvPr id="6" name="">
            <a:extLst xmlns:a="http://schemas.openxmlformats.org/drawingml/2006/main">
              <a:ext uri="{FF2B5EF4-FFF2-40B4-BE49-F238E27FC236}">
                <a16:creationId xmlns:a16="http://schemas.microsoft.com/office/drawing/2014/main" id="{5F785C70-3DF1-4471-96CE-F55DA21BD2B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What the evidence supports</a:t>
            </a:r>
          </a:p>
        </p:txBody>
      </p:sp>
      <p:sp>
        <p:nvSpPr>
          <p:cNvPr id="7" name="">
            <a:extLst xmlns:a="http://schemas.openxmlformats.org/drawingml/2006/main">
              <a:ext uri="{FF2B5EF4-FFF2-40B4-BE49-F238E27FC236}">
                <a16:creationId xmlns:a16="http://schemas.microsoft.com/office/drawing/2014/main" id="{5137C0D0-23BF-4632-8090-861FE17A1E9C}"/>
              </a:ext>
            </a:extLst>
          </p:cNvPr>
          <p:cNvSpPr>
            <a:spLocks xmlns:a="http://schemas.openxmlformats.org/drawingml/2006/main" noGrp="1"/>
          </p:cNvSpPr>
          <p:nvPr/>
        </p:nvSpPr>
        <p:spPr>
          <a:xfrm xmlns:a="http://schemas.openxmlformats.org/drawingml/2006/main">
            <a:off x="685800" y="1885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8" name="">
            <a:extLst xmlns:a="http://schemas.openxmlformats.org/drawingml/2006/main">
              <a:ext uri="{FF2B5EF4-FFF2-40B4-BE49-F238E27FC236}">
                <a16:creationId xmlns:a16="http://schemas.microsoft.com/office/drawing/2014/main" id="{B976AC7F-D632-4D03-BA98-61E969F97115}"/>
              </a:ext>
            </a:extLst>
          </p:cNvPr>
          <p:cNvSpPr>
            <a:spLocks xmlns:a="http://schemas.openxmlformats.org/drawingml/2006/main" noGrp="1"/>
          </p:cNvSpPr>
          <p:nvPr/>
        </p:nvSpPr>
        <p:spPr>
          <a:xfrm xmlns:a="http://schemas.openxmlformats.org/drawingml/2006/main">
            <a:off x="762000" y="1952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a:t>
            </a:r>
          </a:p>
        </p:txBody>
      </p:sp>
      <p:sp>
        <p:nvSpPr>
          <p:cNvPr id="9" name="">
            <a:extLst xmlns:a="http://schemas.openxmlformats.org/drawingml/2006/main">
              <a:ext uri="{FF2B5EF4-FFF2-40B4-BE49-F238E27FC236}">
                <a16:creationId xmlns:a16="http://schemas.microsoft.com/office/drawing/2014/main" id="{FCE2BCBC-474A-4A3C-80D3-E1ACCC5C682F}"/>
              </a:ext>
            </a:extLst>
          </p:cNvPr>
          <p:cNvSpPr>
            <a:spLocks xmlns:a="http://schemas.openxmlformats.org/drawingml/2006/main" noGrp="1"/>
          </p:cNvSpPr>
          <p:nvPr/>
        </p:nvSpPr>
        <p:spPr>
          <a:xfrm xmlns:a="http://schemas.openxmlformats.org/drawingml/2006/main">
            <a:off x="1809750" y="1838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Plans work within tested task families</a:t>
            </a:r>
          </a:p>
        </p:txBody>
      </p:sp>
      <p:sp>
        <p:nvSpPr>
          <p:cNvPr id="10" name="">
            <a:extLst xmlns:a="http://schemas.openxmlformats.org/drawingml/2006/main">
              <a:ext uri="{FF2B5EF4-FFF2-40B4-BE49-F238E27FC236}">
                <a16:creationId xmlns:a16="http://schemas.microsoft.com/office/drawing/2014/main" id="{77073141-FE1F-4BEF-89D7-1593BC135C11}"/>
              </a:ext>
            </a:extLst>
          </p:cNvPr>
          <p:cNvSpPr>
            <a:spLocks xmlns:a="http://schemas.openxmlformats.org/drawingml/2006/main" noGrp="1"/>
          </p:cNvSpPr>
          <p:nvPr/>
        </p:nvSpPr>
        <p:spPr>
          <a:xfrm xmlns:a="http://schemas.openxmlformats.org/drawingml/2006/main">
            <a:off x="6191250" y="1838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Composite and multi-capability failures remain.</a:t>
            </a:r>
          </a:p>
        </p:txBody>
      </p:sp>
      <p:sp>
        <p:nvSpPr>
          <p:cNvPr id="11" name="">
            <a:extLst xmlns:a="http://schemas.openxmlformats.org/drawingml/2006/main">
              <a:ext uri="{FF2B5EF4-FFF2-40B4-BE49-F238E27FC236}">
                <a16:creationId xmlns:a16="http://schemas.microsoft.com/office/drawing/2014/main" id="{6CA5926F-33BC-40EA-9798-2D103AE88400}"/>
              </a:ext>
            </a:extLst>
          </p:cNvPr>
          <p:cNvSpPr>
            <a:spLocks xmlns:a="http://schemas.openxmlformats.org/drawingml/2006/main" noGrp="1"/>
          </p:cNvSpPr>
          <p:nvPr/>
        </p:nvSpPr>
        <p:spPr>
          <a:xfrm xmlns:a="http://schemas.openxmlformats.org/drawingml/2006/main">
            <a:off x="1809750" y="2457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F5F87F-CA79-4212-81F4-50CF2CED858E}"/>
              </a:ext>
            </a:extLst>
          </p:cNvPr>
          <p:cNvSpPr>
            <a:spLocks xmlns:a="http://schemas.openxmlformats.org/drawingml/2006/main" noGrp="1"/>
          </p:cNvSpPr>
          <p:nvPr/>
        </p:nvSpPr>
        <p:spPr>
          <a:xfrm xmlns:a="http://schemas.openxmlformats.org/drawingml/2006/main">
            <a:off x="685800" y="27432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8259788A-236A-4850-8616-C0B592D668A3}"/>
              </a:ext>
            </a:extLst>
          </p:cNvPr>
          <p:cNvSpPr>
            <a:spLocks xmlns:a="http://schemas.openxmlformats.org/drawingml/2006/main" noGrp="1"/>
          </p:cNvSpPr>
          <p:nvPr/>
        </p:nvSpPr>
        <p:spPr>
          <a:xfrm xmlns:a="http://schemas.openxmlformats.org/drawingml/2006/main">
            <a:off x="762000" y="28098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a:t>
            </a:r>
          </a:p>
        </p:txBody>
      </p:sp>
      <p:sp>
        <p:nvSpPr>
          <p:cNvPr id="14" name="">
            <a:extLst xmlns:a="http://schemas.openxmlformats.org/drawingml/2006/main">
              <a:ext uri="{FF2B5EF4-FFF2-40B4-BE49-F238E27FC236}">
                <a16:creationId xmlns:a16="http://schemas.microsoft.com/office/drawing/2014/main" id="{44E383C7-DF2D-477F-AEF6-6BAA68C44C15}"/>
              </a:ext>
            </a:extLst>
          </p:cNvPr>
          <p:cNvSpPr>
            <a:spLocks xmlns:a="http://schemas.openxmlformats.org/drawingml/2006/main" noGrp="1"/>
          </p:cNvSpPr>
          <p:nvPr/>
        </p:nvSpPr>
        <p:spPr>
          <a:xfrm xmlns:a="http://schemas.openxmlformats.org/drawingml/2006/main">
            <a:off x="1809750" y="26955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Symbolic grounding supports role-aware tasks</a:t>
            </a:r>
          </a:p>
        </p:txBody>
      </p:sp>
      <p:sp>
        <p:nvSpPr>
          <p:cNvPr id="15" name="">
            <a:extLst xmlns:a="http://schemas.openxmlformats.org/drawingml/2006/main">
              <a:ext uri="{FF2B5EF4-FFF2-40B4-BE49-F238E27FC236}">
                <a16:creationId xmlns:a16="http://schemas.microsoft.com/office/drawing/2014/main" id="{33A665D9-4DB5-4289-B53C-3C0C1A8D83CC}"/>
              </a:ext>
            </a:extLst>
          </p:cNvPr>
          <p:cNvSpPr>
            <a:spLocks xmlns:a="http://schemas.openxmlformats.org/drawingml/2006/main" noGrp="1"/>
          </p:cNvSpPr>
          <p:nvPr/>
        </p:nvSpPr>
        <p:spPr>
          <a:xfrm xmlns:a="http://schemas.openxmlformats.org/drawingml/2006/main">
            <a:off x="6191250" y="26955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Selection and role interpretation remain model-sensitive.</a:t>
            </a:r>
          </a:p>
        </p:txBody>
      </p:sp>
      <p:sp>
        <p:nvSpPr>
          <p:cNvPr id="16" name="">
            <a:extLst xmlns:a="http://schemas.openxmlformats.org/drawingml/2006/main">
              <a:ext uri="{FF2B5EF4-FFF2-40B4-BE49-F238E27FC236}">
                <a16:creationId xmlns:a16="http://schemas.microsoft.com/office/drawing/2014/main" id="{AE9B025B-321C-4EF2-B2C6-A83D25635370}"/>
              </a:ext>
            </a:extLst>
          </p:cNvPr>
          <p:cNvSpPr>
            <a:spLocks xmlns:a="http://schemas.openxmlformats.org/drawingml/2006/main" noGrp="1"/>
          </p:cNvSpPr>
          <p:nvPr/>
        </p:nvSpPr>
        <p:spPr>
          <a:xfrm xmlns:a="http://schemas.openxmlformats.org/drawingml/2006/main">
            <a:off x="1809750" y="33147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9866FD81-6E9B-4D32-A9D1-D92FB4E62A2F}"/>
              </a:ext>
            </a:extLst>
          </p:cNvPr>
          <p:cNvSpPr>
            <a:spLocks xmlns:a="http://schemas.openxmlformats.org/drawingml/2006/main" noGrp="1"/>
          </p:cNvSpPr>
          <p:nvPr/>
        </p:nvSpPr>
        <p:spPr>
          <a:xfrm xmlns:a="http://schemas.openxmlformats.org/drawingml/2006/main">
            <a:off x="685800" y="36004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8" name="">
            <a:extLst xmlns:a="http://schemas.openxmlformats.org/drawingml/2006/main">
              <a:ext uri="{FF2B5EF4-FFF2-40B4-BE49-F238E27FC236}">
                <a16:creationId xmlns:a16="http://schemas.microsoft.com/office/drawing/2014/main" id="{E15DAAC1-E9D2-419E-8DB4-3C995169A0AA}"/>
              </a:ext>
            </a:extLst>
          </p:cNvPr>
          <p:cNvSpPr>
            <a:spLocks xmlns:a="http://schemas.openxmlformats.org/drawingml/2006/main" noGrp="1"/>
          </p:cNvSpPr>
          <p:nvPr/>
        </p:nvSpPr>
        <p:spPr>
          <a:xfrm xmlns:a="http://schemas.openxmlformats.org/drawingml/2006/main">
            <a:off x="762000" y="36671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a:t>
            </a:r>
          </a:p>
        </p:txBody>
      </p:sp>
      <p:sp>
        <p:nvSpPr>
          <p:cNvPr id="19" name="">
            <a:extLst xmlns:a="http://schemas.openxmlformats.org/drawingml/2006/main">
              <a:ext uri="{FF2B5EF4-FFF2-40B4-BE49-F238E27FC236}">
                <a16:creationId xmlns:a16="http://schemas.microsoft.com/office/drawing/2014/main" id="{1DDC9765-6119-437C-B95C-2373B4CE5D06}"/>
              </a:ext>
            </a:extLst>
          </p:cNvPr>
          <p:cNvSpPr>
            <a:spLocks xmlns:a="http://schemas.openxmlformats.org/drawingml/2006/main" noGrp="1"/>
          </p:cNvSpPr>
          <p:nvPr/>
        </p:nvSpPr>
        <p:spPr>
          <a:xfrm xmlns:a="http://schemas.openxmlformats.org/drawingml/2006/main">
            <a:off x="1809750" y="35528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Deterministic rejection contains tested errors</a:t>
            </a:r>
          </a:p>
        </p:txBody>
      </p:sp>
      <p:sp>
        <p:nvSpPr>
          <p:cNvPr id="20" name="">
            <a:extLst xmlns:a="http://schemas.openxmlformats.org/drawingml/2006/main">
              <a:ext uri="{FF2B5EF4-FFF2-40B4-BE49-F238E27FC236}">
                <a16:creationId xmlns:a16="http://schemas.microsoft.com/office/drawing/2014/main" id="{0770804C-5AAC-4627-B0AB-555612CCDF59}"/>
              </a:ext>
            </a:extLst>
          </p:cNvPr>
          <p:cNvSpPr>
            <a:spLocks xmlns:a="http://schemas.openxmlformats.org/drawingml/2006/main" noGrp="1"/>
          </p:cNvSpPr>
          <p:nvPr/>
        </p:nvSpPr>
        <p:spPr>
          <a:xfrm xmlns:a="http://schemas.openxmlformats.org/drawingml/2006/main">
            <a:off x="6191250" y="35528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No general physical-safety or completeness guarantee.</a:t>
            </a:r>
          </a:p>
        </p:txBody>
      </p:sp>
      <p:sp>
        <p:nvSpPr>
          <p:cNvPr id="21" name="">
            <a:extLst xmlns:a="http://schemas.openxmlformats.org/drawingml/2006/main">
              <a:ext uri="{FF2B5EF4-FFF2-40B4-BE49-F238E27FC236}">
                <a16:creationId xmlns:a16="http://schemas.microsoft.com/office/drawing/2014/main" id="{3D40EA7F-41F7-41DE-9D6D-8A59CC1F2FC6}"/>
              </a:ext>
            </a:extLst>
          </p:cNvPr>
          <p:cNvSpPr>
            <a:spLocks xmlns:a="http://schemas.openxmlformats.org/drawingml/2006/main" noGrp="1"/>
          </p:cNvSpPr>
          <p:nvPr/>
        </p:nvSpPr>
        <p:spPr>
          <a:xfrm xmlns:a="http://schemas.openxmlformats.org/drawingml/2006/main">
            <a:off x="1809750" y="41719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50DA2207-3D12-4B9B-B83F-1DADA4E69EC6}"/>
              </a:ext>
            </a:extLst>
          </p:cNvPr>
          <p:cNvSpPr>
            <a:spLocks xmlns:a="http://schemas.openxmlformats.org/drawingml/2006/main" noGrp="1"/>
          </p:cNvSpPr>
          <p:nvPr/>
        </p:nvSpPr>
        <p:spPr>
          <a:xfrm xmlns:a="http://schemas.openxmlformats.org/drawingml/2006/main">
            <a:off x="685800" y="44577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3" name="">
            <a:extLst xmlns:a="http://schemas.openxmlformats.org/drawingml/2006/main">
              <a:ext uri="{FF2B5EF4-FFF2-40B4-BE49-F238E27FC236}">
                <a16:creationId xmlns:a16="http://schemas.microsoft.com/office/drawing/2014/main" id="{1A84E677-0593-4499-8619-4D2D7587B4CF}"/>
              </a:ext>
            </a:extLst>
          </p:cNvPr>
          <p:cNvSpPr>
            <a:spLocks xmlns:a="http://schemas.openxmlformats.org/drawingml/2006/main" noGrp="1"/>
          </p:cNvSpPr>
          <p:nvPr/>
        </p:nvSpPr>
        <p:spPr>
          <a:xfrm xmlns:a="http://schemas.openxmlformats.org/drawingml/2006/main">
            <a:off x="762000" y="45243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a:t>
            </a:r>
          </a:p>
        </p:txBody>
      </p:sp>
      <p:sp>
        <p:nvSpPr>
          <p:cNvPr id="24" name="">
            <a:extLst xmlns:a="http://schemas.openxmlformats.org/drawingml/2006/main">
              <a:ext uri="{FF2B5EF4-FFF2-40B4-BE49-F238E27FC236}">
                <a16:creationId xmlns:a16="http://schemas.microsoft.com/office/drawing/2014/main" id="{4495B200-B17C-470A-819E-D73C63208876}"/>
              </a:ext>
            </a:extLst>
          </p:cNvPr>
          <p:cNvSpPr>
            <a:spLocks xmlns:a="http://schemas.openxmlformats.org/drawingml/2006/main" noGrp="1"/>
          </p:cNvSpPr>
          <p:nvPr/>
        </p:nvSpPr>
        <p:spPr>
          <a:xfrm xmlns:a="http://schemas.openxmlformats.org/drawingml/2006/main">
            <a:off x="1809750" y="44100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Feedback enables observed recovery</a:t>
            </a:r>
          </a:p>
        </p:txBody>
      </p:sp>
      <p:sp>
        <p:nvSpPr>
          <p:cNvPr id="25" name="">
            <a:extLst xmlns:a="http://schemas.openxmlformats.org/drawingml/2006/main">
              <a:ext uri="{FF2B5EF4-FFF2-40B4-BE49-F238E27FC236}">
                <a16:creationId xmlns:a16="http://schemas.microsoft.com/office/drawing/2014/main" id="{B6FECA9A-38FC-42F1-B0DB-025C624110D3}"/>
              </a:ext>
            </a:extLst>
          </p:cNvPr>
          <p:cNvSpPr>
            <a:spLocks xmlns:a="http://schemas.openxmlformats.org/drawingml/2006/main" noGrp="1"/>
          </p:cNvSpPr>
          <p:nvPr/>
        </p:nvSpPr>
        <p:spPr>
          <a:xfrm xmlns:a="http://schemas.openxmlformats.org/drawingml/2006/main">
            <a:off x="6191250" y="44100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Beginning/middle evidence is stronger than final-stage recovery.</a:t>
            </a:r>
          </a:p>
        </p:txBody>
      </p:sp>
      <p:sp>
        <p:nvSpPr>
          <p:cNvPr id="26" name="">
            <a:extLst xmlns:a="http://schemas.openxmlformats.org/drawingml/2006/main">
              <a:ext uri="{FF2B5EF4-FFF2-40B4-BE49-F238E27FC236}">
                <a16:creationId xmlns:a16="http://schemas.microsoft.com/office/drawing/2014/main" id="{1683F276-7217-4CF6-B429-ED92CCB59F50}"/>
              </a:ext>
            </a:extLst>
          </p:cNvPr>
          <p:cNvSpPr>
            <a:spLocks xmlns:a="http://schemas.openxmlformats.org/drawingml/2006/main" noGrp="1"/>
          </p:cNvSpPr>
          <p:nvPr/>
        </p:nvSpPr>
        <p:spPr>
          <a:xfrm xmlns:a="http://schemas.openxmlformats.org/drawingml/2006/main">
            <a:off x="1809750" y="50292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AE09993C-96C7-4B04-974C-EE5DB773BFA2}"/>
              </a:ext>
            </a:extLst>
          </p:cNvPr>
          <p:cNvSpPr>
            <a:spLocks xmlns:a="http://schemas.openxmlformats.org/drawingml/2006/main" noGrp="1"/>
          </p:cNvSpPr>
          <p:nvPr/>
        </p:nvSpPr>
        <p:spPr>
          <a:xfrm xmlns:a="http://schemas.openxmlformats.org/drawingml/2006/main">
            <a:off x="685800" y="5314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BCB53782-1249-49D1-AA3B-C7ABFBE47770}"/>
              </a:ext>
            </a:extLst>
          </p:cNvPr>
          <p:cNvSpPr>
            <a:spLocks xmlns:a="http://schemas.openxmlformats.org/drawingml/2006/main" noGrp="1"/>
          </p:cNvSpPr>
          <p:nvPr/>
        </p:nvSpPr>
        <p:spPr>
          <a:xfrm xmlns:a="http://schemas.openxmlformats.org/drawingml/2006/main">
            <a:off x="762000" y="5381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a:t>
            </a:r>
          </a:p>
        </p:txBody>
      </p:sp>
      <p:sp>
        <p:nvSpPr>
          <p:cNvPr id="29" name="">
            <a:extLst xmlns:a="http://schemas.openxmlformats.org/drawingml/2006/main">
              <a:ext uri="{FF2B5EF4-FFF2-40B4-BE49-F238E27FC236}">
                <a16:creationId xmlns:a16="http://schemas.microsoft.com/office/drawing/2014/main" id="{8F28B4D5-0213-4965-A6B0-586C55495D2D}"/>
              </a:ext>
            </a:extLst>
          </p:cNvPr>
          <p:cNvSpPr>
            <a:spLocks xmlns:a="http://schemas.openxmlformats.org/drawingml/2006/main" noGrp="1"/>
          </p:cNvSpPr>
          <p:nvPr/>
        </p:nvSpPr>
        <p:spPr>
          <a:xfrm xmlns:a="http://schemas.openxmlformats.org/drawingml/2006/main">
            <a:off x="1809750" y="5267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Ownership and interfaces remain inspectable</a:t>
            </a:r>
          </a:p>
        </p:txBody>
      </p:sp>
      <p:sp>
        <p:nvSpPr>
          <p:cNvPr id="30" name="">
            <a:extLst xmlns:a="http://schemas.openxmlformats.org/drawingml/2006/main">
              <a:ext uri="{FF2B5EF4-FFF2-40B4-BE49-F238E27FC236}">
                <a16:creationId xmlns:a16="http://schemas.microsoft.com/office/drawing/2014/main" id="{7DD415C4-DEC3-4CEB-8B1D-FF7E8749E6D8}"/>
              </a:ext>
            </a:extLst>
          </p:cNvPr>
          <p:cNvSpPr>
            <a:spLocks xmlns:a="http://schemas.openxmlformats.org/drawingml/2006/main" noGrp="1"/>
          </p:cNvSpPr>
          <p:nvPr/>
        </p:nvSpPr>
        <p:spPr>
          <a:xfrm xmlns:a="http://schemas.openxmlformats.org/drawingml/2006/main">
            <a:off x="6191250" y="5267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Transfer to other robots still requires validation.</a:t>
            </a:r>
          </a:p>
        </p:txBody>
      </p:sp>
      <p:sp>
        <p:nvSpPr>
          <p:cNvPr id="31" name="">
            <a:extLst xmlns:a="http://schemas.openxmlformats.org/drawingml/2006/main">
              <a:ext uri="{FF2B5EF4-FFF2-40B4-BE49-F238E27FC236}">
                <a16:creationId xmlns:a16="http://schemas.microsoft.com/office/drawing/2014/main" id="{7131007D-A4A0-4B0D-B645-DFE63F8A4DD1}"/>
              </a:ext>
            </a:extLst>
          </p:cNvPr>
          <p:cNvSpPr>
            <a:spLocks xmlns:a="http://schemas.openxmlformats.org/drawingml/2006/main" noGrp="1"/>
          </p:cNvSpPr>
          <p:nvPr/>
        </p:nvSpPr>
        <p:spPr>
          <a:xfrm xmlns:a="http://schemas.openxmlformats.org/drawingml/2006/main">
            <a:off x="1809750" y="5886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7940205"/>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F0D8E8-1E3D-4CB2-AF5C-66C7BCC0DA3E}"/>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4B7F5F8-DD86-4779-A86F-12210BDE1C5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D72792E6-7A7B-46B8-9739-68BA0AE4E8C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LIMITATIONS</a:t>
            </a:r>
          </a:p>
        </p:txBody>
      </p:sp>
      <p:sp>
        <p:nvSpPr>
          <p:cNvPr id="4" name="">
            <a:extLst xmlns:a="http://schemas.openxmlformats.org/drawingml/2006/main">
              <a:ext uri="{FF2B5EF4-FFF2-40B4-BE49-F238E27FC236}">
                <a16:creationId xmlns:a16="http://schemas.microsoft.com/office/drawing/2014/main" id="{32266669-0916-411E-96AC-133A24E33D3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2024AE1B-1D77-434D-9E4D-7634119C283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LIMITATIONS</a:t>
            </a:r>
          </a:p>
        </p:txBody>
      </p:sp>
      <p:sp>
        <p:nvSpPr>
          <p:cNvPr id="6" name="">
            <a:extLst xmlns:a="http://schemas.openxmlformats.org/drawingml/2006/main">
              <a:ext uri="{FF2B5EF4-FFF2-40B4-BE49-F238E27FC236}">
                <a16:creationId xmlns:a16="http://schemas.microsoft.com/office/drawing/2014/main" id="{03DF14AB-4E11-489C-AF7F-0B5138056A5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Strong software evidence; limited physical claims.</a:t>
            </a:r>
          </a:p>
        </p:txBody>
      </p:sp>
      <p:sp>
        <p:nvSpPr>
          <p:cNvPr id="7" name="">
            <a:extLst xmlns:a="http://schemas.openxmlformats.org/drawingml/2006/main">
              <a:ext uri="{FF2B5EF4-FFF2-40B4-BE49-F238E27FC236}">
                <a16:creationId xmlns:a16="http://schemas.microsoft.com/office/drawing/2014/main" id="{F0412956-E218-427B-B90D-7D4B7F20297B}"/>
              </a:ext>
            </a:extLst>
          </p:cNvPr>
          <p:cNvSpPr>
            <a:spLocks xmlns:a="http://schemas.openxmlformats.org/drawingml/2006/main" noGrp="1"/>
          </p:cNvSpPr>
          <p:nvPr/>
        </p:nvSpPr>
        <p:spPr>
          <a:xfrm xmlns:a="http://schemas.openxmlformats.org/drawingml/2006/main">
            <a:off x="6858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24B6D3D4-638A-48FD-98E6-DA1C7FC1CBA3}"/>
              </a:ext>
            </a:extLst>
          </p:cNvPr>
          <p:cNvSpPr>
            <a:spLocks xmlns:a="http://schemas.openxmlformats.org/drawingml/2006/main" noGrp="1"/>
          </p:cNvSpPr>
          <p:nvPr/>
        </p:nvSpPr>
        <p:spPr>
          <a:xfrm xmlns:a="http://schemas.openxmlformats.org/drawingml/2006/main">
            <a:off x="685800" y="2095500"/>
            <a:ext cx="57150" cy="300037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E0DA38A4-41F2-47E0-913F-0AEDFD0E78AA}"/>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A0ADA95F-66B7-4756-9824-D85CA1FFA477}"/>
              </a:ext>
            </a:extLst>
          </p:cNvPr>
          <p:cNvSpPr>
            <a:spLocks xmlns:a="http://schemas.openxmlformats.org/drawingml/2006/main" noGrp="1"/>
          </p:cNvSpPr>
          <p:nvPr/>
        </p:nvSpPr>
        <p:spPr>
          <a:xfrm xmlns:a="http://schemas.openxmlformats.org/drawingml/2006/main">
            <a:off x="8953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ownership and interface architecture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deterministic admission and dispatch</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controlled failure and replanning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symbolic postconditions and reporting</a:t>
            </a:r>
          </a:p>
        </p:txBody>
      </p:sp>
      <p:sp>
        <p:nvSpPr>
          <p:cNvPr id="11" name="">
            <a:extLst xmlns:a="http://schemas.openxmlformats.org/drawingml/2006/main">
              <a:ext uri="{FF2B5EF4-FFF2-40B4-BE49-F238E27FC236}">
                <a16:creationId xmlns:a16="http://schemas.microsoft.com/office/drawing/2014/main" id="{76E7859B-61AE-4AD2-8002-E129D8BE785C}"/>
              </a:ext>
            </a:extLst>
          </p:cNvPr>
          <p:cNvSpPr>
            <a:spLocks xmlns:a="http://schemas.openxmlformats.org/drawingml/2006/main" noGrp="1"/>
          </p:cNvSpPr>
          <p:nvPr/>
        </p:nvSpPr>
        <p:spPr>
          <a:xfrm xmlns:a="http://schemas.openxmlformats.org/drawingml/2006/main">
            <a:off x="42291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9F29E56-E232-4B9C-974A-FD6AB09E2D56}"/>
              </a:ext>
            </a:extLst>
          </p:cNvPr>
          <p:cNvSpPr>
            <a:spLocks xmlns:a="http://schemas.openxmlformats.org/drawingml/2006/main" noGrp="1"/>
          </p:cNvSpPr>
          <p:nvPr/>
        </p:nvSpPr>
        <p:spPr>
          <a:xfrm xmlns:a="http://schemas.openxmlformats.org/drawingml/2006/main">
            <a:off x="4229100" y="2095500"/>
            <a:ext cx="57150" cy="3000375"/>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0ED2A674-0D0A-417D-93BF-465263713256}"/>
              </a:ext>
            </a:extLst>
          </p:cNvPr>
          <p:cNvSpPr>
            <a:spLocks xmlns:a="http://schemas.openxmlformats.org/drawingml/2006/main" noGrp="1"/>
          </p:cNvSpPr>
          <p:nvPr/>
        </p:nvSpPr>
        <p:spPr>
          <a:xfrm xmlns:a="http://schemas.openxmlformats.org/drawingml/2006/main">
            <a:off x="44386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796D01D0-2F28-479D-AB15-8260F5B25C77}"/>
              </a:ext>
            </a:extLst>
          </p:cNvPr>
          <p:cNvSpPr>
            <a:spLocks xmlns:a="http://schemas.openxmlformats.org/drawingml/2006/main" noGrp="1"/>
          </p:cNvSpPr>
          <p:nvPr/>
        </p:nvSpPr>
        <p:spPr>
          <a:xfrm xmlns:a="http://schemas.openxmlformats.org/drawingml/2006/main">
            <a:off x="44386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navigation or grasp accuracy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detector performance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human safety or acceptance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unrestricted autonomy or universal model ranking</a:t>
            </a:r>
          </a:p>
        </p:txBody>
      </p:sp>
      <p:sp>
        <p:nvSpPr>
          <p:cNvPr id="15" name="">
            <a:extLst xmlns:a="http://schemas.openxmlformats.org/drawingml/2006/main">
              <a:ext uri="{FF2B5EF4-FFF2-40B4-BE49-F238E27FC236}">
                <a16:creationId xmlns:a16="http://schemas.microsoft.com/office/drawing/2014/main" id="{9CF2C06A-A887-46C5-9AF8-0FE7BB9895EA}"/>
              </a:ext>
            </a:extLst>
          </p:cNvPr>
          <p:cNvSpPr>
            <a:spLocks xmlns:a="http://schemas.openxmlformats.org/drawingml/2006/main" noGrp="1"/>
          </p:cNvSpPr>
          <p:nvPr/>
        </p:nvSpPr>
        <p:spPr>
          <a:xfrm xmlns:a="http://schemas.openxmlformats.org/drawingml/2006/main">
            <a:off x="77724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6FEC6C6D-7432-422C-88FA-3217D05D1F1B}"/>
              </a:ext>
            </a:extLst>
          </p:cNvPr>
          <p:cNvSpPr>
            <a:spLocks xmlns:a="http://schemas.openxmlformats.org/drawingml/2006/main" noGrp="1"/>
          </p:cNvSpPr>
          <p:nvPr/>
        </p:nvSpPr>
        <p:spPr>
          <a:xfrm xmlns:a="http://schemas.openxmlformats.org/drawingml/2006/main">
            <a:off x="7772400" y="2095500"/>
            <a:ext cx="57150" cy="300037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7" name="">
            <a:extLst xmlns:a="http://schemas.openxmlformats.org/drawingml/2006/main">
              <a:ext uri="{FF2B5EF4-FFF2-40B4-BE49-F238E27FC236}">
                <a16:creationId xmlns:a16="http://schemas.microsoft.com/office/drawing/2014/main" id="{6E006DAD-FAAC-41D1-A3EB-ECCA48557B2E}"/>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Transfer conditions</a:t>
            </a:r>
          </a:p>
        </p:txBody>
      </p:sp>
      <p:sp>
        <p:nvSpPr>
          <p:cNvPr id="18" name="">
            <a:extLst xmlns:a="http://schemas.openxmlformats.org/drawingml/2006/main">
              <a:ext uri="{FF2B5EF4-FFF2-40B4-BE49-F238E27FC236}">
                <a16:creationId xmlns:a16="http://schemas.microsoft.com/office/drawing/2014/main" id="{A6386C76-1F40-43AA-9488-DC5E1D3B38DA}"/>
              </a:ext>
            </a:extLst>
          </p:cNvPr>
          <p:cNvSpPr>
            <a:spLocks xmlns:a="http://schemas.openxmlformats.org/drawingml/2006/main" noGrp="1"/>
          </p:cNvSpPr>
          <p:nvPr/>
        </p:nvSpPr>
        <p:spPr>
          <a:xfrm xmlns:a="http://schemas.openxmlformats.org/drawingml/2006/main">
            <a:off x="79819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Another robot needs an equivalent reviewed skill registry and typed adapters. Another model must repeat the frozen qualification.</a:t>
            </a:r>
          </a:p>
        </p:txBody>
      </p:sp>
      <p:sp>
        <p:nvSpPr>
          <p:cNvPr id="19" name="">
            <a:extLst xmlns:a="http://schemas.openxmlformats.org/drawingml/2006/main">
              <a:ext uri="{FF2B5EF4-FFF2-40B4-BE49-F238E27FC236}">
                <a16:creationId xmlns:a16="http://schemas.microsoft.com/office/drawing/2014/main" id="{D22DA2A4-A302-417E-8F87-72609CF5F2C5}"/>
              </a:ext>
            </a:extLst>
          </p:cNvPr>
          <p:cNvSpPr>
            <a:spLocks xmlns:a="http://schemas.openxmlformats.org/drawingml/2006/main" noGrp="1"/>
          </p:cNvSpPr>
          <p:nvPr/>
        </p:nvSpPr>
        <p:spPr>
          <a:xfrm xmlns:a="http://schemas.openxmlformats.org/drawingml/2006/main">
            <a:off x="1143000" y="55245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Controlled outcomes isolate software behaviour; they do not replace physical trials.</a:t>
            </a:r>
          </a:p>
        </p:txBody>
      </p:sp>
    </p:spTree>
    <p:extLst>
      <p:ext uri="{BB962C8B-B14F-4D97-AF65-F5344CB8AC3E}">
        <p14:creationId xmlns:p14="http://schemas.microsoft.com/office/powerpoint/2010/main" val="9627017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5069F1-777F-4CF2-90F5-6443232C42D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A1783F6-77DE-45D9-B944-F6E66F83911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F3D7A34-87EC-41CE-8A02-C598AFC0C6A6}"/>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FUTURE WORK</a:t>
            </a:r>
          </a:p>
        </p:txBody>
      </p:sp>
      <p:sp>
        <p:nvSpPr>
          <p:cNvPr id="4" name="">
            <a:extLst xmlns:a="http://schemas.openxmlformats.org/drawingml/2006/main">
              <a:ext uri="{FF2B5EF4-FFF2-40B4-BE49-F238E27FC236}">
                <a16:creationId xmlns:a16="http://schemas.microsoft.com/office/drawing/2014/main" id="{B129AB67-1942-42A3-A2FE-34750DCBCEF2}"/>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58F5A9BA-385F-44A0-9910-EF37C2D8A9C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FUTURE WORK</a:t>
            </a:r>
          </a:p>
        </p:txBody>
      </p:sp>
      <p:sp>
        <p:nvSpPr>
          <p:cNvPr id="6" name="">
            <a:extLst xmlns:a="http://schemas.openxmlformats.org/drawingml/2006/main">
              <a:ext uri="{FF2B5EF4-FFF2-40B4-BE49-F238E27FC236}">
                <a16:creationId xmlns:a16="http://schemas.microsoft.com/office/drawing/2014/main" id="{72F266DE-2EE8-466F-AC28-C1E8016FEC9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Future work: strengthen capability and evidence.</a:t>
            </a:r>
          </a:p>
        </p:txBody>
      </p:sp>
      <p:sp>
        <p:nvSpPr>
          <p:cNvPr id="7" name="">
            <a:extLst xmlns:a="http://schemas.openxmlformats.org/drawingml/2006/main">
              <a:ext uri="{FF2B5EF4-FFF2-40B4-BE49-F238E27FC236}">
                <a16:creationId xmlns:a16="http://schemas.microsoft.com/office/drawing/2014/main" id="{9C19F8DC-EFF7-4ECE-A74B-C2C6948D1F85}"/>
              </a:ext>
            </a:extLst>
          </p:cNvPr>
          <p:cNvSpPr>
            <a:spLocks xmlns:a="http://schemas.openxmlformats.org/drawingml/2006/main" noGrp="1"/>
          </p:cNvSpPr>
          <p:nvPr/>
        </p:nvSpPr>
        <p:spPr>
          <a:xfrm xmlns:a="http://schemas.openxmlformats.org/drawingml/2006/main">
            <a:off x="6858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0DE048-F3FB-49CF-A348-CCA64493C9BE}"/>
              </a:ext>
            </a:extLst>
          </p:cNvPr>
          <p:cNvSpPr>
            <a:spLocks xmlns:a="http://schemas.openxmlformats.org/drawingml/2006/main" noGrp="1"/>
          </p:cNvSpPr>
          <p:nvPr/>
        </p:nvSpPr>
        <p:spPr>
          <a:xfrm xmlns:a="http://schemas.openxmlformats.org/drawingml/2006/main">
            <a:off x="685800" y="1952625"/>
            <a:ext cx="57150" cy="36385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88551A3B-4319-468F-8CBF-007074236930}"/>
              </a:ext>
            </a:extLst>
          </p:cNvPr>
          <p:cNvSpPr>
            <a:spLocks xmlns:a="http://schemas.openxmlformats.org/drawingml/2006/main" noGrp="1"/>
          </p:cNvSpPr>
          <p:nvPr/>
        </p:nvSpPr>
        <p:spPr>
          <a:xfrm xmlns:a="http://schemas.openxmlformats.org/drawingml/2006/main">
            <a:off x="8953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Semantic controls</a:t>
            </a:r>
          </a:p>
        </p:txBody>
      </p:sp>
      <p:sp>
        <p:nvSpPr>
          <p:cNvPr id="10" name="">
            <a:extLst xmlns:a="http://schemas.openxmlformats.org/drawingml/2006/main">
              <a:ext uri="{FF2B5EF4-FFF2-40B4-BE49-F238E27FC236}">
                <a16:creationId xmlns:a16="http://schemas.microsoft.com/office/drawing/2014/main" id="{28AC30CD-1ED7-412A-8788-F5018CB45440}"/>
              </a:ext>
            </a:extLst>
          </p:cNvPr>
          <p:cNvSpPr>
            <a:spLocks xmlns:a="http://schemas.openxmlformats.org/drawingml/2006/main" noGrp="1"/>
          </p:cNvSpPr>
          <p:nvPr/>
        </p:nvSpPr>
        <p:spPr>
          <a:xfrm xmlns:a="http://schemas.openxmlformats.org/drawingml/2006/main">
            <a:off x="8953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Fine-tuning / LoRA holdouts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Cardinality, role and coverage checks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KB-only routing by construction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Require terminal closure</a:t>
            </a:r>
          </a:p>
        </p:txBody>
      </p:sp>
      <p:sp>
        <p:nvSpPr>
          <p:cNvPr id="11" name="">
            <a:extLst xmlns:a="http://schemas.openxmlformats.org/drawingml/2006/main">
              <a:ext uri="{FF2B5EF4-FFF2-40B4-BE49-F238E27FC236}">
                <a16:creationId xmlns:a16="http://schemas.microsoft.com/office/drawing/2014/main" id="{C8BBF534-4666-4FFB-B59A-57ABAF02375F}"/>
              </a:ext>
            </a:extLst>
          </p:cNvPr>
          <p:cNvSpPr>
            <a:spLocks xmlns:a="http://schemas.openxmlformats.org/drawingml/2006/main" noGrp="1"/>
          </p:cNvSpPr>
          <p:nvPr/>
        </p:nvSpPr>
        <p:spPr>
          <a:xfrm xmlns:a="http://schemas.openxmlformats.org/drawingml/2006/main">
            <a:off x="42291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CAFF59-79D4-4822-8383-E85AAED38997}"/>
              </a:ext>
            </a:extLst>
          </p:cNvPr>
          <p:cNvSpPr>
            <a:spLocks xmlns:a="http://schemas.openxmlformats.org/drawingml/2006/main" noGrp="1"/>
          </p:cNvSpPr>
          <p:nvPr/>
        </p:nvSpPr>
        <p:spPr>
          <a:xfrm xmlns:a="http://schemas.openxmlformats.org/drawingml/2006/main">
            <a:off x="4229100" y="1952625"/>
            <a:ext cx="57150" cy="36385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3" name="">
            <a:extLst xmlns:a="http://schemas.openxmlformats.org/drawingml/2006/main">
              <a:ext uri="{FF2B5EF4-FFF2-40B4-BE49-F238E27FC236}">
                <a16:creationId xmlns:a16="http://schemas.microsoft.com/office/drawing/2014/main" id="{ED8FE6E0-B135-4753-B914-254B9B9029FC}"/>
              </a:ext>
            </a:extLst>
          </p:cNvPr>
          <p:cNvSpPr>
            <a:spLocks xmlns:a="http://schemas.openxmlformats.org/drawingml/2006/main" noGrp="1"/>
          </p:cNvSpPr>
          <p:nvPr/>
        </p:nvSpPr>
        <p:spPr>
          <a:xfrm xmlns:a="http://schemas.openxmlformats.org/drawingml/2006/main">
            <a:off x="44386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Embodied validation</a:t>
            </a:r>
          </a:p>
        </p:txBody>
      </p:sp>
      <p:sp>
        <p:nvSpPr>
          <p:cNvPr id="14" name="">
            <a:extLst xmlns:a="http://schemas.openxmlformats.org/drawingml/2006/main">
              <a:ext uri="{FF2B5EF4-FFF2-40B4-BE49-F238E27FC236}">
                <a16:creationId xmlns:a16="http://schemas.microsoft.com/office/drawing/2014/main" id="{D4E02055-6A14-4975-B6F8-4D51AB7AEAF5}"/>
              </a:ext>
            </a:extLst>
          </p:cNvPr>
          <p:cNvSpPr>
            <a:spLocks xmlns:a="http://schemas.openxmlformats.org/drawingml/2006/main" noGrp="1"/>
          </p:cNvSpPr>
          <p:nvPr/>
        </p:nvSpPr>
        <p:spPr>
          <a:xfrm xmlns:a="http://schemas.openxmlformats.org/drawingml/2006/main">
            <a:off x="44386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Measure perception and skills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Fresh execution-time evidence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Physical failure / cancellation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Validate a second platform</a:t>
            </a:r>
          </a:p>
        </p:txBody>
      </p:sp>
      <p:sp>
        <p:nvSpPr>
          <p:cNvPr id="15" name="">
            <a:extLst xmlns:a="http://schemas.openxmlformats.org/drawingml/2006/main">
              <a:ext uri="{FF2B5EF4-FFF2-40B4-BE49-F238E27FC236}">
                <a16:creationId xmlns:a16="http://schemas.microsoft.com/office/drawing/2014/main" id="{8112DFB5-CD39-4CE7-80ED-3C14A1376688}"/>
              </a:ext>
            </a:extLst>
          </p:cNvPr>
          <p:cNvSpPr>
            <a:spLocks xmlns:a="http://schemas.openxmlformats.org/drawingml/2006/main" noGrp="1"/>
          </p:cNvSpPr>
          <p:nvPr/>
        </p:nvSpPr>
        <p:spPr>
          <a:xfrm xmlns:a="http://schemas.openxmlformats.org/drawingml/2006/main">
            <a:off x="77724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EB8024-6208-4BD7-ACA5-5C9A4B6CBA03}"/>
              </a:ext>
            </a:extLst>
          </p:cNvPr>
          <p:cNvSpPr>
            <a:spLocks xmlns:a="http://schemas.openxmlformats.org/drawingml/2006/main" noGrp="1"/>
          </p:cNvSpPr>
          <p:nvPr/>
        </p:nvSpPr>
        <p:spPr>
          <a:xfrm xmlns:a="http://schemas.openxmlformats.org/drawingml/2006/main">
            <a:off x="7772400" y="1952625"/>
            <a:ext cx="57150" cy="36385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1C2194AE-10D0-4F74-A914-4FBB2BCAE35E}"/>
              </a:ext>
            </a:extLst>
          </p:cNvPr>
          <p:cNvSpPr>
            <a:spLocks xmlns:a="http://schemas.openxmlformats.org/drawingml/2006/main" noGrp="1"/>
          </p:cNvSpPr>
          <p:nvPr/>
        </p:nvSpPr>
        <p:spPr>
          <a:xfrm xmlns:a="http://schemas.openxmlformats.org/drawingml/2006/main">
            <a:off x="79819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Reproducible evidence</a:t>
            </a:r>
          </a:p>
        </p:txBody>
      </p:sp>
      <p:sp>
        <p:nvSpPr>
          <p:cNvPr id="18" name="">
            <a:extLst xmlns:a="http://schemas.openxmlformats.org/drawingml/2006/main">
              <a:ext uri="{FF2B5EF4-FFF2-40B4-BE49-F238E27FC236}">
                <a16:creationId xmlns:a16="http://schemas.microsoft.com/office/drawing/2014/main" id="{D332DD2D-56F0-444B-9453-DFDCD116E391}"/>
              </a:ext>
            </a:extLst>
          </p:cNvPr>
          <p:cNvSpPr>
            <a:spLocks xmlns:a="http://schemas.openxmlformats.org/drawingml/2006/main" noGrp="1"/>
          </p:cNvSpPr>
          <p:nvPr/>
        </p:nvSpPr>
        <p:spPr>
          <a:xfrm xmlns:a="http://schemas.openxmlformats.org/drawingml/2006/main">
            <a:off x="79819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Immutable source/run artifacts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Independent repeated campaigns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Separate model, software, harness and physical outcomes</a:t>
            </a:r>
          </a:p>
        </p:txBody>
      </p:sp>
      <p:sp>
        <p:nvSpPr>
          <p:cNvPr id="19" name="">
            <a:extLst xmlns:a="http://schemas.openxmlformats.org/drawingml/2006/main">
              <a:ext uri="{FF2B5EF4-FFF2-40B4-BE49-F238E27FC236}">
                <a16:creationId xmlns:a16="http://schemas.microsoft.com/office/drawing/2014/main" id="{48C2767F-03D0-40AA-BA7A-57B879BE5078}"/>
              </a:ext>
            </a:extLst>
          </p:cNvPr>
          <p:cNvSpPr>
            <a:spLocks xmlns:a="http://schemas.openxmlformats.org/drawingml/2006/main" noGrp="1"/>
          </p:cNvSpPr>
          <p:nvPr/>
        </p:nvSpPr>
        <p:spPr>
          <a:xfrm xmlns:a="http://schemas.openxmlformats.org/drawingml/2006/main">
            <a:off x="685800" y="58197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Promote capability only with evidence appropriate to the claim.</a:t>
            </a:r>
          </a:p>
        </p:txBody>
      </p:sp>
    </p:spTree>
    <p:extLst>
      <p:ext uri="{BB962C8B-B14F-4D97-AF65-F5344CB8AC3E}">
        <p14:creationId xmlns:p14="http://schemas.microsoft.com/office/powerpoint/2010/main" val="176113543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FC17A4-BD84-4D1E-A264-EF8E80FE32C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BBBA443-BA14-4EA1-AF8D-9570EDA07D2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6A29417-BE02-4A0B-8FD6-2C28230F3C83}"/>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CONTRIBUTIONS</a:t>
            </a:r>
          </a:p>
        </p:txBody>
      </p:sp>
      <p:sp>
        <p:nvSpPr>
          <p:cNvPr id="4" name="">
            <a:extLst xmlns:a="http://schemas.openxmlformats.org/drawingml/2006/main">
              <a:ext uri="{FF2B5EF4-FFF2-40B4-BE49-F238E27FC236}">
                <a16:creationId xmlns:a16="http://schemas.microsoft.com/office/drawing/2014/main" id="{2728C81E-E13F-4F51-9458-C483945C0CFA}"/>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D2C04787-4262-4A1D-B3DC-62494972B5CC}"/>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CONTRIBUTIONS</a:t>
            </a:r>
          </a:p>
        </p:txBody>
      </p:sp>
      <p:sp>
        <p:nvSpPr>
          <p:cNvPr id="6" name="">
            <a:extLst xmlns:a="http://schemas.openxmlformats.org/drawingml/2006/main">
              <a:ext uri="{FF2B5EF4-FFF2-40B4-BE49-F238E27FC236}">
                <a16:creationId xmlns:a16="http://schemas.microsoft.com/office/drawing/2014/main" id="{B7555BF5-4CF8-47E7-A00F-83AF7DB65E47}"/>
              </a:ext>
            </a:extLst>
          </p:cNvPr>
          <p:cNvSpPr>
            <a:spLocks xmlns:a="http://schemas.openxmlformats.org/drawingml/2006/main" noGrp="1"/>
          </p:cNvSpPr>
          <p:nvPr/>
        </p:nvSpPr>
        <p:spPr>
          <a:xfrm xmlns:a="http://schemas.openxmlformats.org/drawingml/2006/main">
            <a:off x="685800" y="838200"/>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Architecture, execution contracts and validation.</a:t>
            </a:r>
          </a:p>
        </p:txBody>
      </p:sp>
      <p:sp>
        <p:nvSpPr>
          <p:cNvPr id="7" name="">
            <a:extLst xmlns:a="http://schemas.openxmlformats.org/drawingml/2006/main">
              <a:ext uri="{FF2B5EF4-FFF2-40B4-BE49-F238E27FC236}">
                <a16:creationId xmlns:a16="http://schemas.microsoft.com/office/drawing/2014/main" id="{3EFB1288-38BD-4B28-A2E0-DCC6E3BF8DB9}"/>
              </a:ext>
            </a:extLst>
          </p:cNvPr>
          <p:cNvSpPr>
            <a:spLocks xmlns:a="http://schemas.openxmlformats.org/drawingml/2006/main" noGrp="1"/>
          </p:cNvSpPr>
          <p:nvPr/>
        </p:nvSpPr>
        <p:spPr>
          <a:xfrm xmlns:a="http://schemas.openxmlformats.org/drawingml/2006/main">
            <a:off x="6858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490F861A-2206-4BB0-8C9E-89DD4E73E3B6}"/>
              </a:ext>
            </a:extLst>
          </p:cNvPr>
          <p:cNvSpPr>
            <a:spLocks xmlns:a="http://schemas.openxmlformats.org/drawingml/2006/main" noGrp="1"/>
          </p:cNvSpPr>
          <p:nvPr/>
        </p:nvSpPr>
        <p:spPr>
          <a:xfrm xmlns:a="http://schemas.openxmlformats.org/drawingml/2006/main">
            <a:off x="8191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ADB1ED4A-EB41-4EC8-AE19-7ED81B6134EE}"/>
              </a:ext>
            </a:extLst>
          </p:cNvPr>
          <p:cNvSpPr>
            <a:spLocks xmlns:a="http://schemas.openxmlformats.org/drawingml/2006/main" noGrp="1"/>
          </p:cNvSpPr>
          <p:nvPr/>
        </p:nvSpPr>
        <p:spPr>
          <a:xfrm xmlns:a="http://schemas.openxmlformats.org/drawingml/2006/main">
            <a:off x="8382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F57DDA0C-4419-4D99-8DDE-13181765925D}"/>
              </a:ext>
            </a:extLst>
          </p:cNvPr>
          <p:cNvSpPr>
            <a:spLocks xmlns:a="http://schemas.openxmlformats.org/drawingml/2006/main" noGrp="1"/>
          </p:cNvSpPr>
          <p:nvPr/>
        </p:nvSpPr>
        <p:spPr>
          <a:xfrm xmlns:a="http://schemas.openxmlformats.org/drawingml/2006/main">
            <a:off x="8572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Integrated dialogue, grounding, planning, orchestration and robot adapters with explicit ownership.</a:t>
            </a:r>
          </a:p>
        </p:txBody>
      </p:sp>
      <p:sp>
        <p:nvSpPr>
          <p:cNvPr id="11" name="">
            <a:extLst xmlns:a="http://schemas.openxmlformats.org/drawingml/2006/main">
              <a:ext uri="{FF2B5EF4-FFF2-40B4-BE49-F238E27FC236}">
                <a16:creationId xmlns:a16="http://schemas.microsoft.com/office/drawing/2014/main" id="{E86107F3-7348-43E2-A439-6EB6B9DEBD87}"/>
              </a:ext>
            </a:extLst>
          </p:cNvPr>
          <p:cNvSpPr>
            <a:spLocks xmlns:a="http://schemas.openxmlformats.org/drawingml/2006/main" noGrp="1"/>
          </p:cNvSpPr>
          <p:nvPr/>
        </p:nvSpPr>
        <p:spPr>
          <a:xfrm xmlns:a="http://schemas.openxmlformats.org/drawingml/2006/main">
            <a:off x="42291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FD477EB9-E6DE-4879-AA0B-3EDC7A47032E}"/>
              </a:ext>
            </a:extLst>
          </p:cNvPr>
          <p:cNvSpPr>
            <a:spLocks xmlns:a="http://schemas.openxmlformats.org/drawingml/2006/main" noGrp="1"/>
          </p:cNvSpPr>
          <p:nvPr/>
        </p:nvSpPr>
        <p:spPr>
          <a:xfrm xmlns:a="http://schemas.openxmlformats.org/drawingml/2006/main">
            <a:off x="43624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FDF44746-3D89-449F-87DF-02CACB85476E}"/>
              </a:ext>
            </a:extLst>
          </p:cNvPr>
          <p:cNvSpPr>
            <a:spLocks xmlns:a="http://schemas.openxmlformats.org/drawingml/2006/main" noGrp="1"/>
          </p:cNvSpPr>
          <p:nvPr/>
        </p:nvSpPr>
        <p:spPr>
          <a:xfrm xmlns:a="http://schemas.openxmlformats.org/drawingml/2006/main">
            <a:off x="43815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Containment</a:t>
            </a:r>
          </a:p>
        </p:txBody>
      </p:sp>
      <p:sp>
        <p:nvSpPr>
          <p:cNvPr id="14" name="">
            <a:extLst xmlns:a="http://schemas.openxmlformats.org/drawingml/2006/main">
              <a:ext uri="{FF2B5EF4-FFF2-40B4-BE49-F238E27FC236}">
                <a16:creationId xmlns:a16="http://schemas.microsoft.com/office/drawing/2014/main" id="{4E0E61A4-9FE1-4E07-933C-47C6029F5882}"/>
              </a:ext>
            </a:extLst>
          </p:cNvPr>
          <p:cNvSpPr>
            <a:spLocks xmlns:a="http://schemas.openxmlformats.org/drawingml/2006/main" noGrp="1"/>
          </p:cNvSpPr>
          <p:nvPr/>
        </p:nvSpPr>
        <p:spPr>
          <a:xfrm xmlns:a="http://schemas.openxmlformats.org/drawingml/2006/main">
            <a:off x="44005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Reviewed skill definitions, typed payloads and deterministic checks constrain model-generated proposals.</a:t>
            </a:r>
          </a:p>
        </p:txBody>
      </p:sp>
      <p:sp>
        <p:nvSpPr>
          <p:cNvPr id="15" name="">
            <a:extLst xmlns:a="http://schemas.openxmlformats.org/drawingml/2006/main">
              <a:ext uri="{FF2B5EF4-FFF2-40B4-BE49-F238E27FC236}">
                <a16:creationId xmlns:a16="http://schemas.microsoft.com/office/drawing/2014/main" id="{67F2FB3D-9D50-4D32-A4A7-AA92269BA3EF}"/>
              </a:ext>
            </a:extLst>
          </p:cNvPr>
          <p:cNvSpPr>
            <a:spLocks xmlns:a="http://schemas.openxmlformats.org/drawingml/2006/main" noGrp="1"/>
          </p:cNvSpPr>
          <p:nvPr/>
        </p:nvSpPr>
        <p:spPr>
          <a:xfrm xmlns:a="http://schemas.openxmlformats.org/drawingml/2006/main">
            <a:off x="77724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35E0A581-6652-416B-99DE-DD0EBD054B26}"/>
              </a:ext>
            </a:extLst>
          </p:cNvPr>
          <p:cNvSpPr>
            <a:spLocks xmlns:a="http://schemas.openxmlformats.org/drawingml/2006/main" noGrp="1"/>
          </p:cNvSpPr>
          <p:nvPr/>
        </p:nvSpPr>
        <p:spPr>
          <a:xfrm xmlns:a="http://schemas.openxmlformats.org/drawingml/2006/main">
            <a:off x="79057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D0E98B94-161E-4F6C-A793-14B2D38610BB}"/>
              </a:ext>
            </a:extLst>
          </p:cNvPr>
          <p:cNvSpPr>
            <a:spLocks xmlns:a="http://schemas.openxmlformats.org/drawingml/2006/main" noGrp="1"/>
          </p:cNvSpPr>
          <p:nvPr/>
        </p:nvSpPr>
        <p:spPr>
          <a:xfrm xmlns:a="http://schemas.openxmlformats.org/drawingml/2006/main">
            <a:off x="79248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Qualification</a:t>
            </a:r>
          </a:p>
        </p:txBody>
      </p:sp>
      <p:sp>
        <p:nvSpPr>
          <p:cNvPr id="18" name="">
            <a:extLst xmlns:a="http://schemas.openxmlformats.org/drawingml/2006/main">
              <a:ext uri="{FF2B5EF4-FFF2-40B4-BE49-F238E27FC236}">
                <a16:creationId xmlns:a16="http://schemas.microsoft.com/office/drawing/2014/main" id="{75D54AEE-7F6C-43DB-B3F9-625A56CA4AC5}"/>
              </a:ext>
            </a:extLst>
          </p:cNvPr>
          <p:cNvSpPr>
            <a:spLocks xmlns:a="http://schemas.openxmlformats.org/drawingml/2006/main" noGrp="1"/>
          </p:cNvSpPr>
          <p:nvPr/>
        </p:nvSpPr>
        <p:spPr>
          <a:xfrm xmlns:a="http://schemas.openxmlformats.org/drawingml/2006/main">
            <a:off x="79438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Controlled cases, retained traces, symbolic postconditions and human-supervised agent-assisted iteration.</a:t>
            </a:r>
          </a:p>
        </p:txBody>
      </p:sp>
      <p:sp>
        <p:nvSpPr>
          <p:cNvPr id="19" name="">
            <a:extLst xmlns:a="http://schemas.openxmlformats.org/drawingml/2006/main">
              <a:ext uri="{FF2B5EF4-FFF2-40B4-BE49-F238E27FC236}">
                <a16:creationId xmlns:a16="http://schemas.microsoft.com/office/drawing/2014/main" id="{CBB53F58-F064-4CAD-8B9C-9E8A00091BA0}"/>
              </a:ext>
            </a:extLst>
          </p:cNvPr>
          <p:cNvSpPr>
            <a:spLocks xmlns:a="http://schemas.openxmlformats.org/drawingml/2006/main" noGrp="1"/>
          </p:cNvSpPr>
          <p:nvPr/>
        </p:nvSpPr>
        <p:spPr>
          <a:xfrm xmlns:a="http://schemas.openxmlformats.org/drawingml/2006/main">
            <a:off x="1476375" y="561975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An inspectable integration—not a new foundation model or a proof of unrestricted autonomy.</a:t>
            </a:r>
          </a:p>
        </p:txBody>
      </p:sp>
    </p:spTree>
    <p:extLst>
      <p:ext uri="{BB962C8B-B14F-4D97-AF65-F5344CB8AC3E}">
        <p14:creationId xmlns:p14="http://schemas.microsoft.com/office/powerpoint/2010/main" val="123061908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B0F767-CE06-4E9F-8375-4F06232FBE76}"/>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D361200-5005-4EAD-90B1-FF94ED2C20B5}"/>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060C6EC-4F74-451A-93CC-19B512AE3085}"/>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AC80ADAD-228A-4BD4-9EF6-EF07980506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3A23F599-CB26-44CA-9420-4BCC45252034}"/>
              </a:ext>
            </a:extLst>
          </p:cNvPr>
          <p:cNvSpPr>
            <a:spLocks xmlns:a="http://schemas.openxmlformats.org/drawingml/2006/main" noGrp="1"/>
          </p:cNvSpPr>
          <p:nvPr/>
        </p:nvSpPr>
        <p:spPr>
          <a:xfrm xmlns:a="http://schemas.openxmlformats.org/drawingml/2006/main">
            <a:off x="685800" y="6477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CONCLUSION</a:t>
            </a:r>
          </a:p>
        </p:txBody>
      </p:sp>
      <p:sp>
        <p:nvSpPr>
          <p:cNvPr id="6" name="">
            <a:extLst xmlns:a="http://schemas.openxmlformats.org/drawingml/2006/main">
              <a:ext uri="{FF2B5EF4-FFF2-40B4-BE49-F238E27FC236}">
                <a16:creationId xmlns:a16="http://schemas.microsoft.com/office/drawing/2014/main" id="{D1BD6021-B208-46CF-B13A-38B0C1E73674}"/>
              </a:ext>
            </a:extLst>
          </p:cNvPr>
          <p:cNvSpPr>
            <a:spLocks xmlns:a="http://schemas.openxmlformats.org/drawingml/2006/main" noGrp="1"/>
          </p:cNvSpPr>
          <p:nvPr/>
        </p:nvSpPr>
        <p:spPr>
          <a:xfrm xmlns:a="http://schemas.openxmlformats.org/drawingml/2006/main">
            <a:off x="685800" y="12573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7" name="">
            <a:extLst xmlns:a="http://schemas.openxmlformats.org/drawingml/2006/main">
              <a:ext uri="{FF2B5EF4-FFF2-40B4-BE49-F238E27FC236}">
                <a16:creationId xmlns:a16="http://schemas.microsoft.com/office/drawing/2014/main" id="{9E75FBDB-4311-4778-914A-DB5DF48318A0}"/>
              </a:ext>
            </a:extLst>
          </p:cNvPr>
          <p:cNvSpPr>
            <a:spLocks xmlns:a="http://schemas.openxmlformats.org/drawingml/2006/main" noGrp="1"/>
          </p:cNvSpPr>
          <p:nvPr/>
        </p:nvSpPr>
        <p:spPr>
          <a:xfrm xmlns:a="http://schemas.openxmlformats.org/drawingml/2006/main">
            <a:off x="1047750" y="1200150"/>
            <a:ext cx="9715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Language-model dialogue and planning can participate in an integrated robot architecture when their outputs are grounded, validated against reviewed skills, dispatched deterministically, and checked against typed feedback and symbolic postconditions.</a:t>
            </a:r>
          </a:p>
        </p:txBody>
      </p:sp>
      <p:sp>
        <p:nvSpPr>
          <p:cNvPr id="8" name="">
            <a:extLst xmlns:a="http://schemas.openxmlformats.org/drawingml/2006/main">
              <a:ext uri="{FF2B5EF4-FFF2-40B4-BE49-F238E27FC236}">
                <a16:creationId xmlns:a16="http://schemas.microsoft.com/office/drawing/2014/main" id="{A37976B1-DDA1-4968-9F90-5F357DAD77D3}"/>
              </a:ext>
            </a:extLst>
          </p:cNvPr>
          <p:cNvSpPr>
            <a:spLocks xmlns:a="http://schemas.openxmlformats.org/drawingml/2006/main" noGrp="1"/>
          </p:cNvSpPr>
          <p:nvPr/>
        </p:nvSpPr>
        <p:spPr>
          <a:xfrm xmlns:a="http://schemas.openxmlformats.org/drawingml/2006/main">
            <a:off x="1047750" y="4333875"/>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073F47"/>
                </a:solidFill>
                <a:latin typeface="Georgia"/>
                <a:ea typeface="Georgia"/>
                <a:cs typeface="Georgia"/>
              </a:defRPr>
            </a:pPr>
            <a:r>
              <a:rPr sz="2250" b="1" i="0">
                <a:solidFill>
                  <a:srgbClr val="073F47"/>
                </a:solidFill>
                <a:latin typeface="Georgia"/>
                <a:ea typeface="Georgia"/>
                <a:cs typeface="Georgia"/>
              </a:rPr>
              <a:t>The boundaries do not eliminate non-determinism. They make it observable and restrict its execution authority.</a:t>
            </a:r>
          </a:p>
        </p:txBody>
      </p:sp>
      <p:sp>
        <p:nvSpPr>
          <p:cNvPr id="9" name="">
            <a:extLst xmlns:a="http://schemas.openxmlformats.org/drawingml/2006/main">
              <a:ext uri="{FF2B5EF4-FFF2-40B4-BE49-F238E27FC236}">
                <a16:creationId xmlns:a16="http://schemas.microsoft.com/office/drawing/2014/main" id="{36B0F1FD-EF27-48E9-B4E3-31C939E59C84}"/>
              </a:ext>
            </a:extLst>
          </p:cNvPr>
          <p:cNvSpPr>
            <a:spLocks xmlns:a="http://schemas.openxmlformats.org/drawingml/2006/main" noGrp="1"/>
          </p:cNvSpPr>
          <p:nvPr/>
        </p:nvSpPr>
        <p:spPr>
          <a:xfrm xmlns:a="http://schemas.openxmlformats.org/drawingml/2006/main">
            <a:off x="1047750" y="57150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B6770"/>
                </a:solidFill>
                <a:latin typeface="Arial"/>
                <a:ea typeface="Arial"/>
                <a:cs typeface="Arial"/>
              </a:defRPr>
            </a:pPr>
            <a:r>
              <a:rPr sz="1725" b="0" i="0">
                <a:solidFill>
                  <a:srgbClr val="5B6770"/>
                </a:solidFill>
                <a:latin typeface="Arial"/>
                <a:ea typeface="Arial"/>
                <a:cs typeface="Arial"/>
              </a:rPr>
              <a:t>Thank you. I welcome your questions.</a:t>
            </a:r>
          </a:p>
        </p:txBody>
      </p:sp>
      <p:sp>
        <p:nvSpPr>
          <p:cNvPr id="10" name="">
            <a:extLst xmlns:a="http://schemas.openxmlformats.org/drawingml/2006/main">
              <a:ext uri="{FF2B5EF4-FFF2-40B4-BE49-F238E27FC236}">
                <a16:creationId xmlns:a16="http://schemas.microsoft.com/office/drawing/2014/main" id="{DC9AEA76-4654-4ACD-9EE3-C56CAE8CEA20}"/>
              </a:ext>
            </a:extLst>
          </p:cNvPr>
          <p:cNvSpPr>
            <a:spLocks xmlns:a="http://schemas.openxmlformats.org/drawingml/2006/main" noGrp="1"/>
          </p:cNvSpPr>
          <p:nvPr/>
        </p:nvSpPr>
        <p:spPr>
          <a:xfrm xmlns:a="http://schemas.openxmlformats.org/drawingml/2006/main">
            <a:off x="82867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770"/>
                </a:solidFill>
                <a:latin typeface="Arial"/>
                <a:ea typeface="Arial"/>
                <a:cs typeface="Arial"/>
              </a:defRPr>
            </a:pPr>
            <a:r>
              <a:rPr sz="1050" b="0" i="0">
                <a:solidFill>
                  <a:srgbClr val="5B6770"/>
                </a:solidFill>
                <a:latin typeface="Arial"/>
                <a:ea typeface="Arial"/>
                <a:cs typeface="Arial"/>
              </a:rPr>
              <a:t>IIIA-CSIC  •  UAB  •  JAE-ICU 2025</a:t>
            </a:r>
          </a:p>
        </p:txBody>
      </p:sp>
    </p:spTree>
    <p:extLst>
      <p:ext uri="{BB962C8B-B14F-4D97-AF65-F5344CB8AC3E}">
        <p14:creationId xmlns:p14="http://schemas.microsoft.com/office/powerpoint/2010/main" val="1823469721"/>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QUESTIONS</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009560-B358-4DB8-9405-28D879E2548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8F51BE-BB3E-469B-BF89-D3120B3C9D2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9D868A8-1206-4017-87C3-78A316432CF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FAB95765-2A3C-4951-84D3-ECB26DEB469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C3E4DAD4-84FC-4475-A5C7-7D967408539A}"/>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RESULTS</a:t>
            </a:r>
          </a:p>
        </p:txBody>
      </p:sp>
      <p:sp>
        <p:nvSpPr>
          <p:cNvPr id="6" name="">
            <a:extLst xmlns:a="http://schemas.openxmlformats.org/drawingml/2006/main">
              <a:ext uri="{FF2B5EF4-FFF2-40B4-BE49-F238E27FC236}">
                <a16:creationId xmlns:a16="http://schemas.microsoft.com/office/drawing/2014/main" id="{884A566F-CD2D-47E7-947F-870285FA5493}"/>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Detailed primary results</a:t>
            </a:r>
          </a:p>
        </p:txBody>
      </p:sp>
      <p:graphicFrame>
        <p:nvGraphicFramePr>
          <p:cNvPr id="16" name=""/>
          <p:cNvGraphicFramePr/>
          <p:nvPr/>
        </p:nvGraphicFramePr>
        <p:xfrm>
          <a:off xmlns:a="http://schemas.openxmlformats.org/drawingml/2006/main" x="685800" y="1809750"/>
          <a:ext xmlns:a="http://schemas.openxmlformats.org/drawingml/2006/main" cx="10191750" cy="3905250"/>
        </p:xfrm>
        <a:graphic xmlns:a="http://schemas.openxmlformats.org/drawingml/2006/main">
          <a:graphicData uri="http://schemas.openxmlformats.org/drawingml/2006/table">
            <a:tbl>
              <a:tblPr/>
              <a:tblGrid>
                <a:gridCol w="2952750"/>
                <a:gridCol w="1047750"/>
                <a:gridCol w="1047750"/>
                <a:gridCol w="5143500"/>
              </a:tblGrid>
              <a:tr h="488156">
                <a:tc>
                  <a:txBody>
                    <a:bodyPr/>
                    <a:lstStyle/>
                    <a:p>
                      <a:r>
                        <a:rPr sz="1425" b="1">
                          <a:solidFill>
                            <a:srgbClr val="FFFFFF"/>
                          </a:solidFill>
                          <a:latin typeface="Arial"/>
                          <a:ea typeface="Arial"/>
                          <a:cs typeface="Arial"/>
                        </a:rPr>
                        <a:t>Suite</a:t>
                      </a:r>
                    </a:p>
                  </a:txBody>
                  <a:tcPr marL="91440" marR="91440" marT="45720" marB="45720">
                    <a:solidFill>
                      <a:srgbClr val="073F47"/>
                    </a:solidFill>
                  </a:tcPr>
                </a:tc>
                <a:tc>
                  <a:txBody>
                    <a:bodyPr/>
                    <a:lstStyle/>
                    <a:p>
                      <a:r>
                        <a:rPr sz="1425" b="1">
                          <a:solidFill>
                            <a:srgbClr val="FFFFFF"/>
                          </a:solidFill>
                          <a:latin typeface="Arial"/>
                          <a:ea typeface="Arial"/>
                          <a:cs typeface="Arial"/>
                        </a:rPr>
                        <a:t>Pass</a:t>
                      </a:r>
                    </a:p>
                  </a:txBody>
                  <a:tcPr marL="91440" marR="91440" marT="45720" marB="45720">
                    <a:solidFill>
                      <a:srgbClr val="073F47"/>
                    </a:solidFill>
                  </a:tcPr>
                </a:tc>
                <a:tc>
                  <a:txBody>
                    <a:bodyPr/>
                    <a:lstStyle/>
                    <a:p>
                      <a:r>
                        <a:rPr sz="1425" b="1">
                          <a:solidFill>
                            <a:srgbClr val="FFFFFF"/>
                          </a:solidFill>
                          <a:latin typeface="Arial"/>
                          <a:ea typeface="Arial"/>
                          <a:cs typeface="Arial"/>
                        </a:rPr>
                        <a:t>Non-pass</a:t>
                      </a:r>
                    </a:p>
                  </a:txBody>
                  <a:tcPr marL="91440" marR="91440" marT="45720" marB="45720">
                    <a:solidFill>
                      <a:srgbClr val="073F47"/>
                    </a:solidFill>
                  </a:tcPr>
                </a:tc>
                <a:tc>
                  <a:txBody>
                    <a:bodyPr/>
                    <a:lstStyle/>
                    <a:p>
                      <a:r>
                        <a:rPr sz="1425" b="1">
                          <a:solidFill>
                            <a:srgbClr val="FFFFFF"/>
                          </a:solidFill>
                          <a:latin typeface="Arial"/>
                          <a:ea typeface="Arial"/>
                          <a:cs typeface="Arial"/>
                        </a:rPr>
                        <a:t>Total / pass rate</a:t>
                      </a:r>
                    </a:p>
                  </a:txBody>
                  <a:tcPr marL="91440" marR="91440" marT="45720" marB="45720">
                    <a:solidFill>
                      <a:srgbClr val="073F47"/>
                    </a:solidFill>
                  </a:tcPr>
                </a:tc>
              </a:tr>
              <a:tr h="488156">
                <a:tc>
                  <a:txBody>
                    <a:bodyPr/>
                    <a:lstStyle/>
                    <a:p>
                      <a:r>
                        <a:rPr sz="1425" b="0">
                          <a:solidFill>
                            <a:srgbClr val="073F47"/>
                          </a:solidFill>
                          <a:latin typeface="Arial"/>
                          <a:ea typeface="Arial"/>
                          <a:cs typeface="Arial"/>
                        </a:rPr>
                        <a:t>End-to-end</a:t>
                      </a:r>
                    </a:p>
                  </a:txBody>
                  <a:tcPr marL="91440" marR="91440" marT="45720" marB="45720"/>
                </a:tc>
                <a:tc>
                  <a:txBody>
                    <a:bodyPr/>
                    <a:lstStyle/>
                    <a:p>
                      <a:r>
                        <a:rPr sz="1425" b="0">
                          <a:solidFill>
                            <a:srgbClr val="073F47"/>
                          </a:solidFill>
                          <a:latin typeface="Arial"/>
                          <a:ea typeface="Arial"/>
                          <a:cs typeface="Arial"/>
                        </a:rPr>
                        <a:t>20</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22 cases · 90.9%</a:t>
                      </a:r>
                    </a:p>
                  </a:txBody>
                  <a:tcPr marL="91440" marR="91440" marT="45720" marB="45720"/>
                </a:tc>
              </a:tr>
              <a:tr h="488156">
                <a:tc>
                  <a:txBody>
                    <a:bodyPr/>
                    <a:lstStyle/>
                    <a:p>
                      <a:r>
                        <a:rPr sz="1425" b="0">
                          <a:solidFill>
                            <a:srgbClr val="073F47"/>
                          </a:solidFill>
                          <a:latin typeface="Arial"/>
                          <a:ea typeface="Arial"/>
                          <a:cs typeface="Arial"/>
                        </a:rPr>
                        <a:t>Scene / grounding</a:t>
                      </a:r>
                    </a:p>
                  </a:txBody>
                  <a:tcPr marL="91440" marR="91440" marT="45720" marB="45720"/>
                </a:tc>
                <a:tc>
                  <a:txBody>
                    <a:bodyPr/>
                    <a:lstStyle/>
                    <a:p>
                      <a:r>
                        <a:rPr sz="1425" b="0">
                          <a:solidFill>
                            <a:srgbClr val="073F47"/>
                          </a:solidFill>
                          <a:latin typeface="Arial"/>
                          <a:ea typeface="Arial"/>
                          <a:cs typeface="Arial"/>
                        </a:rPr>
                        <a:t>11</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11 cases · 100%</a:t>
                      </a:r>
                    </a:p>
                  </a:txBody>
                  <a:tcPr marL="91440" marR="91440" marT="45720" marB="45720"/>
                </a:tc>
              </a:tr>
              <a:tr h="488156">
                <a:tc>
                  <a:txBody>
                    <a:bodyPr/>
                    <a:lstStyle/>
                    <a:p>
                      <a:r>
                        <a:rPr sz="1425" b="0">
                          <a:solidFill>
                            <a:srgbClr val="073F47"/>
                          </a:solidFill>
                          <a:latin typeface="Arial"/>
                          <a:ea typeface="Arial"/>
                          <a:cs typeface="Arial"/>
                        </a:rPr>
                        <a:t>Stateful KB</a:t>
                      </a:r>
                    </a:p>
                  </a:txBody>
                  <a:tcPr marL="91440" marR="91440" marT="45720" marB="45720"/>
                </a:tc>
                <a:tc>
                  <a:txBody>
                    <a:bodyPr/>
                    <a:lstStyle/>
                    <a:p>
                      <a:r>
                        <a:rPr sz="1425" b="0">
                          <a:solidFill>
                            <a:srgbClr val="073F47"/>
                          </a:solidFill>
                          <a:latin typeface="Arial"/>
                          <a:ea typeface="Arial"/>
                          <a:cs typeface="Arial"/>
                        </a:rPr>
                        <a:t>7</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7 cases · 100%</a:t>
                      </a:r>
                    </a:p>
                  </a:txBody>
                  <a:tcPr marL="91440" marR="91440" marT="45720" marB="45720"/>
                </a:tc>
              </a:tr>
              <a:tr h="488156">
                <a:tc>
                  <a:txBody>
                    <a:bodyPr/>
                    <a:lstStyle/>
                    <a:p>
                      <a:r>
                        <a:rPr sz="1425" b="0">
                          <a:solidFill>
                            <a:srgbClr val="073F47"/>
                          </a:solidFill>
                          <a:latin typeface="Arial"/>
                          <a:ea typeface="Arial"/>
                          <a:cs typeface="Arial"/>
                        </a:rPr>
                        <a:t>Multi-step</a:t>
                      </a:r>
                    </a:p>
                  </a:txBody>
                  <a:tcPr marL="91440" marR="91440" marT="45720" marB="45720"/>
                </a:tc>
                <a:tc>
                  <a:txBody>
                    <a:bodyPr/>
                    <a:lstStyle/>
                    <a:p>
                      <a:r>
                        <a:rPr sz="1425" b="0">
                          <a:solidFill>
                            <a:srgbClr val="073F47"/>
                          </a:solidFill>
                          <a:latin typeface="Arial"/>
                          <a:ea typeface="Arial"/>
                          <a:cs typeface="Arial"/>
                        </a:rPr>
                        <a:t>7</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9 cases · 77.8%</a:t>
                      </a:r>
                    </a:p>
                  </a:txBody>
                  <a:tcPr marL="91440" marR="91440" marT="45720" marB="45720"/>
                </a:tc>
              </a:tr>
              <a:tr h="488156">
                <a:tc>
                  <a:txBody>
                    <a:bodyPr/>
                    <a:lstStyle/>
                    <a:p>
                      <a:r>
                        <a:rPr sz="1425" b="0">
                          <a:solidFill>
                            <a:srgbClr val="073F47"/>
                          </a:solidFill>
                          <a:latin typeface="Arial"/>
                          <a:ea typeface="Arial"/>
                          <a:cs typeface="Arial"/>
                        </a:rPr>
                        <a:t>Robustness</a:t>
                      </a:r>
                    </a:p>
                  </a:txBody>
                  <a:tcPr marL="91440" marR="91440" marT="45720" marB="45720"/>
                </a:tc>
                <a:tc>
                  <a:txBody>
                    <a:bodyPr/>
                    <a:lstStyle/>
                    <a:p>
                      <a:r>
                        <a:rPr sz="1425" b="0">
                          <a:solidFill>
                            <a:srgbClr val="073F47"/>
                          </a:solidFill>
                          <a:latin typeface="Arial"/>
                          <a:ea typeface="Arial"/>
                          <a:cs typeface="Arial"/>
                        </a:rPr>
                        <a:t>12</a:t>
                      </a:r>
                    </a:p>
                  </a:txBody>
                  <a:tcPr marL="91440" marR="91440" marT="45720" marB="45720"/>
                </a:tc>
                <a:tc>
                  <a:txBody>
                    <a:bodyPr/>
                    <a:lstStyle/>
                    <a:p>
                      <a:r>
                        <a:rPr sz="1425" b="0">
                          <a:solidFill>
                            <a:srgbClr val="073F47"/>
                          </a:solidFill>
                          <a:latin typeface="Arial"/>
                          <a:ea typeface="Arial"/>
                          <a:cs typeface="Arial"/>
                        </a:rPr>
                        <a:t>3</a:t>
                      </a:r>
                    </a:p>
                  </a:txBody>
                  <a:tcPr marL="91440" marR="91440" marT="45720" marB="45720"/>
                </a:tc>
                <a:tc>
                  <a:txBody>
                    <a:bodyPr/>
                    <a:lstStyle/>
                    <a:p>
                      <a:r>
                        <a:rPr sz="1425" b="0">
                          <a:solidFill>
                            <a:srgbClr val="073F47"/>
                          </a:solidFill>
                          <a:latin typeface="Arial"/>
                          <a:ea typeface="Arial"/>
                          <a:cs typeface="Arial"/>
                        </a:rPr>
                        <a:t>15 cases · 80.0%</a:t>
                      </a:r>
                    </a:p>
                  </a:txBody>
                  <a:tcPr marL="91440" marR="91440" marT="45720" marB="45720"/>
                </a:tc>
              </a:tr>
              <a:tr h="488156">
                <a:tc>
                  <a:txBody>
                    <a:bodyPr/>
                    <a:lstStyle/>
                    <a:p>
                      <a:r>
                        <a:rPr sz="1425" b="0">
                          <a:solidFill>
                            <a:srgbClr val="073F47"/>
                          </a:solidFill>
                          <a:latin typeface="Arial"/>
                          <a:ea typeface="Arial"/>
                          <a:cs typeface="Arial"/>
                        </a:rPr>
                        <a:t>Multi-capability</a:t>
                      </a:r>
                    </a:p>
                  </a:txBody>
                  <a:tcPr marL="91440" marR="91440" marT="45720" marB="45720"/>
                </a:tc>
                <a:tc>
                  <a:txBody>
                    <a:bodyPr/>
                    <a:lstStyle/>
                    <a:p>
                      <a:r>
                        <a:rPr sz="1425" b="0">
                          <a:solidFill>
                            <a:srgbClr val="073F47"/>
                          </a:solidFill>
                          <a:latin typeface="Arial"/>
                          <a:ea typeface="Arial"/>
                          <a:cs typeface="Arial"/>
                        </a:rPr>
                        <a:t>5</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7 cases · 71.4%</a:t>
                      </a:r>
                    </a:p>
                  </a:txBody>
                  <a:tcPr marL="91440" marR="91440" marT="45720" marB="45720"/>
                </a:tc>
              </a:tr>
              <a:tr h="488156">
                <a:tc>
                  <a:txBody>
                    <a:bodyPr/>
                    <a:lstStyle/>
                    <a:p>
                      <a:r>
                        <a:rPr sz="1425" b="0">
                          <a:solidFill>
                            <a:srgbClr val="073F47"/>
                          </a:solidFill>
                          <a:latin typeface="Arial"/>
                          <a:ea typeface="Arial"/>
                          <a:cs typeface="Arial"/>
                        </a:rPr>
                        <a:t>Navigation recovery</a:t>
                      </a:r>
                    </a:p>
                  </a:txBody>
                  <a:tcPr marL="91440" marR="91440" marT="45720" marB="45720"/>
                </a:tc>
                <a:tc>
                  <a:txBody>
                    <a:bodyPr/>
                    <a:lstStyle/>
                    <a:p>
                      <a:r>
                        <a:rPr sz="1425" b="0">
                          <a:solidFill>
                            <a:srgbClr val="073F47"/>
                          </a:solidFill>
                          <a:latin typeface="Arial"/>
                          <a:ea typeface="Arial"/>
                          <a:cs typeface="Arial"/>
                        </a:rPr>
                        <a:t>1</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1 case · 100%</a:t>
                      </a:r>
                    </a:p>
                  </a:txBody>
                  <a:tcPr marL="91440" marR="91440" marT="45720" marB="45720"/>
                </a:tc>
              </a:tr>
            </a:tbl>
          </a:graphicData>
        </a:graphic>
      </p:graphicFrame>
    </p:spTree>
    <p:extLst>
      <p:ext uri="{BB962C8B-B14F-4D97-AF65-F5344CB8AC3E}">
        <p14:creationId xmlns:p14="http://schemas.microsoft.com/office/powerpoint/2010/main" val="1544362483"/>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1/5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Hey, how are you?</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One natural response; no planner request.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your favourite movie?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Answer without planner handoff.</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My favourite movie is Back to the Future!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conversation context; no execution.</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Do you have any ideas for this weekend?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Advice only.</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the speed of light?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Informational answer only.</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2/5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can you see now?</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declared current state.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new objects can you see?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newly inserted scene facts.</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Which object is on the table?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Resolve the support relation.</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the cup called?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the stored name.</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How many objects can you see?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Count deliverable objects, not people/support anchors.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3/5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colour is the cup?</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the stored colour.</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Add a red cup to your knowledge base.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Authorised KB mutation, no robot-action plan.</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Move your head up.</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Execute motion and report result.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the phone.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Ground one phone before pick.</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the object on the table.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Select from support relation.</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4/5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Look at ALEX.</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human gaze-target role.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Move your head up, down, left, and right.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all motions and order.</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all the objects you can see to ALEX.</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target set and human recipient.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Go to the kitchen, find the cup, and bring it to me.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location, object, recipient and order.</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Go to ALEX, wave, and tell me when you are finished.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Navigate, perform greeting motion, report.</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5/5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every object and tell me when you reach each one.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each object and report each arrival.</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Remember that ALEX is the recipient, but do not act yet.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Memory acknowledgement without action.</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1/3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baseline table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table inventory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sections inventory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can you see in the lab?</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sections delivery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ALEX and report what happened.</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2/3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kitchen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in the kitchen?</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location delivery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location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kitchen cup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floor inventory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rooms and objects are in the IIIA floor scene?</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3/3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kitchen delivery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handoff</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Can you bring that gold apple to the person named ALEX?</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gold apple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Stateful KB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seed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are the names, colors, and current locations of the two objects in the test area?</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revise support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cup has been moved. Which surface is TITAS on now, and where is MIDAS?</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revised relation query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Which object is on the storage shelf, and which object remains on the work table?</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grounded delivery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TITAS from the storage shelf to the person named ALEX and report what happened.</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Stateful KB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delivery postcondition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are TITAS and MIDAS now?</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move remaining object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MIDAS is now on the storage shelf. Bring every object on that shelf to ALEX and summarize the overall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mixed final query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Summarize the names, colors, and current locations of TITAS and MIDAS after those changes.</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1/3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baseline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ordered walk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Walk to every object on the table and let me know when you get to each one.</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work table delivery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ALEX and report what happened.</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object recovery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Find the codex missing cup. If you cannot find it, scan the scene and report what you can confirm.</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2/3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recipient clarification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the person named BLAKE and report what happened.</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kitchen delivery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floor location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are the objects from the kitchen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multiturn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Can you bring that gold apple to the person named ALEX?</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3/3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followup</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gold apple now?</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Robustness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paraphrased group delivery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Take everything resting on the work table over to ALEX. Once every item has reached them, summarize the whole delivery.</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object role exclusion</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each movable item on the table in turn. Do not navigate to the table or to any person, and report each arrival.</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recipient</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Deliver every work-table object to MORGAN and explain what information is missing if MORGAN is not present.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future recipient memory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ALEX will receive the work-table items later. For now, only acknowledge this and do not execute anything.</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Robustness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multiturn execute followup</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Now deliver all of those objects to them and tell me the overall result.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Multi-capability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walk pick sit report</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Walk to TITAS, pick it up, sit down, and summarize the result.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kneel under table pick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Kneel down, pick up MIDAS from under the work table, stand, and summarize the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 inventory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Before we do anything, tell me which named objects and people are in the test area.</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 sit stand grab return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Now sit, stand again, pick up MIDAS, return to ALEX, and summarize the result.</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Multi-capability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all objects visit look wave sit</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Stand up, walk to each visible object on the work table, look at each one, wave to ALEX, sit down, and give one final summary.</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pick place kneel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ATLAS, place it on the storage shelf, kneel, and summarize the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unreachable object recovery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Kneel and try to pick up the heavy box under the table. If you cannot, recover safely and summarize the result.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1: chatbot turn output</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Explanatory shape—not a recorded event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"verbal_ack": "I will look at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"route": "execution",</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"confidence": 0.82,</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"user_intent":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"type":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"goal_text": "look at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"scene_targets":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"request_kind": "new_goal"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Field interpretation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verbal_ack: immediate response wording.</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route: dialogue / knowledge_query / execution.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confidence: model/stage estimate, not proof.</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user_intent.type: normalised label.</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goal_text: user objective.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scene_targets: hints, not validated IDs.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request_kind: proposed goal transition.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No executable skill sequence is hidden inside chatbot intent.</a:t>
            </a:r>
          </a:p>
        </p:txBody>
      </p:sp>
    </p:spTree>
    <p:extLst>
      <p:ext uri="{BB962C8B-B14F-4D97-AF65-F5344CB8AC3E}">
        <p14:creationId xmlns:p14="http://schemas.microsoft.com/office/powerpoint/2010/main" val="1694435529"/>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2: grounded context</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Thesis entity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"id": "cup_jrjic",</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"label": "cup",</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"kind": "object",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"class": "Cup",</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"visible":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"relations":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"dbp:color", "object": "blue"},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"oro:isOn", "object":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"oro:isAt", "object": "lab_area"}</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Bounded representation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id: stable target handle.</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label: readable description.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kind: object / person / location.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class: semantic category.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visible: currently accepted scene/KB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relations: task-relevant predicates.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locations is a derived grouping view; people never become deliverable objects.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 current context supports planning; the executing skill must obtain fresh evidence.</a:t>
            </a:r>
          </a:p>
        </p:txBody>
      </p:sp>
    </p:spTree>
    <p:extLst>
      <p:ext uri="{BB962C8B-B14F-4D97-AF65-F5344CB8AC3E}">
        <p14:creationId xmlns:p14="http://schemas.microsoft.com/office/powerpoint/2010/main" val="1694435529"/>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Skill metadata and dispatch</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Exact selected registry fields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"planner_guidance": ["use for explicit pick or grab requests after resolving a grounded object id"],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"result_schema": {</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"required": ["skill", "status", "summary_text", "evidence"]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"safety_flags": ["manipulation", "object_contact"]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How the fields are used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 guidance constrains selection.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Result schema defines evidence obligations.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 flags label relevant hazards.</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Runtime callability gates exposure.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 status names the backend class.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Adapter mapping resolves the execution owner.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Failure-injection support enables controlled tests.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local canonical-format mirror agrees with the planner projection for pick_object.</a:t>
            </a:r>
          </a:p>
        </p:txBody>
      </p:sp>
    </p:spTree>
    <p:extLst>
      <p:ext uri="{BB962C8B-B14F-4D97-AF65-F5344CB8AC3E}">
        <p14:creationId xmlns:p14="http://schemas.microsoft.com/office/powerpoint/2010/main" val="1694435529"/>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Skill implementation and callability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Exact selected registry fields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"object_id":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"kind": "skill",</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"implementation_status": "fake",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"robot_adapter_mapping": "fake_skills.pick_object",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"supports_failure_injection":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"metadata": {"runtime_callable":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How the fields are used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 guidance constrains selection.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Result schema defines evidence obligations.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 flags label relevant hazards.</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Runtime callability gates exposure.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 status names the backend class.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Adapter mapping resolves the execution owner.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Failure-injection support enables controlled tests.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local canonical-format mirror agrees with the planner projection for pick_object.</a:t>
            </a:r>
          </a:p>
        </p:txBody>
      </p:sp>
    </p:spTree>
    <p:extLst>
      <p:ext uri="{BB962C8B-B14F-4D97-AF65-F5344CB8AC3E}">
        <p14:creationId xmlns:p14="http://schemas.microsoft.com/office/powerpoint/2010/main" val="1694435529"/>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5: executable plan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Thesis plan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"plan": {</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"plan_id": "plan_123", "plan_version": 1,</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"status": "planned",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"steps":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"id": "step_1", "type": "skill",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"name":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"args":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"target_frame": "anonymous_person_ehfbf"</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"requires": [], "on_failure": "replan"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Interpretation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goal_id: objective lineage.</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plan_id: concrete proposal identity.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plan_version: revision.</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status: planning outcome, not execution success.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steps: ordered invocations.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id: step correlation key.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args: schema-valid arguments.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requires: successful dependencies.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on_failure: validated recovery policy.</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All plan metadata stays nested under plan; retry budgets remain separate from failure policy.</a:t>
            </a:r>
          </a:p>
        </p:txBody>
      </p:sp>
    </p:spTree>
    <p:extLst>
      <p:ext uri="{BB962C8B-B14F-4D97-AF65-F5344CB8AC3E}">
        <p14:creationId xmlns:p14="http://schemas.microsoft.com/office/powerpoint/2010/main" val="1694435529"/>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Contracts 7–8: feedback and communication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feedback · thesis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"status": "failed",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"step": {"id": "step_1", "name":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"reason": "target frame unavailable",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"result_payload": {"target_found": false, "target_kind": "person"}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Dialogue act · thesis excerpt</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"act": "ask_clarification",</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"await_user_response":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"reason": "multiple visible people",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"text_hint": "Which person should I look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"slots_needed": ["target_person"]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Two separate illustrative excerpts—not one correlated runtime event.</a:t>
            </a:r>
          </a:p>
        </p:txBody>
      </p:sp>
    </p:spTree>
    <p:extLst>
      <p:ext uri="{BB962C8B-B14F-4D97-AF65-F5344CB8AC3E}">
        <p14:creationId xmlns:p14="http://schemas.microsoft.com/office/powerpoint/2010/main" val="169443552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ADAPTERS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ROS action carrier and fake configuration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ScanScene.action · actual definition</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target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string target_kind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int32 max_sweeps</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string evidence_policy</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result_mode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bool success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message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summary_text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result_payload_json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float32 duration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status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float32 progress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Selected configuration fields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perform_motion_execution_mode:=real</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look_at_execution_mode:=fake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start_fake_skills:=true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global_mode: scenario / always_success / always_fail / every_other / random_seeded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active_scenario_id: named scenario</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mode_overrides_json: per-skill policy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deterministic_seed: repeatable sampling</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Result JSON is carried in result_payload_json.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selected adapter and policy are part of the experimental configuration.</a:t>
            </a:r>
          </a:p>
        </p:txBody>
      </p:sp>
    </p:spTree>
    <p:extLst>
      <p:ext uri="{BB962C8B-B14F-4D97-AF65-F5344CB8AC3E}">
        <p14:creationId xmlns:p14="http://schemas.microsoft.com/office/powerpoint/2010/main" val="1694435529"/>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9</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KnowledgeCore: state and verified effects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RDF-style knowledge statements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codex_lab_cup rdf:type Cup</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codex_lab_cup dbp:color red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codex_lab_cup oro:isOn codex_lab_table</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person_alex rdf:type Human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myself sees person_alex</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read: /kb/query</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mutate: /kb/revise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Ownership and verification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KnowledgeCore is reused infrastructure.</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kb_skills owns query/revision transport.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Perception supplies transient observations.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Fixtures declare controlled symbolic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Skills report their observed effects.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orchestrator applies successful effects and queries required postconditions.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 correct KB postcondition and correct user-facing wording are separate checks.</a:t>
            </a:r>
          </a:p>
        </p:txBody>
      </p:sp>
    </p:spTree>
    <p:extLst>
      <p:ext uri="{BB962C8B-B14F-4D97-AF65-F5344CB8AC3E}">
        <p14:creationId xmlns:p14="http://schemas.microsoft.com/office/powerpoint/2010/main" val="169443552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TRACE EVIDENCE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Recovery trace: retained event sequence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Correlated outcome events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1783979352.183  plan_1783979351305</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step_succeeded find_object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1783979352.946  plan_1783979351305</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step_failed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1783979359.641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scan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1783979360.506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find_object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1783979361.899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1783979364.016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report_result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1783979364.017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plan_completed </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Read the evidence carefully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 “Pick up the phone.”</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Goal: goal_default___718b0d50_2</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Initial plan ends with failed pick.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Replacement scans, finds, picks and reports.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successful find is repeated.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Historical F13 case; not an extra row in the 72-case primary campaign.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Derived display of retained log fields; raw artifact and exact source lines are in speaker notes.</a:t>
            </a:r>
          </a:p>
        </p:txBody>
      </p:sp>
    </p:spTree>
    <p:extLst>
      <p:ext uri="{BB962C8B-B14F-4D97-AF65-F5344CB8AC3E}">
        <p14:creationId xmlns:p14="http://schemas.microsoft.com/office/powerpoint/2010/main" val="1694435529"/>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772E0A5-A39B-45E6-AB1C-37AD7A1DB4E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3F0BD3C-01F0-45E5-9D9F-D2FD03FE7E40}"/>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66081D7-FDD2-4AF4-BA3C-E470E3DFB48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75BCF909-B343-4FFD-B78B-09063F45F87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3ECB81FE-70B7-4946-A8C7-DF697D11DC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ARCHITECTURE</a:t>
            </a:r>
          </a:p>
        </p:txBody>
      </p:sp>
      <p:sp>
        <p:nvSpPr>
          <p:cNvPr id="6" name="">
            <a:extLst xmlns:a="http://schemas.openxmlformats.org/drawingml/2006/main">
              <a:ext uri="{FF2B5EF4-FFF2-40B4-BE49-F238E27FC236}">
                <a16:creationId xmlns:a16="http://schemas.microsoft.com/office/drawing/2014/main" id="{EF0CC687-A428-4046-9BF0-490E0C60A6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Owners and evidence remain separate.</a:t>
            </a:r>
          </a:p>
        </p:txBody>
      </p:sp>
      <p:sp>
        <p:nvSpPr>
          <p:cNvPr id="7" name="">
            <a:extLst xmlns:a="http://schemas.openxmlformats.org/drawingml/2006/main">
              <a:ext uri="{FF2B5EF4-FFF2-40B4-BE49-F238E27FC236}">
                <a16:creationId xmlns:a16="http://schemas.microsoft.com/office/drawing/2014/main" id="{1662C4EB-F3DD-4883-9696-A5FF8A128928}"/>
              </a:ext>
            </a:extLst>
          </p:cNvPr>
          <p:cNvSpPr>
            <a:spLocks xmlns:a="http://schemas.openxmlformats.org/drawingml/2006/main" noGrp="1"/>
          </p:cNvSpPr>
          <p:nvPr/>
        </p:nvSpPr>
        <p:spPr>
          <a:xfrm xmlns:a="http://schemas.openxmlformats.org/drawingml/2006/main">
            <a:off x="5429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9A6465E-BCB9-46BE-9615-8D3C6CAF7A06}"/>
              </a:ext>
            </a:extLst>
          </p:cNvPr>
          <p:cNvSpPr>
            <a:spLocks xmlns:a="http://schemas.openxmlformats.org/drawingml/2006/main" noGrp="1"/>
          </p:cNvSpPr>
          <p:nvPr/>
        </p:nvSpPr>
        <p:spPr>
          <a:xfrm xmlns:a="http://schemas.openxmlformats.org/drawingml/2006/main">
            <a:off x="6191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B7A15243-B1AE-4C60-8D20-5D287A8F4070}"/>
              </a:ext>
            </a:extLst>
          </p:cNvPr>
          <p:cNvSpPr>
            <a:spLocks xmlns:a="http://schemas.openxmlformats.org/drawingml/2006/main" noGrp="1"/>
          </p:cNvSpPr>
          <p:nvPr/>
        </p:nvSpPr>
        <p:spPr>
          <a:xfrm xmlns:a="http://schemas.openxmlformats.org/drawingml/2006/main">
            <a:off x="6572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turn lifecycle</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speech</a:t>
            </a:r>
          </a:p>
        </p:txBody>
      </p:sp>
      <p:sp>
        <p:nvSpPr>
          <p:cNvPr id="10" name="">
            <a:extLst xmlns:a="http://schemas.openxmlformats.org/drawingml/2006/main">
              <a:ext uri="{FF2B5EF4-FFF2-40B4-BE49-F238E27FC236}">
                <a16:creationId xmlns:a16="http://schemas.microsoft.com/office/drawing/2014/main" id="{4E2C77C0-AC23-4667-90C6-4C83B1110B36}"/>
              </a:ext>
            </a:extLst>
          </p:cNvPr>
          <p:cNvSpPr>
            <a:spLocks xmlns:a="http://schemas.openxmlformats.org/drawingml/2006/main" noGrp="1"/>
          </p:cNvSpPr>
          <p:nvPr/>
        </p:nvSpPr>
        <p:spPr>
          <a:xfrm xmlns:a="http://schemas.openxmlformats.org/drawingml/2006/main">
            <a:off x="20955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8A77BFF-61D2-4DDD-8FD9-74603C85BC47}"/>
              </a:ext>
            </a:extLst>
          </p:cNvPr>
          <p:cNvSpPr>
            <a:spLocks xmlns:a="http://schemas.openxmlformats.org/drawingml/2006/main" noGrp="1"/>
          </p:cNvSpPr>
          <p:nvPr/>
        </p:nvSpPr>
        <p:spPr>
          <a:xfrm xmlns:a="http://schemas.openxmlformats.org/drawingml/2006/main">
            <a:off x="22860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024A19C2-5CF4-4845-B49B-16773B2491B4}"/>
              </a:ext>
            </a:extLst>
          </p:cNvPr>
          <p:cNvSpPr>
            <a:spLocks xmlns:a="http://schemas.openxmlformats.org/drawingml/2006/main" noGrp="1"/>
          </p:cNvSpPr>
          <p:nvPr/>
        </p:nvSpPr>
        <p:spPr>
          <a:xfrm xmlns:a="http://schemas.openxmlformats.org/drawingml/2006/main">
            <a:off x="23622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Chatbot</a:t>
            </a:r>
          </a:p>
        </p:txBody>
      </p:sp>
      <p:sp>
        <p:nvSpPr>
          <p:cNvPr id="13" name="">
            <a:extLst xmlns:a="http://schemas.openxmlformats.org/drawingml/2006/main">
              <a:ext uri="{FF2B5EF4-FFF2-40B4-BE49-F238E27FC236}">
                <a16:creationId xmlns:a16="http://schemas.microsoft.com/office/drawing/2014/main" id="{0B90CDFE-9A33-4BED-8A90-B285290E7EE3}"/>
              </a:ext>
            </a:extLst>
          </p:cNvPr>
          <p:cNvSpPr>
            <a:spLocks xmlns:a="http://schemas.openxmlformats.org/drawingml/2006/main" noGrp="1"/>
          </p:cNvSpPr>
          <p:nvPr/>
        </p:nvSpPr>
        <p:spPr>
          <a:xfrm xmlns:a="http://schemas.openxmlformats.org/drawingml/2006/main">
            <a:off x="24003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route and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grounded request</a:t>
            </a:r>
          </a:p>
        </p:txBody>
      </p:sp>
      <p:sp>
        <p:nvSpPr>
          <p:cNvPr id="14" name="">
            <a:extLst xmlns:a="http://schemas.openxmlformats.org/drawingml/2006/main">
              <a:ext uri="{FF2B5EF4-FFF2-40B4-BE49-F238E27FC236}">
                <a16:creationId xmlns:a16="http://schemas.microsoft.com/office/drawing/2014/main" id="{05B58456-C338-42F2-98EB-595492088DDB}"/>
              </a:ext>
            </a:extLst>
          </p:cNvPr>
          <p:cNvSpPr>
            <a:spLocks xmlns:a="http://schemas.openxmlformats.org/drawingml/2006/main" noGrp="1"/>
          </p:cNvSpPr>
          <p:nvPr/>
        </p:nvSpPr>
        <p:spPr>
          <a:xfrm xmlns:a="http://schemas.openxmlformats.org/drawingml/2006/main">
            <a:off x="383857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FD6FE1D-26D2-47A3-879A-9A7BA768B331}"/>
              </a:ext>
            </a:extLst>
          </p:cNvPr>
          <p:cNvSpPr>
            <a:spLocks xmlns:a="http://schemas.openxmlformats.org/drawingml/2006/main" noGrp="1"/>
          </p:cNvSpPr>
          <p:nvPr/>
        </p:nvSpPr>
        <p:spPr>
          <a:xfrm xmlns:a="http://schemas.openxmlformats.org/drawingml/2006/main">
            <a:off x="4029075" y="2400300"/>
            <a:ext cx="1571625" cy="1428750"/>
          </a:xfrm>
          <a:prstGeom xmlns:a="http://schemas.openxmlformats.org/drawingml/2006/main" prst="roundRect">
            <a:avLst>
              <a:gd name="adj" fmla="val 10667"/>
            </a:avLst>
          </a:prstGeom>
          <a:solidFill xmlns:a="http://schemas.openxmlformats.org/drawingml/2006/main">
            <a:srgbClr val="073F47"/>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4B61A177-C7B0-4249-867D-6D7EF0A62CCF}"/>
              </a:ext>
            </a:extLst>
          </p:cNvPr>
          <p:cNvSpPr>
            <a:spLocks xmlns:a="http://schemas.openxmlformats.org/drawingml/2006/main" noGrp="1"/>
          </p:cNvSpPr>
          <p:nvPr/>
        </p:nvSpPr>
        <p:spPr>
          <a:xfrm xmlns:a="http://schemas.openxmlformats.org/drawingml/2006/main">
            <a:off x="410527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Planner</a:t>
            </a:r>
          </a:p>
        </p:txBody>
      </p:sp>
      <p:sp>
        <p:nvSpPr>
          <p:cNvPr id="17" name="">
            <a:extLst xmlns:a="http://schemas.openxmlformats.org/drawingml/2006/main">
              <a:ext uri="{FF2B5EF4-FFF2-40B4-BE49-F238E27FC236}">
                <a16:creationId xmlns:a16="http://schemas.microsoft.com/office/drawing/2014/main" id="{AEDB813D-2C44-4630-AF83-7A62FCB01F8A}"/>
              </a:ext>
            </a:extLst>
          </p:cNvPr>
          <p:cNvSpPr>
            <a:spLocks xmlns:a="http://schemas.openxmlformats.org/drawingml/2006/main" noGrp="1"/>
          </p:cNvSpPr>
          <p:nvPr/>
        </p:nvSpPr>
        <p:spPr>
          <a:xfrm xmlns:a="http://schemas.openxmlformats.org/drawingml/2006/main">
            <a:off x="414337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candidate plan</a:t>
            </a:r>
          </a:p>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and supervision</a:t>
            </a:r>
          </a:p>
        </p:txBody>
      </p:sp>
      <p:sp>
        <p:nvSpPr>
          <p:cNvPr id="18" name="">
            <a:extLst xmlns:a="http://schemas.openxmlformats.org/drawingml/2006/main">
              <a:ext uri="{FF2B5EF4-FFF2-40B4-BE49-F238E27FC236}">
                <a16:creationId xmlns:a16="http://schemas.microsoft.com/office/drawing/2014/main" id="{C69B23E7-BCBF-41F0-8B14-F8BAE0388F8B}"/>
              </a:ext>
            </a:extLst>
          </p:cNvPr>
          <p:cNvSpPr>
            <a:spLocks xmlns:a="http://schemas.openxmlformats.org/drawingml/2006/main" noGrp="1"/>
          </p:cNvSpPr>
          <p:nvPr/>
        </p:nvSpPr>
        <p:spPr>
          <a:xfrm xmlns:a="http://schemas.openxmlformats.org/drawingml/2006/main">
            <a:off x="558165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B97B23D-1330-451D-926B-59BBE1B2B2F5}"/>
              </a:ext>
            </a:extLst>
          </p:cNvPr>
          <p:cNvSpPr>
            <a:spLocks xmlns:a="http://schemas.openxmlformats.org/drawingml/2006/main" noGrp="1"/>
          </p:cNvSpPr>
          <p:nvPr/>
        </p:nvSpPr>
        <p:spPr>
          <a:xfrm xmlns:a="http://schemas.openxmlformats.org/drawingml/2006/main">
            <a:off x="577215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D7C49FE0-559E-407E-9106-1F3A3138A45D}"/>
              </a:ext>
            </a:extLst>
          </p:cNvPr>
          <p:cNvSpPr>
            <a:spLocks xmlns:a="http://schemas.openxmlformats.org/drawingml/2006/main" noGrp="1"/>
          </p:cNvSpPr>
          <p:nvPr/>
        </p:nvSpPr>
        <p:spPr>
          <a:xfrm xmlns:a="http://schemas.openxmlformats.org/drawingml/2006/main">
            <a:off x="584835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Orchestrator</a:t>
            </a:r>
          </a:p>
        </p:txBody>
      </p:sp>
      <p:sp>
        <p:nvSpPr>
          <p:cNvPr id="21" name="">
            <a:extLst xmlns:a="http://schemas.openxmlformats.org/drawingml/2006/main">
              <a:ext uri="{FF2B5EF4-FFF2-40B4-BE49-F238E27FC236}">
                <a16:creationId xmlns:a16="http://schemas.microsoft.com/office/drawing/2014/main" id="{C3983F1B-1A25-47F2-A165-61F85E594BCB}"/>
              </a:ext>
            </a:extLst>
          </p:cNvPr>
          <p:cNvSpPr>
            <a:spLocks xmlns:a="http://schemas.openxmlformats.org/drawingml/2006/main" noGrp="1"/>
          </p:cNvSpPr>
          <p:nvPr/>
        </p:nvSpPr>
        <p:spPr>
          <a:xfrm xmlns:a="http://schemas.openxmlformats.org/drawingml/2006/main">
            <a:off x="5886450" y="3057525"/>
            <a:ext cx="13430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admission</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validation</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dispatch</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feedback</a:t>
            </a:r>
          </a:p>
        </p:txBody>
      </p:sp>
      <p:sp>
        <p:nvSpPr>
          <p:cNvPr id="22" name="">
            <a:extLst xmlns:a="http://schemas.openxmlformats.org/drawingml/2006/main">
              <a:ext uri="{FF2B5EF4-FFF2-40B4-BE49-F238E27FC236}">
                <a16:creationId xmlns:a16="http://schemas.microsoft.com/office/drawing/2014/main" id="{47EE3FFE-C9A3-4650-B650-00C4BD23B7F1}"/>
              </a:ext>
            </a:extLst>
          </p:cNvPr>
          <p:cNvSpPr>
            <a:spLocks xmlns:a="http://schemas.openxmlformats.org/drawingml/2006/main" noGrp="1"/>
          </p:cNvSpPr>
          <p:nvPr/>
        </p:nvSpPr>
        <p:spPr>
          <a:xfrm xmlns:a="http://schemas.openxmlformats.org/drawingml/2006/main">
            <a:off x="732472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19D8A4D-57A2-4B44-8C81-77DED4FED028}"/>
              </a:ext>
            </a:extLst>
          </p:cNvPr>
          <p:cNvSpPr>
            <a:spLocks xmlns:a="http://schemas.openxmlformats.org/drawingml/2006/main" noGrp="1"/>
          </p:cNvSpPr>
          <p:nvPr/>
        </p:nvSpPr>
        <p:spPr>
          <a:xfrm xmlns:a="http://schemas.openxmlformats.org/drawingml/2006/main">
            <a:off x="75152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F425BC38-FD4C-4EF5-87C1-E78F46701373}"/>
              </a:ext>
            </a:extLst>
          </p:cNvPr>
          <p:cNvSpPr>
            <a:spLocks xmlns:a="http://schemas.openxmlformats.org/drawingml/2006/main" noGrp="1"/>
          </p:cNvSpPr>
          <p:nvPr/>
        </p:nvSpPr>
        <p:spPr>
          <a:xfrm xmlns:a="http://schemas.openxmlformats.org/drawingml/2006/main">
            <a:off x="75914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Skills</a:t>
            </a:r>
          </a:p>
        </p:txBody>
      </p:sp>
      <p:sp>
        <p:nvSpPr>
          <p:cNvPr id="25" name="">
            <a:extLst xmlns:a="http://schemas.openxmlformats.org/drawingml/2006/main">
              <a:ext uri="{FF2B5EF4-FFF2-40B4-BE49-F238E27FC236}">
                <a16:creationId xmlns:a16="http://schemas.microsoft.com/office/drawing/2014/main" id="{ABA46358-C08D-416E-855A-8D1336AB7B73}"/>
              </a:ext>
            </a:extLst>
          </p:cNvPr>
          <p:cNvSpPr>
            <a:spLocks xmlns:a="http://schemas.openxmlformats.org/drawingml/2006/main" noGrp="1"/>
          </p:cNvSpPr>
          <p:nvPr/>
        </p:nvSpPr>
        <p:spPr>
          <a:xfrm xmlns:a="http://schemas.openxmlformats.org/drawingml/2006/main">
            <a:off x="76295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typed result</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effects</a:t>
            </a:r>
          </a:p>
        </p:txBody>
      </p:sp>
      <p:sp>
        <p:nvSpPr>
          <p:cNvPr id="26" name="">
            <a:extLst xmlns:a="http://schemas.openxmlformats.org/drawingml/2006/main">
              <a:ext uri="{FF2B5EF4-FFF2-40B4-BE49-F238E27FC236}">
                <a16:creationId xmlns:a16="http://schemas.microsoft.com/office/drawing/2014/main" id="{830443E5-FF75-4A5F-935F-931D5A47FA94}"/>
              </a:ext>
            </a:extLst>
          </p:cNvPr>
          <p:cNvSpPr>
            <a:spLocks xmlns:a="http://schemas.openxmlformats.org/drawingml/2006/main" noGrp="1"/>
          </p:cNvSpPr>
          <p:nvPr/>
        </p:nvSpPr>
        <p:spPr>
          <a:xfrm xmlns:a="http://schemas.openxmlformats.org/drawingml/2006/main">
            <a:off x="90678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2341903-A5A3-4FF8-B3C6-91DA228825FA}"/>
              </a:ext>
            </a:extLst>
          </p:cNvPr>
          <p:cNvSpPr>
            <a:spLocks xmlns:a="http://schemas.openxmlformats.org/drawingml/2006/main" noGrp="1"/>
          </p:cNvSpPr>
          <p:nvPr/>
        </p:nvSpPr>
        <p:spPr>
          <a:xfrm xmlns:a="http://schemas.openxmlformats.org/drawingml/2006/main">
            <a:off x="92583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9C440FA4-CC9C-43A6-A6EF-33EA7D66E032}"/>
              </a:ext>
            </a:extLst>
          </p:cNvPr>
          <p:cNvSpPr>
            <a:spLocks xmlns:a="http://schemas.openxmlformats.org/drawingml/2006/main" noGrp="1"/>
          </p:cNvSpPr>
          <p:nvPr/>
        </p:nvSpPr>
        <p:spPr>
          <a:xfrm xmlns:a="http://schemas.openxmlformats.org/drawingml/2006/main">
            <a:off x="93345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29" name="">
            <a:extLst xmlns:a="http://schemas.openxmlformats.org/drawingml/2006/main">
              <a:ext uri="{FF2B5EF4-FFF2-40B4-BE49-F238E27FC236}">
                <a16:creationId xmlns:a16="http://schemas.microsoft.com/office/drawing/2014/main" id="{EEDF790E-F3D8-47F3-B361-4BE0F8B7F94A}"/>
              </a:ext>
            </a:extLst>
          </p:cNvPr>
          <p:cNvSpPr>
            <a:spLocks xmlns:a="http://schemas.openxmlformats.org/drawingml/2006/main" noGrp="1"/>
          </p:cNvSpPr>
          <p:nvPr/>
        </p:nvSpPr>
        <p:spPr>
          <a:xfrm xmlns:a="http://schemas.openxmlformats.org/drawingml/2006/main">
            <a:off x="93726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one evidence-based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closure</a:t>
            </a:r>
          </a:p>
        </p:txBody>
      </p:sp>
      <p:sp>
        <p:nvSpPr>
          <p:cNvPr id="30" name="">
            <a:extLst xmlns:a="http://schemas.openxmlformats.org/drawingml/2006/main">
              <a:ext uri="{FF2B5EF4-FFF2-40B4-BE49-F238E27FC236}">
                <a16:creationId xmlns:a16="http://schemas.microsoft.com/office/drawing/2014/main" id="{9126A1D6-199C-4B1B-9797-28D7DC53831F}"/>
              </a:ext>
            </a:extLst>
          </p:cNvPr>
          <p:cNvSpPr>
            <a:spLocks xmlns:a="http://schemas.openxmlformats.org/drawingml/2006/main" noGrp="1"/>
          </p:cNvSpPr>
          <p:nvPr/>
        </p:nvSpPr>
        <p:spPr>
          <a:xfrm xmlns:a="http://schemas.openxmlformats.org/drawingml/2006/main">
            <a:off x="685800" y="42100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Goal ID  •  plan ID  •  plan version  •  stable step IDs</a:t>
            </a:r>
          </a:p>
        </p:txBody>
      </p:sp>
      <p:sp>
        <p:nvSpPr>
          <p:cNvPr id="31" name="">
            <a:extLst xmlns:a="http://schemas.openxmlformats.org/drawingml/2006/main">
              <a:ext uri="{FF2B5EF4-FFF2-40B4-BE49-F238E27FC236}">
                <a16:creationId xmlns:a16="http://schemas.microsoft.com/office/drawing/2014/main" id="{9063CB4A-586F-4490-98C5-7BB60731642F}"/>
              </a:ext>
            </a:extLst>
          </p:cNvPr>
          <p:cNvSpPr>
            <a:spLocks xmlns:a="http://schemas.openxmlformats.org/drawingml/2006/main" noGrp="1"/>
          </p:cNvSpPr>
          <p:nvPr/>
        </p:nvSpPr>
        <p:spPr>
          <a:xfrm xmlns:a="http://schemas.openxmlformats.org/drawingml/2006/main">
            <a:off x="14287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DC24675E-9B78-4D00-8D06-AD284E6467A7}"/>
              </a:ext>
            </a:extLst>
          </p:cNvPr>
          <p:cNvSpPr>
            <a:spLocks xmlns:a="http://schemas.openxmlformats.org/drawingml/2006/main" noGrp="1"/>
          </p:cNvSpPr>
          <p:nvPr/>
        </p:nvSpPr>
        <p:spPr>
          <a:xfrm xmlns:a="http://schemas.openxmlformats.org/drawingml/2006/main">
            <a:off x="1428750" y="4857750"/>
            <a:ext cx="57150" cy="1047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33" name="">
            <a:extLst xmlns:a="http://schemas.openxmlformats.org/drawingml/2006/main">
              <a:ext uri="{FF2B5EF4-FFF2-40B4-BE49-F238E27FC236}">
                <a16:creationId xmlns:a16="http://schemas.microsoft.com/office/drawing/2014/main" id="{79160C22-EE13-422E-BA86-7A42E871B4EA}"/>
              </a:ext>
            </a:extLst>
          </p:cNvPr>
          <p:cNvSpPr>
            <a:spLocks xmlns:a="http://schemas.openxmlformats.org/drawingml/2006/main" noGrp="1"/>
          </p:cNvSpPr>
          <p:nvPr/>
        </p:nvSpPr>
        <p:spPr>
          <a:xfrm xmlns:a="http://schemas.openxmlformats.org/drawingml/2006/main">
            <a:off x="16383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Symbolic evidence</a:t>
            </a:r>
          </a:p>
        </p:txBody>
      </p:sp>
      <p:sp>
        <p:nvSpPr>
          <p:cNvPr id="34" name="">
            <a:extLst xmlns:a="http://schemas.openxmlformats.org/drawingml/2006/main">
              <a:ext uri="{FF2B5EF4-FFF2-40B4-BE49-F238E27FC236}">
                <a16:creationId xmlns:a16="http://schemas.microsoft.com/office/drawing/2014/main" id="{6E38F007-7247-4B99-9A8C-B551B630E728}"/>
              </a:ext>
            </a:extLst>
          </p:cNvPr>
          <p:cNvSpPr>
            <a:spLocks xmlns:a="http://schemas.openxmlformats.org/drawingml/2006/main" noGrp="1"/>
          </p:cNvSpPr>
          <p:nvPr/>
        </p:nvSpPr>
        <p:spPr>
          <a:xfrm xmlns:a="http://schemas.openxmlformats.org/drawingml/2006/main">
            <a:off x="16383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KnowledgeCore and scene grounding provide bounded entities, roles, locations, and relations.</a:t>
            </a:r>
          </a:p>
        </p:txBody>
      </p:sp>
      <p:sp>
        <p:nvSpPr>
          <p:cNvPr id="35" name="">
            <a:extLst xmlns:a="http://schemas.openxmlformats.org/drawingml/2006/main">
              <a:ext uri="{FF2B5EF4-FFF2-40B4-BE49-F238E27FC236}">
                <a16:creationId xmlns:a16="http://schemas.microsoft.com/office/drawing/2014/main" id="{EC2D19C2-0D2E-4972-85E0-9B96F3673CFC}"/>
              </a:ext>
            </a:extLst>
          </p:cNvPr>
          <p:cNvSpPr>
            <a:spLocks xmlns:a="http://schemas.openxmlformats.org/drawingml/2006/main" noGrp="1"/>
          </p:cNvSpPr>
          <p:nvPr/>
        </p:nvSpPr>
        <p:spPr>
          <a:xfrm xmlns:a="http://schemas.openxmlformats.org/drawingml/2006/main">
            <a:off x="59245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6" name="">
            <a:extLst xmlns:a="http://schemas.openxmlformats.org/drawingml/2006/main">
              <a:ext uri="{FF2B5EF4-FFF2-40B4-BE49-F238E27FC236}">
                <a16:creationId xmlns:a16="http://schemas.microsoft.com/office/drawing/2014/main" id="{ECA72230-A9FF-42DE-AC9A-75E0993E7C18}"/>
              </a:ext>
            </a:extLst>
          </p:cNvPr>
          <p:cNvSpPr>
            <a:spLocks xmlns:a="http://schemas.openxmlformats.org/drawingml/2006/main" noGrp="1"/>
          </p:cNvSpPr>
          <p:nvPr/>
        </p:nvSpPr>
        <p:spPr>
          <a:xfrm xmlns:a="http://schemas.openxmlformats.org/drawingml/2006/main">
            <a:off x="5924550" y="4857750"/>
            <a:ext cx="57150" cy="1047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37" name="">
            <a:extLst xmlns:a="http://schemas.openxmlformats.org/drawingml/2006/main">
              <a:ext uri="{FF2B5EF4-FFF2-40B4-BE49-F238E27FC236}">
                <a16:creationId xmlns:a16="http://schemas.microsoft.com/office/drawing/2014/main" id="{0D00A616-DD5C-40AF-9E60-DAC05957C769}"/>
              </a:ext>
            </a:extLst>
          </p:cNvPr>
          <p:cNvSpPr>
            <a:spLocks xmlns:a="http://schemas.openxmlformats.org/drawingml/2006/main" noGrp="1"/>
          </p:cNvSpPr>
          <p:nvPr/>
        </p:nvSpPr>
        <p:spPr>
          <a:xfrm xmlns:a="http://schemas.openxmlformats.org/drawingml/2006/main">
            <a:off x="61341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evidence</a:t>
            </a:r>
          </a:p>
        </p:txBody>
      </p:sp>
      <p:sp>
        <p:nvSpPr>
          <p:cNvPr id="38" name="">
            <a:extLst xmlns:a="http://schemas.openxmlformats.org/drawingml/2006/main">
              <a:ext uri="{FF2B5EF4-FFF2-40B4-BE49-F238E27FC236}">
                <a16:creationId xmlns:a16="http://schemas.microsoft.com/office/drawing/2014/main" id="{61967993-C187-4709-B8FC-106E6106529D}"/>
              </a:ext>
            </a:extLst>
          </p:cNvPr>
          <p:cNvSpPr>
            <a:spLocks xmlns:a="http://schemas.openxmlformats.org/drawingml/2006/main" noGrp="1"/>
          </p:cNvSpPr>
          <p:nvPr/>
        </p:nvSpPr>
        <p:spPr>
          <a:xfrm xmlns:a="http://schemas.openxmlformats.org/drawingml/2006/main">
            <a:off x="61341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Robot-facing or simulated adapters return the same typed result boundary.</a:t>
            </a:r>
          </a:p>
        </p:txBody>
      </p:sp>
    </p:spTree>
    <p:extLst>
      <p:ext uri="{BB962C8B-B14F-4D97-AF65-F5344CB8AC3E}">
        <p14:creationId xmlns:p14="http://schemas.microsoft.com/office/powerpoint/2010/main" val="454071870"/>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PROVENANCE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Evidence and interpretation notes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Primary vs supplementary evidence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108 primary-index records:</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72 qualification + 26 ablations + 10 archive.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defRPr sz="1575">
                <a:solidFill>
                  <a:srgbClr val="5B6770"/>
                </a:solidFill>
                <a:latin typeface="Arial"/>
                <a:ea typeface="Arial"/>
                <a:cs typeface="Arial"/>
              </a:defRPr>
            </a:pPr>
            <a:r>
              <a:rPr sz="1575">
                <a:solidFill>
                  <a:srgbClr val="5B6770"/>
                </a:solidFill>
                <a:latin typeface="Arial"/>
                <a:ea typeface="Arial"/>
                <a:cs typeface="Arial"/>
              </a:rPr>
              <a:t>72 qualification: 64 pass, 8 non-pass.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191 separate model-supplement records: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150 pass, 32 fail, 9 excluded.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Repeated prompts are not independent user trials.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Boundaries of reproducibility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Retain model/configuration, case identity, world fixture, source hashes and raw evidence.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 successful diagnostic rerun does not erase a retained non-pass.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Missing terminal evidence can fail acceptance; external/harness absence may be excluded under the declared scoring rule.</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Sources: final thesis Tables 6.1–6.8 and Appendix D; retained JSON/CSV artifacts.</a:t>
            </a:r>
          </a:p>
        </p:txBody>
      </p:sp>
    </p:spTree>
    <p:extLst>
      <p:ext uri="{BB962C8B-B14F-4D97-AF65-F5344CB8AC3E}">
        <p14:creationId xmlns:p14="http://schemas.microsoft.com/office/powerpoint/2010/main" val="1694435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2026-09-03T00:02:52.1260000Z</dcterms:created>
  <dcterms:modified xsi:type="dcterms:W3CDTF">2026-09-03T00:02:52.1260000Z</dcterms:modified>
</coreProperties>
</file>