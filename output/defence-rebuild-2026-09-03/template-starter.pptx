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8257cf8fc544d1" /><Relationship Type="http://schemas.openxmlformats.org/officeDocument/2006/relationships/extended-properties" Target="/docProps/app.xml" Id="R1360129f6a4b492b" /><Relationship Type="http://schemas.openxmlformats.org/officeDocument/2006/relationships/officeDocument" Target="/ppt/presentation.xml" Id="R6aa2a6d8988f4df8" /></Relationships>
</file>

<file path=ppt/presentation.xml><?xml version="1.0" encoding="utf-8"?>
<p:presentation xmlns:p="http://schemas.openxmlformats.org/presentationml/2006/main">
  <p:sldMasterIdLst>
    <p:sldMasterId xmlns:r="http://schemas.openxmlformats.org/officeDocument/2006/relationships" id="2147483648" r:id="R56613b84afb44a85"/>
  </p:sldMasterIdLst>
  <p:notesMasterIdLst>
    <p:notesMasterId xmlns:r="http://schemas.openxmlformats.org/officeDocument/2006/relationships" r:id="R901eadda88b24906"/>
  </p:notesMasterIdLst>
  <p:sldIdLst>
    <p:sldId xmlns:r="http://schemas.openxmlformats.org/officeDocument/2006/relationships" id="256" r:id="Ra5b8cbe3265c42f7"/>
    <p:sldId xmlns:r="http://schemas.openxmlformats.org/officeDocument/2006/relationships" id="257" r:id="R1864a3672de2413e"/>
    <p:sldId xmlns:r="http://schemas.openxmlformats.org/officeDocument/2006/relationships" id="258" r:id="R369c1f4aab504840"/>
    <p:sldId xmlns:r="http://schemas.openxmlformats.org/officeDocument/2006/relationships" id="259" r:id="Rb19b4123bd2b41bd"/>
    <p:sldId xmlns:r="http://schemas.openxmlformats.org/officeDocument/2006/relationships" id="260" r:id="R729b23c2aa3f4679"/>
    <p:sldId xmlns:r="http://schemas.openxmlformats.org/officeDocument/2006/relationships" id="261" r:id="R88105925fd474447"/>
    <p:sldId xmlns:r="http://schemas.openxmlformats.org/officeDocument/2006/relationships" id="262" r:id="R793140436fc04523"/>
    <p:sldId xmlns:r="http://schemas.openxmlformats.org/officeDocument/2006/relationships" id="263" r:id="Ree931815780648b8"/>
    <p:sldId xmlns:r="http://schemas.openxmlformats.org/officeDocument/2006/relationships" id="264" r:id="R662e498f85634427"/>
    <p:sldId xmlns:r="http://schemas.openxmlformats.org/officeDocument/2006/relationships" id="265" r:id="Rf36fd34c5c0e4a6d"/>
    <p:sldId xmlns:r="http://schemas.openxmlformats.org/officeDocument/2006/relationships" id="266" r:id="R1614b8b89e904b55"/>
    <p:sldId xmlns:r="http://schemas.openxmlformats.org/officeDocument/2006/relationships" id="267" r:id="R51ea4de86d364025"/>
    <p:sldId xmlns:r="http://schemas.openxmlformats.org/officeDocument/2006/relationships" id="268" r:id="R74bdc6a3a8024d5c"/>
    <p:sldId xmlns:r="http://schemas.openxmlformats.org/officeDocument/2006/relationships" id="269" r:id="R745b00550096474d"/>
    <p:sldId xmlns:r="http://schemas.openxmlformats.org/officeDocument/2006/relationships" id="270" r:id="Reba80e6611594921"/>
    <p:sldId xmlns:r="http://schemas.openxmlformats.org/officeDocument/2006/relationships" id="271" r:id="R631cb5e2fd3e45e8"/>
    <p:sldId xmlns:r="http://schemas.openxmlformats.org/officeDocument/2006/relationships" id="272" r:id="Rdc724bf3f7c14520"/>
    <p:sldId xmlns:r="http://schemas.openxmlformats.org/officeDocument/2006/relationships" id="273" r:id="Rd0a3b43afc00441a"/>
    <p:sldId xmlns:r="http://schemas.openxmlformats.org/officeDocument/2006/relationships" id="274" r:id="R2edc9840bed7418c"/>
    <p:sldId xmlns:r="http://schemas.openxmlformats.org/officeDocument/2006/relationships" id="275" r:id="R68ed23cefede4d92"/>
    <p:sldId xmlns:r="http://schemas.openxmlformats.org/officeDocument/2006/relationships" id="276" r:id="R0c0d1e9c9a87433d"/>
    <p:sldId xmlns:r="http://schemas.openxmlformats.org/officeDocument/2006/relationships" id="277" r:id="R991df99e969e4f28"/>
    <p:sldId xmlns:r="http://schemas.openxmlformats.org/officeDocument/2006/relationships" id="278" r:id="Rc6e5888b7faa47f6"/>
    <p:sldId xmlns:r="http://schemas.openxmlformats.org/officeDocument/2006/relationships" id="279" r:id="Rc776b396e76a40c2"/>
    <p:sldId xmlns:r="http://schemas.openxmlformats.org/officeDocument/2006/relationships" id="280" r:id="R6759dc267dea435a"/>
    <p:sldId xmlns:r="http://schemas.openxmlformats.org/officeDocument/2006/relationships" id="281" r:id="R1af9139bbc9244dc"/>
    <p:sldId xmlns:r="http://schemas.openxmlformats.org/officeDocument/2006/relationships" id="282" r:id="R26e63b9123274cd1"/>
    <p:sldId xmlns:r="http://schemas.openxmlformats.org/officeDocument/2006/relationships" id="283" r:id="R1b0a70c027f24b65"/>
    <p:sldId xmlns:r="http://schemas.openxmlformats.org/officeDocument/2006/relationships" id="284" r:id="R3fbec067a62e4557"/>
    <p:sldId xmlns:r="http://schemas.openxmlformats.org/officeDocument/2006/relationships" id="285" r:id="Rd8f4f0eb1d344c78"/>
    <p:sldId xmlns:r="http://schemas.openxmlformats.org/officeDocument/2006/relationships" id="286" r:id="R4172da19b2ee4b59"/>
    <p:sldId xmlns:r="http://schemas.openxmlformats.org/officeDocument/2006/relationships" id="287" r:id="R4ee66dcd1cba4374"/>
    <p:sldId xmlns:r="http://schemas.openxmlformats.org/officeDocument/2006/relationships" id="288" r:id="R29e7223fa568453a"/>
    <p:sldId xmlns:r="http://schemas.openxmlformats.org/officeDocument/2006/relationships" id="289" r:id="R89730083805d49ac"/>
    <p:sldId xmlns:r="http://schemas.openxmlformats.org/officeDocument/2006/relationships" id="290" r:id="R8b069892c28943eb"/>
    <p:sldId xmlns:r="http://schemas.openxmlformats.org/officeDocument/2006/relationships" id="291" r:id="Rcc74d72008004ce5"/>
    <p:sldId xmlns:r="http://schemas.openxmlformats.org/officeDocument/2006/relationships" id="292" r:id="Rf3c8e0389aac43a7"/>
    <p:sldId xmlns:r="http://schemas.openxmlformats.org/officeDocument/2006/relationships" id="293" r:id="R5496566bc37243f2"/>
    <p:sldId xmlns:r="http://schemas.openxmlformats.org/officeDocument/2006/relationships" id="294" r:id="R4d0515228cb64151"/>
    <p:sldId xmlns:r="http://schemas.openxmlformats.org/officeDocument/2006/relationships" id="295" r:id="R242ebbc317134fde"/>
    <p:sldId xmlns:r="http://schemas.openxmlformats.org/officeDocument/2006/relationships" id="296" r:id="Re498c625f6484d85"/>
    <p:sldId xmlns:r="http://schemas.openxmlformats.org/officeDocument/2006/relationships" id="297" r:id="R27530fa0727a47ad"/>
    <p:sldId xmlns:r="http://schemas.openxmlformats.org/officeDocument/2006/relationships" id="298" r:id="R2aa1f055fe0c48ae"/>
    <p:sldId xmlns:r="http://schemas.openxmlformats.org/officeDocument/2006/relationships" id="299" r:id="R72582d11211c400b"/>
    <p:sldId xmlns:r="http://schemas.openxmlformats.org/officeDocument/2006/relationships" id="300" r:id="Rc1f3042539c04fd6"/>
    <p:sldId xmlns:r="http://schemas.openxmlformats.org/officeDocument/2006/relationships" id="301" r:id="Ra3067f5a4b784987"/>
    <p:sldId xmlns:r="http://schemas.openxmlformats.org/officeDocument/2006/relationships" id="302" r:id="R72cb36ee2e7e4c83"/>
    <p:sldId xmlns:r="http://schemas.openxmlformats.org/officeDocument/2006/relationships" id="303" r:id="R0d2e7160fadb4cc3"/>
    <p:sldId xmlns:r="http://schemas.openxmlformats.org/officeDocument/2006/relationships" id="304" r:id="Rf2abf3ea95344903"/>
    <p:sldId xmlns:r="http://schemas.openxmlformats.org/officeDocument/2006/relationships" id="305" r:id="R77b174b465b24e4f"/>
    <p:sldId xmlns:r="http://schemas.openxmlformats.org/officeDocument/2006/relationships" id="306" r:id="Rc2abf1c0221a4c1e"/>
    <p:sldId xmlns:r="http://schemas.openxmlformats.org/officeDocument/2006/relationships" id="307" r:id="R18284c1f39364375"/>
    <p:sldId xmlns:r="http://schemas.openxmlformats.org/officeDocument/2006/relationships" id="308" r:id="R2fbf891c3bf340e5"/>
    <p:sldId xmlns:r="http://schemas.openxmlformats.org/officeDocument/2006/relationships" id="309" r:id="R779e29b2a78c4c52"/>
    <p:sldId xmlns:r="http://schemas.openxmlformats.org/officeDocument/2006/relationships" id="310" r:id="R0c95a7c3e29f43d4"/>
    <p:sldId xmlns:r="http://schemas.openxmlformats.org/officeDocument/2006/relationships" id="311" r:id="R2ae01b4b35544e04"/>
    <p:sldId xmlns:r="http://schemas.openxmlformats.org/officeDocument/2006/relationships" id="312" r:id="R8d6fc202929848ab"/>
    <p:sldId xmlns:r="http://schemas.openxmlformats.org/officeDocument/2006/relationships" id="313" r:id="R9908fc82b7ff4ff1"/>
    <p:sldId xmlns:r="http://schemas.openxmlformats.org/officeDocument/2006/relationships" id="314" r:id="Rf0c88018f1b545a0"/>
    <p:sldId xmlns:r="http://schemas.openxmlformats.org/officeDocument/2006/relationships" id="315" r:id="Rade94762927d461a"/>
    <p:sldId xmlns:r="http://schemas.openxmlformats.org/officeDocument/2006/relationships" id="316" r:id="Rab19f01fe1b64609"/>
    <p:sldId xmlns:r="http://schemas.openxmlformats.org/officeDocument/2006/relationships" id="317" r:id="Rafb54c599a2a43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e7f57448b64f2b" /><Relationship Type="http://schemas.openxmlformats.org/officeDocument/2006/relationships/slideMaster" Target="/ppt/slideMasters/slideMaster1.xml" Id="R56613b84afb44a85" /><Relationship Type="http://schemas.openxmlformats.org/officeDocument/2006/relationships/notesMaster" Target="/ppt/notesMasters/notesMaster1.xml" Id="R901eadda88b24906" /><Relationship Type="http://schemas.openxmlformats.org/officeDocument/2006/relationships/presProps" Target="/ppt/presProps.xml" Id="Rb0b6d56bb0ac45b5" /><Relationship Type="http://schemas.openxmlformats.org/officeDocument/2006/relationships/tableStyles" Target="/ppt/tableStyles.xml" Id="R97df505e67e64761" /><Relationship Type="http://schemas.openxmlformats.org/officeDocument/2006/relationships/slide" Target="/ppt/slides/slide1.xml" Id="Ra5b8cbe3265c42f7" /><Relationship Type="http://schemas.openxmlformats.org/officeDocument/2006/relationships/slide" Target="/ppt/slides/slide2.xml" Id="R1864a3672de2413e" /><Relationship Type="http://schemas.openxmlformats.org/officeDocument/2006/relationships/slide" Target="/ppt/slides/slide3.xml" Id="R369c1f4aab504840" /><Relationship Type="http://schemas.openxmlformats.org/officeDocument/2006/relationships/slide" Target="/ppt/slides/slide4.xml" Id="Rb19b4123bd2b41bd" /><Relationship Type="http://schemas.openxmlformats.org/officeDocument/2006/relationships/slide" Target="/ppt/slides/slide5.xml" Id="R729b23c2aa3f4679" /><Relationship Type="http://schemas.openxmlformats.org/officeDocument/2006/relationships/slide" Target="/ppt/slides/slide6.xml" Id="R88105925fd474447" /><Relationship Type="http://schemas.openxmlformats.org/officeDocument/2006/relationships/slide" Target="/ppt/slides/slide7.xml" Id="R793140436fc04523" /><Relationship Type="http://schemas.openxmlformats.org/officeDocument/2006/relationships/slide" Target="/ppt/slides/slide8.xml" Id="Ree931815780648b8" /><Relationship Type="http://schemas.openxmlformats.org/officeDocument/2006/relationships/slide" Target="/ppt/slides/slide9.xml" Id="R662e498f85634427" /><Relationship Type="http://schemas.openxmlformats.org/officeDocument/2006/relationships/slide" Target="/ppt/slides/slide10.xml" Id="Rf36fd34c5c0e4a6d" /><Relationship Type="http://schemas.openxmlformats.org/officeDocument/2006/relationships/slide" Target="/ppt/slides/slide11.xml" Id="R1614b8b89e904b55" /><Relationship Type="http://schemas.openxmlformats.org/officeDocument/2006/relationships/slide" Target="/ppt/slides/slide12.xml" Id="R51ea4de86d364025" /><Relationship Type="http://schemas.openxmlformats.org/officeDocument/2006/relationships/slide" Target="/ppt/slides/slide13.xml" Id="R74bdc6a3a8024d5c" /><Relationship Type="http://schemas.openxmlformats.org/officeDocument/2006/relationships/slide" Target="/ppt/slides/slide14.xml" Id="R745b00550096474d" /><Relationship Type="http://schemas.openxmlformats.org/officeDocument/2006/relationships/slide" Target="/ppt/slides/slide15.xml" Id="Reba80e6611594921" /><Relationship Type="http://schemas.openxmlformats.org/officeDocument/2006/relationships/slide" Target="/ppt/slides/slide16.xml" Id="R631cb5e2fd3e45e8" /><Relationship Type="http://schemas.openxmlformats.org/officeDocument/2006/relationships/slide" Target="/ppt/slides/slide17.xml" Id="Rdc724bf3f7c14520" /><Relationship Type="http://schemas.openxmlformats.org/officeDocument/2006/relationships/slide" Target="/ppt/slides/slide18.xml" Id="Rd0a3b43afc00441a" /><Relationship Type="http://schemas.openxmlformats.org/officeDocument/2006/relationships/slide" Target="/ppt/slides/slide19.xml" Id="R2edc9840bed7418c" /><Relationship Type="http://schemas.openxmlformats.org/officeDocument/2006/relationships/slide" Target="/ppt/slides/slide20.xml" Id="R68ed23cefede4d92" /><Relationship Type="http://schemas.openxmlformats.org/officeDocument/2006/relationships/slide" Target="/ppt/slides/slide21.xml" Id="R0c0d1e9c9a87433d" /><Relationship Type="http://schemas.openxmlformats.org/officeDocument/2006/relationships/slide" Target="/ppt/slides/slide22.xml" Id="R991df99e969e4f28" /><Relationship Type="http://schemas.openxmlformats.org/officeDocument/2006/relationships/slide" Target="/ppt/slides/slide23.xml" Id="Rc6e5888b7faa47f6" /><Relationship Type="http://schemas.openxmlformats.org/officeDocument/2006/relationships/slide" Target="/ppt/slides/slide24.xml" Id="Rc776b396e76a40c2" /><Relationship Type="http://schemas.openxmlformats.org/officeDocument/2006/relationships/slide" Target="/ppt/slides/slide25.xml" Id="R6759dc267dea435a" /><Relationship Type="http://schemas.openxmlformats.org/officeDocument/2006/relationships/slide" Target="/ppt/slides/slide26.xml" Id="R1af9139bbc9244dc" /><Relationship Type="http://schemas.openxmlformats.org/officeDocument/2006/relationships/slide" Target="/ppt/slides/slide27.xml" Id="R26e63b9123274cd1" /><Relationship Type="http://schemas.openxmlformats.org/officeDocument/2006/relationships/slide" Target="/ppt/slides/slide28.xml" Id="R1b0a70c027f24b65" /><Relationship Type="http://schemas.openxmlformats.org/officeDocument/2006/relationships/slide" Target="/ppt/slides/slide29.xml" Id="R3fbec067a62e4557" /><Relationship Type="http://schemas.openxmlformats.org/officeDocument/2006/relationships/slide" Target="/ppt/slides/slide30.xml" Id="Rd8f4f0eb1d344c78" /><Relationship Type="http://schemas.openxmlformats.org/officeDocument/2006/relationships/slide" Target="/ppt/slides/slide31.xml" Id="R4172da19b2ee4b59" /><Relationship Type="http://schemas.openxmlformats.org/officeDocument/2006/relationships/slide" Target="/ppt/slides/slide32.xml" Id="R4ee66dcd1cba4374" /><Relationship Type="http://schemas.openxmlformats.org/officeDocument/2006/relationships/slide" Target="/ppt/slides/slide33.xml" Id="R29e7223fa568453a" /><Relationship Type="http://schemas.openxmlformats.org/officeDocument/2006/relationships/slide" Target="/ppt/slides/slide34.xml" Id="R89730083805d49ac" /><Relationship Type="http://schemas.openxmlformats.org/officeDocument/2006/relationships/slide" Target="/ppt/slides/slide35.xml" Id="R8b069892c28943eb" /><Relationship Type="http://schemas.openxmlformats.org/officeDocument/2006/relationships/slide" Target="/ppt/slides/slide36.xml" Id="Rcc74d72008004ce5" /><Relationship Type="http://schemas.openxmlformats.org/officeDocument/2006/relationships/slide" Target="/ppt/slides/slide37.xml" Id="Rf3c8e0389aac43a7" /><Relationship Type="http://schemas.openxmlformats.org/officeDocument/2006/relationships/slide" Target="/ppt/slides/slide38.xml" Id="R5496566bc37243f2" /><Relationship Type="http://schemas.openxmlformats.org/officeDocument/2006/relationships/slide" Target="/ppt/slides/slide39.xml" Id="R4d0515228cb64151" /><Relationship Type="http://schemas.openxmlformats.org/officeDocument/2006/relationships/slide" Target="/ppt/slides/slide40.xml" Id="R242ebbc317134fde" /><Relationship Type="http://schemas.openxmlformats.org/officeDocument/2006/relationships/slide" Target="/ppt/slides/slide41.xml" Id="Re498c625f6484d85" /><Relationship Type="http://schemas.openxmlformats.org/officeDocument/2006/relationships/slide" Target="/ppt/slides/slide42.xml" Id="R27530fa0727a47ad" /><Relationship Type="http://schemas.openxmlformats.org/officeDocument/2006/relationships/slide" Target="/ppt/slides/slide43.xml" Id="R2aa1f055fe0c48ae" /><Relationship Type="http://schemas.openxmlformats.org/officeDocument/2006/relationships/slide" Target="/ppt/slides/slide44.xml" Id="R72582d11211c400b" /><Relationship Type="http://schemas.openxmlformats.org/officeDocument/2006/relationships/slide" Target="/ppt/slides/slide45.xml" Id="Rc1f3042539c04fd6" /><Relationship Type="http://schemas.openxmlformats.org/officeDocument/2006/relationships/slide" Target="/ppt/slides/slide46.xml" Id="Ra3067f5a4b784987" /><Relationship Type="http://schemas.openxmlformats.org/officeDocument/2006/relationships/slide" Target="/ppt/slides/slide47.xml" Id="R72cb36ee2e7e4c83" /><Relationship Type="http://schemas.openxmlformats.org/officeDocument/2006/relationships/slide" Target="/ppt/slides/slide48.xml" Id="R0d2e7160fadb4cc3" /><Relationship Type="http://schemas.openxmlformats.org/officeDocument/2006/relationships/slide" Target="/ppt/slides/slide49.xml" Id="Rf2abf3ea95344903" /><Relationship Type="http://schemas.openxmlformats.org/officeDocument/2006/relationships/slide" Target="/ppt/slides/slide50.xml" Id="R77b174b465b24e4f" /><Relationship Type="http://schemas.openxmlformats.org/officeDocument/2006/relationships/slide" Target="/ppt/slides/slide51.xml" Id="Rc2abf1c0221a4c1e" /><Relationship Type="http://schemas.openxmlformats.org/officeDocument/2006/relationships/slide" Target="/ppt/slides/slide52.xml" Id="R18284c1f39364375" /><Relationship Type="http://schemas.openxmlformats.org/officeDocument/2006/relationships/slide" Target="/ppt/slides/slide53.xml" Id="R2fbf891c3bf340e5" /><Relationship Type="http://schemas.openxmlformats.org/officeDocument/2006/relationships/slide" Target="/ppt/slides/slide54.xml" Id="R779e29b2a78c4c52" /><Relationship Type="http://schemas.openxmlformats.org/officeDocument/2006/relationships/slide" Target="/ppt/slides/slide55.xml" Id="R0c95a7c3e29f43d4" /><Relationship Type="http://schemas.openxmlformats.org/officeDocument/2006/relationships/slide" Target="/ppt/slides/slide56.xml" Id="R2ae01b4b35544e04" /><Relationship Type="http://schemas.openxmlformats.org/officeDocument/2006/relationships/slide" Target="/ppt/slides/slide57.xml" Id="R8d6fc202929848ab" /><Relationship Type="http://schemas.openxmlformats.org/officeDocument/2006/relationships/slide" Target="/ppt/slides/slide58.xml" Id="R9908fc82b7ff4ff1" /><Relationship Type="http://schemas.openxmlformats.org/officeDocument/2006/relationships/slide" Target="/ppt/slides/slide59.xml" Id="Rf0c88018f1b545a0" /><Relationship Type="http://schemas.openxmlformats.org/officeDocument/2006/relationships/slide" Target="/ppt/slides/slide60.xml" Id="Rade94762927d461a" /><Relationship Type="http://schemas.openxmlformats.org/officeDocument/2006/relationships/slide" Target="/ppt/slides/slide61.xml" Id="Rab19f01fe1b64609" /><Relationship Type="http://schemas.openxmlformats.org/officeDocument/2006/relationships/slide" Target="/ppt/slides/slide62.xml" Id="Rafb54c599a2a43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649c0da23343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213db6d63d44f8" /><Relationship Type="http://schemas.openxmlformats.org/officeDocument/2006/relationships/notesMaster" Target="/ppt/notesMasters/notesMaster1.xml" Id="Rcf8a6f6c319745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889fb750094a29" /><Relationship Type="http://schemas.openxmlformats.org/officeDocument/2006/relationships/notesMaster" Target="/ppt/notesMasters/notesMaster1.xml" Id="R432e0cb527684d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0cac306d4c4e04" /><Relationship Type="http://schemas.openxmlformats.org/officeDocument/2006/relationships/notesMaster" Target="/ppt/notesMasters/notesMaster1.xml" Id="R0886e31ee4ce4c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8a40c8d3a749e9" /><Relationship Type="http://schemas.openxmlformats.org/officeDocument/2006/relationships/notesMaster" Target="/ppt/notesMasters/notesMaster1.xml" Id="R9e2360d8ceb8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d4200808b64c85" /><Relationship Type="http://schemas.openxmlformats.org/officeDocument/2006/relationships/notesMaster" Target="/ppt/notesMasters/notesMaster1.xml" Id="Rd61ba0126f6546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7054573a764253" /><Relationship Type="http://schemas.openxmlformats.org/officeDocument/2006/relationships/notesMaster" Target="/ppt/notesMasters/notesMaster1.xml" Id="R72bb14d3341d41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57e990735b4cab" /><Relationship Type="http://schemas.openxmlformats.org/officeDocument/2006/relationships/notesMaster" Target="/ppt/notesMasters/notesMaster1.xml" Id="Rd1093bb30a6843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5aec9a154e4608" /><Relationship Type="http://schemas.openxmlformats.org/officeDocument/2006/relationships/notesMaster" Target="/ppt/notesMasters/notesMaster1.xml" Id="R64d0cab4f75844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cc28c21adb4478" /><Relationship Type="http://schemas.openxmlformats.org/officeDocument/2006/relationships/notesMaster" Target="/ppt/notesMasters/notesMaster1.xml" Id="R17951c307d1945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2b3dbfd395454a" /><Relationship Type="http://schemas.openxmlformats.org/officeDocument/2006/relationships/notesMaster" Target="/ppt/notesMasters/notesMaster1.xml" Id="R553404d7636346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eec8a1ef0f46c0" /><Relationship Type="http://schemas.openxmlformats.org/officeDocument/2006/relationships/notesMaster" Target="/ppt/notesMasters/notesMaster1.xml" Id="Rd70f45de982643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580600fd1f43a4" /><Relationship Type="http://schemas.openxmlformats.org/officeDocument/2006/relationships/notesMaster" Target="/ppt/notesMasters/notesMaster1.xml" Id="Raee0af7b483c48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1abfde6ed24344" /><Relationship Type="http://schemas.openxmlformats.org/officeDocument/2006/relationships/notesMaster" Target="/ppt/notesMasters/notesMaster1.xml" Id="Rd798679ecc154b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4ba33b49d34d9e" /><Relationship Type="http://schemas.openxmlformats.org/officeDocument/2006/relationships/notesMaster" Target="/ppt/notesMasters/notesMaster1.xml" Id="Rcd87be6dbc714b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99f94934b44b1f" /><Relationship Type="http://schemas.openxmlformats.org/officeDocument/2006/relationships/notesMaster" Target="/ppt/notesMasters/notesMaster1.xml" Id="R538c25343b4047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2be02fcf0e4ea1" /><Relationship Type="http://schemas.openxmlformats.org/officeDocument/2006/relationships/notesMaster" Target="/ppt/notesMasters/notesMaster1.xml" Id="Ra633cf3e3f1b47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6e6633caf947a4" /><Relationship Type="http://schemas.openxmlformats.org/officeDocument/2006/relationships/notesMaster" Target="/ppt/notesMasters/notesMaster1.xml" Id="R09cf7549d6414c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ebb804a8d464b35" /><Relationship Type="http://schemas.openxmlformats.org/officeDocument/2006/relationships/notesMaster" Target="/ppt/notesMasters/notesMaster1.xml" Id="R0318c9c9a19947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e5edb1a217444f" /><Relationship Type="http://schemas.openxmlformats.org/officeDocument/2006/relationships/notesMaster" Target="/ppt/notesMasters/notesMaster1.xml" Id="R3fb65663301a48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dc4b5625e14187" /><Relationship Type="http://schemas.openxmlformats.org/officeDocument/2006/relationships/notesMaster" Target="/ppt/notesMasters/notesMaster1.xml" Id="R7f10428355e546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4290c63cdb244d7" /><Relationship Type="http://schemas.openxmlformats.org/officeDocument/2006/relationships/notesMaster" Target="/ppt/notesMasters/notesMaster1.xml" Id="Rec616827ec1b4e9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8443f4da274843" /><Relationship Type="http://schemas.openxmlformats.org/officeDocument/2006/relationships/notesMaster" Target="/ppt/notesMasters/notesMaster1.xml" Id="R4be501748b5441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d9270663a2413a" /><Relationship Type="http://schemas.openxmlformats.org/officeDocument/2006/relationships/notesMaster" Target="/ppt/notesMasters/notesMaster1.xml" Id="Rf8526d388cfa4f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0b579536434586" /><Relationship Type="http://schemas.openxmlformats.org/officeDocument/2006/relationships/notesMaster" Target="/ppt/notesMasters/notesMaster1.xml" Id="R93a9d1aadc8e4c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eb97d9c6acf4e51" /><Relationship Type="http://schemas.openxmlformats.org/officeDocument/2006/relationships/notesMaster" Target="/ppt/notesMasters/notesMaster1.xml" Id="Rcfca148080dd41a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fb9984c40b44315" /><Relationship Type="http://schemas.openxmlformats.org/officeDocument/2006/relationships/notesMaster" Target="/ppt/notesMasters/notesMaster1.xml" Id="R803b4d6f179744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e88151f43bc4f8d" /><Relationship Type="http://schemas.openxmlformats.org/officeDocument/2006/relationships/notesMaster" Target="/ppt/notesMasters/notesMaster1.xml" Id="R89e3ebfa9e834b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62e31fa0b4b4616" /><Relationship Type="http://schemas.openxmlformats.org/officeDocument/2006/relationships/notesMaster" Target="/ppt/notesMasters/notesMaster1.xml" Id="R648306a343cb4d2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29d18cc17246e3" /><Relationship Type="http://schemas.openxmlformats.org/officeDocument/2006/relationships/notesMaster" Target="/ppt/notesMasters/notesMaster1.xml" Id="R8b8606c63c00430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87e1e29f9cb4016" /><Relationship Type="http://schemas.openxmlformats.org/officeDocument/2006/relationships/notesMaster" Target="/ppt/notesMasters/notesMaster1.xml" Id="R153d7d7d85e74a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dd57403e2de4dc6" /><Relationship Type="http://schemas.openxmlformats.org/officeDocument/2006/relationships/notesMaster" Target="/ppt/notesMasters/notesMaster1.xml" Id="R138ae8de67d2428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1d015357b134c5a" /><Relationship Type="http://schemas.openxmlformats.org/officeDocument/2006/relationships/notesMaster" Target="/ppt/notesMasters/notesMaster1.xml" Id="Rc8046dc4532c41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e6a2462aa594ffd" /><Relationship Type="http://schemas.openxmlformats.org/officeDocument/2006/relationships/notesMaster" Target="/ppt/notesMasters/notesMaster1.xml" Id="R76fe814c20f04e1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6cf0dbb92ec44de" /><Relationship Type="http://schemas.openxmlformats.org/officeDocument/2006/relationships/notesMaster" Target="/ppt/notesMasters/notesMaster1.xml" Id="R76d4992b7e7f47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91a9835c03f47b1" /><Relationship Type="http://schemas.openxmlformats.org/officeDocument/2006/relationships/notesMaster" Target="/ppt/notesMasters/notesMaster1.xml" Id="R5d9610cb6116402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847b039a46240a0" /><Relationship Type="http://schemas.openxmlformats.org/officeDocument/2006/relationships/notesMaster" Target="/ppt/notesMasters/notesMaster1.xml" Id="R2e6ab585501040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835a1338264266" /><Relationship Type="http://schemas.openxmlformats.org/officeDocument/2006/relationships/notesMaster" Target="/ppt/notesMasters/notesMaster1.xml" Id="R3c6b8905ef08445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67126421e894354" /><Relationship Type="http://schemas.openxmlformats.org/officeDocument/2006/relationships/notesMaster" Target="/ppt/notesMasters/notesMaster1.xml" Id="Rce08236d90ad4d8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0dce2994f1f4c8e" /><Relationship Type="http://schemas.openxmlformats.org/officeDocument/2006/relationships/notesMaster" Target="/ppt/notesMasters/notesMaster1.xml" Id="Rd6b1b3b41c73445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3154efdead24996" /><Relationship Type="http://schemas.openxmlformats.org/officeDocument/2006/relationships/notesMaster" Target="/ppt/notesMasters/notesMaster1.xml" Id="R19868ed2457344c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df434aecb654373" /><Relationship Type="http://schemas.openxmlformats.org/officeDocument/2006/relationships/notesMaster" Target="/ppt/notesMasters/notesMaster1.xml" Id="Re93d4e8278ef405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01768f516044f47" /><Relationship Type="http://schemas.openxmlformats.org/officeDocument/2006/relationships/notesMaster" Target="/ppt/notesMasters/notesMaster1.xml" Id="Raf14fd8c4e6846f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f6a4f1c93c842bb" /><Relationship Type="http://schemas.openxmlformats.org/officeDocument/2006/relationships/notesMaster" Target="/ppt/notesMasters/notesMaster1.xml" Id="Rca0dc2662eb3425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4aedc6b1b0f4ead" /><Relationship Type="http://schemas.openxmlformats.org/officeDocument/2006/relationships/notesMaster" Target="/ppt/notesMasters/notesMaster1.xml" Id="R1a43d9cee9e2424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8a43b1511d8461e" /><Relationship Type="http://schemas.openxmlformats.org/officeDocument/2006/relationships/notesMaster" Target="/ppt/notesMasters/notesMaster1.xml" Id="Rf10dfb9a634e432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aa6eaf31e344708" /><Relationship Type="http://schemas.openxmlformats.org/officeDocument/2006/relationships/notesMaster" Target="/ppt/notesMasters/notesMaster1.xml" Id="R98f584d4399e49b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70e685a47bb43e3" /><Relationship Type="http://schemas.openxmlformats.org/officeDocument/2006/relationships/notesMaster" Target="/ppt/notesMasters/notesMaster1.xml" Id="R8f7fb34ce3f24f9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f7b47e18a314361" /><Relationship Type="http://schemas.openxmlformats.org/officeDocument/2006/relationships/notesMaster" Target="/ppt/notesMasters/notesMaster1.xml" Id="Refb935811f994c9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5a8bc844a204fd6" /><Relationship Type="http://schemas.openxmlformats.org/officeDocument/2006/relationships/notesMaster" Target="/ppt/notesMasters/notesMaster1.xml" Id="R876cd4e60e8f4c8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cfd0833735a4209" /><Relationship Type="http://schemas.openxmlformats.org/officeDocument/2006/relationships/notesMaster" Target="/ppt/notesMasters/notesMaster1.xml" Id="Rfb9d4d2399d24de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2fa2cce130b43cb" /><Relationship Type="http://schemas.openxmlformats.org/officeDocument/2006/relationships/notesMaster" Target="/ppt/notesMasters/notesMaster1.xml" Id="Rdffd49e3a6bf4a0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a572222d7db420e" /><Relationship Type="http://schemas.openxmlformats.org/officeDocument/2006/relationships/notesMaster" Target="/ppt/notesMasters/notesMaster1.xml" Id="Rcc64ad6639f04c8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a9ad82cc75f486f" /><Relationship Type="http://schemas.openxmlformats.org/officeDocument/2006/relationships/notesMaster" Target="/ppt/notesMasters/notesMaster1.xml" Id="Rbc59eeaae853415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54d18dcdccf40dc" /><Relationship Type="http://schemas.openxmlformats.org/officeDocument/2006/relationships/notesMaster" Target="/ppt/notesMasters/notesMaster1.xml" Id="R7b821fd5e8bc4f4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f05eb840c704279" /><Relationship Type="http://schemas.openxmlformats.org/officeDocument/2006/relationships/notesMaster" Target="/ppt/notesMasters/notesMaster1.xml" Id="Re917baf0f6ca4ff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ea69adf6b2845b0" /><Relationship Type="http://schemas.openxmlformats.org/officeDocument/2006/relationships/notesMaster" Target="/ppt/notesMasters/notesMaster1.xml" Id="R86e9d2a8be7f4f9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eb005913ddc4351" /><Relationship Type="http://schemas.openxmlformats.org/officeDocument/2006/relationships/notesMaster" Target="/ppt/notesMasters/notesMaster1.xml" Id="R41753eca70db4ae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dc860baa8334d64" /><Relationship Type="http://schemas.openxmlformats.org/officeDocument/2006/relationships/notesMaster" Target="/ppt/notesMasters/notesMaster1.xml" Id="R3a5c5cfb8987470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c3773ba05a748cf" /><Relationship Type="http://schemas.openxmlformats.org/officeDocument/2006/relationships/notesMaster" Target="/ppt/notesMasters/notesMaster1.xml" Id="R36b30edc0e5a49c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fa1d14bba464b2b" /><Relationship Type="http://schemas.openxmlformats.org/officeDocument/2006/relationships/notesMaster" Target="/ppt/notesMasters/notesMaster1.xml" Id="R7e13acab13574ab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e707cbe2c4941d6" /><Relationship Type="http://schemas.openxmlformats.org/officeDocument/2006/relationships/notesMaster" Target="/ppt/notesMasters/notesMaster1.xml" Id="Rdb927fc13df047d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29d3fb226374d54" /><Relationship Type="http://schemas.openxmlformats.org/officeDocument/2006/relationships/notesMaster" Target="/ppt/notesMasters/notesMaster1.xml" Id="Rd838f5b3bf754e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 Open with the system problem, not the implementation history. Thank Raquel Ros, IIIA-CSIC, SocialMinds, and the JAE-ICU programme in one sentence, then state that the thesis concerns the complete interaction architecture and its qualification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State the central question once. The three objective verbs compress the seven thesis objectives. Map the five research questions to plans, grounding, admission, recovery,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the committee asks for the complete objective list beyond the three objective verbs shown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 Explain that event presence alone was insufficient. The harness compared requested, selected, planned, executed, and reported target sets; role integrity; ordered constraints; KB postconditions; report coverage; and exactly-once speech.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 Keep denominators explicit. The 191 supplementary observations do not enlarge or replace the 72-record primary qualification.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 Read the exact counts, not only the percentages. Use the 8.4 score later, after the evidence components. State that not all 72 records were physical robot 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Distinguish containment from repair. The architecture caught the two incomplete capability-extreme plans, but target selection, role assignment, clarification, and closure still depended partly on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Qwen3.5 and Ollama evidence was narrower and mostly screening-level. The final Gemma fallback passed preflight and one dialogue smoke turn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This is retained evidence, not a staged live run. The corresponding beginning-stage navigation trace preserved a four-target objective and closed. Later-stage delivery and missing-recipient cases were less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maximum. Show rqt input and the trace viewer side by side. Allow about 25 seconds per turn. If a response stalls, stop immediately, state that the live run is illustrative rather than scored, and continue to the retained evidence. Do not change models, relaunch nodes, or troubleshoot during the defence. If the robot is present, the third turn may use real head motion and TTS. Without the robot, use the deterministic adapter and show the typed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 committee member asks for a direct answer to one or more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Cover ethics and sustainability briefly: execution authority remains bounded; no human-subject or safety claim is made; controlled adapters reduce unnecessary robot trials and enable reproducibility. Transfer remains an architectural proposition until measured on another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 Keep LocateAnything and broader detector work as future work. The immediate physical path is real head/gaze and wave, followed by navigation and manipulation only when spatial and safety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These are the three contributions to leave in the committee's notes. Avoid claiming a first or universal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 Pause after the second statement. Thank the committee. Do not introduce new future work during the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when asked for the exact denominators. Explain that overlapping evidence families are not summed into a new denominator.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 Walk left to right. Dialogue owns speech. The chatbot routes and grounds. The planner proposes. The orchestrator validates and dispatches. Skills return evidence. The same lineage reaches one final dialogue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4d527d00a743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5672a3e79a4440" /><Relationship Type="http://schemas.openxmlformats.org/officeDocument/2006/relationships/slideLayout" Target="/ppt/slideLayouts/slideLayout1.xml" Id="R19c07775e2304e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c07775e2304e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5e68d6297742f9" /><Relationship Type="http://schemas.openxmlformats.org/officeDocument/2006/relationships/image" Target="/ppt/media/image.png" Id="R91e8882358dd447d" /><Relationship Type="http://schemas.openxmlformats.org/officeDocument/2006/relationships/chart" Target="/ppt/slides/charts/chart1.xml" Id="Re190685f00ff43c3" /><Relationship Type="http://schemas.openxmlformats.org/officeDocument/2006/relationships/notesSlide" Target="/ppt/notesSlides/notesSlide1.xml" Id="R656407300f0e4b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fb034bc3df4bc1" /><Relationship Type="http://schemas.openxmlformats.org/officeDocument/2006/relationships/notesSlide" Target="/ppt/notesSlides/notesSlide2.xml" Id="Rfbdc6d9c9d2f4b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ade3a0ed8f4752" /><Relationship Type="http://schemas.openxmlformats.org/officeDocument/2006/relationships/notesSlide" Target="/ppt/notesSlides/notesSlide3.xml" Id="R74ab334a1b3b46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ec2ebfe9a44484" /><Relationship Type="http://schemas.openxmlformats.org/officeDocument/2006/relationships/notesSlide" Target="/ppt/notesSlides/notesSlide4.xml" Id="Rba8a89a9103c4c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fd33898f734208" /><Relationship Type="http://schemas.openxmlformats.org/officeDocument/2006/relationships/notesSlide" Target="/ppt/notesSlides/notesSlide5.xml" Id="R240a3268ffac4a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ef497de54046cd" /><Relationship Type="http://schemas.openxmlformats.org/officeDocument/2006/relationships/notesSlide" Target="/ppt/notesSlides/notesSlide6.xml" Id="Rc75d993fba5543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ee4155785943bf" /><Relationship Type="http://schemas.openxmlformats.org/officeDocument/2006/relationships/notesSlide" Target="/ppt/notesSlides/notesSlide7.xml" Id="Rd6ee14e62c4f41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58dd0562544a07" /><Relationship Type="http://schemas.openxmlformats.org/officeDocument/2006/relationships/notesSlide" Target="/ppt/notesSlides/notesSlide8.xml" Id="R6d5d4b12ffee44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c630f0febf4456" /><Relationship Type="http://schemas.openxmlformats.org/officeDocument/2006/relationships/notesSlide" Target="/ppt/notesSlides/notesSlide9.xml" Id="R0dec65495b3f46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600233d0794283" /><Relationship Type="http://schemas.openxmlformats.org/officeDocument/2006/relationships/notesSlide" Target="/ppt/notesSlides/notesSlide10.xml" Id="R72a9a2f3ccd84e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fae42177514a70" /><Relationship Type="http://schemas.openxmlformats.org/officeDocument/2006/relationships/notesSlide" Target="/ppt/notesSlides/notesSlide11.xml" Id="R0f11adceebdf48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4a449ab2624791" /><Relationship Type="http://schemas.openxmlformats.org/officeDocument/2006/relationships/notesSlide" Target="/ppt/notesSlides/notesSlide12.xml" Id="R1dd100e19a2947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ceabc9f10f04c3d" /><Relationship Type="http://schemas.openxmlformats.org/officeDocument/2006/relationships/notesSlide" Target="/ppt/notesSlides/notesSlide13.xml" Id="Rddd21f2565794a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371d4ef0894728" /><Relationship Type="http://schemas.openxmlformats.org/officeDocument/2006/relationships/notesSlide" Target="/ppt/notesSlides/notesSlide14.xml" Id="R75a1b54691fb43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b33c460d0043c6" /><Relationship Type="http://schemas.openxmlformats.org/officeDocument/2006/relationships/notesSlide" Target="/ppt/notesSlides/notesSlide15.xml" Id="R7e59e4f6fcb448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f78b23010dd48a3" /><Relationship Type="http://schemas.openxmlformats.org/officeDocument/2006/relationships/notesSlide" Target="/ppt/notesSlides/notesSlide16.xml" Id="Rb657b9ceae934c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597e8e94425497f" /><Relationship Type="http://schemas.openxmlformats.org/officeDocument/2006/relationships/notesSlide" Target="/ppt/notesSlides/notesSlide17.xml" Id="R0145437be76646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55034717604f35" /><Relationship Type="http://schemas.openxmlformats.org/officeDocument/2006/relationships/notesSlide" Target="/ppt/notesSlides/notesSlide18.xml" Id="R9a743d3c7fa743a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0cc4f80aa847f3" /><Relationship Type="http://schemas.openxmlformats.org/officeDocument/2006/relationships/notesSlide" Target="/ppt/notesSlides/notesSlide19.xml" Id="Rfb8752226bde43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7ab27727c93493a" /><Relationship Type="http://schemas.openxmlformats.org/officeDocument/2006/relationships/notesSlide" Target="/ppt/notesSlides/notesSlide20.xml" Id="R85a85dc9412449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85b2e051f3445c2" /><Relationship Type="http://schemas.openxmlformats.org/officeDocument/2006/relationships/notesSlide" Target="/ppt/notesSlides/notesSlide21.xml" Id="R22abc60e6f1c41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ad242dacbed4212" /><Relationship Type="http://schemas.openxmlformats.org/officeDocument/2006/relationships/notesSlide" Target="/ppt/notesSlides/notesSlide22.xml" Id="R91c3781d613f41c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f7208f1ec15400e" /><Relationship Type="http://schemas.openxmlformats.org/officeDocument/2006/relationships/chart" Target="/ppt/slides/charts/chart2.xml" Id="R0adb5c9a33db4792" /><Relationship Type="http://schemas.openxmlformats.org/officeDocument/2006/relationships/notesSlide" Target="/ppt/notesSlides/notesSlide23.xml" Id="R0b49282c75a346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f20af29a07e439b" /><Relationship Type="http://schemas.openxmlformats.org/officeDocument/2006/relationships/notesSlide" Target="/ppt/notesSlides/notesSlide24.xml" Id="R5e1441aca2984e7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5427c92c77949ad" /><Relationship Type="http://schemas.openxmlformats.org/officeDocument/2006/relationships/notesSlide" Target="/ppt/notesSlides/notesSlide25.xml" Id="Rd27515abb1004d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51467306d794827" /><Relationship Type="http://schemas.openxmlformats.org/officeDocument/2006/relationships/notesSlide" Target="/ppt/notesSlides/notesSlide26.xml" Id="R8c0a9819c6464ca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d0783af56394bad" /><Relationship Type="http://schemas.openxmlformats.org/officeDocument/2006/relationships/notesSlide" Target="/ppt/notesSlides/notesSlide27.xml" Id="R06e2fd2a27184e9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769cf7622ad4ce3" /><Relationship Type="http://schemas.openxmlformats.org/officeDocument/2006/relationships/notesSlide" Target="/ppt/notesSlides/notesSlide28.xml" Id="R64ae2c1be6894d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7478e2a96fb4421" /><Relationship Type="http://schemas.openxmlformats.org/officeDocument/2006/relationships/notesSlide" Target="/ppt/notesSlides/notesSlide29.xml" Id="R8448c604b32f4c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d7b7d02f7a44d01" /><Relationship Type="http://schemas.openxmlformats.org/officeDocument/2006/relationships/notesSlide" Target="/ppt/notesSlides/notesSlide30.xml" Id="R1160f8d1e40b486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7b0bf9e10544c35" /><Relationship Type="http://schemas.openxmlformats.org/officeDocument/2006/relationships/notesSlide" Target="/ppt/notesSlides/notesSlide31.xml" Id="R0114fed57eb6463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37161cda9b0414a" /><Relationship Type="http://schemas.openxmlformats.org/officeDocument/2006/relationships/notesSlide" Target="/ppt/notesSlides/notesSlide32.xml" Id="R4c11155544c845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308bc3491d4d8f" /><Relationship Type="http://schemas.openxmlformats.org/officeDocument/2006/relationships/notesSlide" Target="/ppt/notesSlides/notesSlide33.xml" Id="R040b285b5b8d4b2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9217d6ad3d74418" /><Relationship Type="http://schemas.openxmlformats.org/officeDocument/2006/relationships/notesSlide" Target="/ppt/notesSlides/notesSlide34.xml" Id="R26b7d841c79949f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c3969802f4d4ac7" /><Relationship Type="http://schemas.openxmlformats.org/officeDocument/2006/relationships/notesSlide" Target="/ppt/notesSlides/notesSlide35.xml" Id="R1d34bc59af8c4d3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6cd71a297254e0c" /><Relationship Type="http://schemas.openxmlformats.org/officeDocument/2006/relationships/notesSlide" Target="/ppt/notesSlides/notesSlide36.xml" Id="R6aa7951fcc504d9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b38f20ab403464d" /><Relationship Type="http://schemas.openxmlformats.org/officeDocument/2006/relationships/notesSlide" Target="/ppt/notesSlides/notesSlide37.xml" Id="R6b86fb4d889b4bb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1317e6a072a42e3" /><Relationship Type="http://schemas.openxmlformats.org/officeDocument/2006/relationships/notesSlide" Target="/ppt/notesSlides/notesSlide38.xml" Id="R726592363374493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7f7a6698664869" /><Relationship Type="http://schemas.openxmlformats.org/officeDocument/2006/relationships/notesSlide" Target="/ppt/notesSlides/notesSlide39.xml" Id="R1d56e57893144b9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95ba9cc154441cf" /><Relationship Type="http://schemas.openxmlformats.org/officeDocument/2006/relationships/notesSlide" Target="/ppt/notesSlides/notesSlide40.xml" Id="R84098119e4b6451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b19c26ff3944b8f" /><Relationship Type="http://schemas.openxmlformats.org/officeDocument/2006/relationships/notesSlide" Target="/ppt/notesSlides/notesSlide41.xml" Id="R91f098d3747142e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d4110a780ac4d05" /><Relationship Type="http://schemas.openxmlformats.org/officeDocument/2006/relationships/notesSlide" Target="/ppt/notesSlides/notesSlide42.xml" Id="R596fff3946c348c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aab5c57e14945cb" /><Relationship Type="http://schemas.openxmlformats.org/officeDocument/2006/relationships/notesSlide" Target="/ppt/notesSlides/notesSlide43.xml" Id="R9dce23c6763b4cb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2b1b9b6e8694e55" /><Relationship Type="http://schemas.openxmlformats.org/officeDocument/2006/relationships/notesSlide" Target="/ppt/notesSlides/notesSlide44.xml" Id="R7106424ae64d45a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8fb0e77d2ad4aa0" /><Relationship Type="http://schemas.openxmlformats.org/officeDocument/2006/relationships/notesSlide" Target="/ppt/notesSlides/notesSlide45.xml" Id="R98d2da944afb408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d13adf1a85d49c7" /><Relationship Type="http://schemas.openxmlformats.org/officeDocument/2006/relationships/notesSlide" Target="/ppt/notesSlides/notesSlide46.xml" Id="R893ab189c521435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c6f69eb0f4c4e5e" /><Relationship Type="http://schemas.openxmlformats.org/officeDocument/2006/relationships/notesSlide" Target="/ppt/notesSlides/notesSlide47.xml" Id="Rba99c0a71e8a470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ead7dd404ad46ae" /><Relationship Type="http://schemas.openxmlformats.org/officeDocument/2006/relationships/notesSlide" Target="/ppt/notesSlides/notesSlide48.xml" Id="R52b46983ded8433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617714ef6c64ca4" /><Relationship Type="http://schemas.openxmlformats.org/officeDocument/2006/relationships/notesSlide" Target="/ppt/notesSlides/notesSlide49.xml" Id="R54d1b202f5f5404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1b07bc64c2e4959" /><Relationship Type="http://schemas.openxmlformats.org/officeDocument/2006/relationships/notesSlide" Target="/ppt/notesSlides/notesSlide50.xml" Id="R2e114c4fe3b2442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7f92a95a080444e" /><Relationship Type="http://schemas.openxmlformats.org/officeDocument/2006/relationships/notesSlide" Target="/ppt/notesSlides/notesSlide51.xml" Id="R384643095973404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f4fd12f05da4a29" /><Relationship Type="http://schemas.openxmlformats.org/officeDocument/2006/relationships/notesSlide" Target="/ppt/notesSlides/notesSlide52.xml" Id="Rf536af189a064d3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f3b7eabebe74c71" /><Relationship Type="http://schemas.openxmlformats.org/officeDocument/2006/relationships/notesSlide" Target="/ppt/notesSlides/notesSlide53.xml" Id="Rd9c37a4bb79443c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024a2793cbc4713" /><Relationship Type="http://schemas.openxmlformats.org/officeDocument/2006/relationships/notesSlide" Target="/ppt/notesSlides/notesSlide54.xml" Id="R64594fbac8e9495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815626d18914588" /><Relationship Type="http://schemas.openxmlformats.org/officeDocument/2006/relationships/notesSlide" Target="/ppt/notesSlides/notesSlide55.xml" Id="R1816d06656b64d9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449ff050e714ecc" /><Relationship Type="http://schemas.openxmlformats.org/officeDocument/2006/relationships/notesSlide" Target="/ppt/notesSlides/notesSlide56.xml" Id="Rb4b62c12400e459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0e9dc258e67492b" /><Relationship Type="http://schemas.openxmlformats.org/officeDocument/2006/relationships/notesSlide" Target="/ppt/notesSlides/notesSlide57.xml" Id="Ra15c0adb8390413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a1b56b7f51846ba" /><Relationship Type="http://schemas.openxmlformats.org/officeDocument/2006/relationships/notesSlide" Target="/ppt/notesSlides/notesSlide58.xml" Id="R29ab7ae303784ea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57abedfa4f14209" /><Relationship Type="http://schemas.openxmlformats.org/officeDocument/2006/relationships/notesSlide" Target="/ppt/notesSlides/notesSlide59.xml" Id="Rbf1c681fcef644f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d44cc4cbfa84262" /><Relationship Type="http://schemas.openxmlformats.org/officeDocument/2006/relationships/notesSlide" Target="/ppt/notesSlides/notesSlide60.xml" Id="R9679ded9eeb9461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bfcdba3dcba64468" /><Relationship Type="http://schemas.openxmlformats.org/officeDocument/2006/relationships/notesSlide" Target="/ppt/notesSlides/notesSlide61.xml" Id="R5df56d73e42a488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87f8a12be954250" /><Relationship Type="http://schemas.openxmlformats.org/officeDocument/2006/relationships/notesSlide" Target="/ppt/notesSlides/notesSlide62.xml" Id="R783f9a7e9ade4d2f" /></Relationships>
</file>

<file path=ppt/slides/charts/chart1.xml><?xml version="1.0" encoding="utf-8"?>
<c:chartSpace xmlns:c="http://schemas.openxmlformats.org/drawingml/2006/chart">
  <c:lang val="en-US"/>
  <c:chart>
    <c:plotArea>
      <c:doughnutChart>
        <c:ser>
          <c:idx val="0"/>
          <c:order val="0"/>
          <c:tx>
            <c:v>Architecture</c:v>
          </c:tx>
          <c:dPt>
            <c:idx val="0"/>
            <c:spPr>
              <a:solidFill xmlns:a="http://schemas.openxmlformats.org/drawingml/2006/main">
                <a:srgbClr val="0C6570"/>
              </a:solidFill>
            </c:spPr>
          </c:dPt>
          <c:dPt>
            <c:idx val="1"/>
            <c:spPr>
              <a:solidFill xmlns:a="http://schemas.openxmlformats.org/drawingml/2006/main">
                <a:srgbClr val="E89A2F"/>
              </a:solidFill>
            </c:spPr>
          </c:dPt>
          <c:dPt>
            <c:idx val="2"/>
            <c:spPr>
              <a:solidFill xmlns:a="http://schemas.openxmlformats.org/drawingml/2006/main">
                <a:srgbClr val="CCD7D6"/>
              </a:solidFill>
            </c:spPr>
          </c:dPt>
          <c:dPt>
            <c:idx val="3"/>
            <c:spPr>
              <a:solidFill xmlns:a="http://schemas.openxmlformats.org/drawingml/2006/main">
                <a:srgbClr val="073F47"/>
              </a:solidFill>
            </c:spPr>
          </c:dPt>
          <c:dLbls/>
          <c:cat>
            <c:strLit>
              <c:ptCount val="4"/>
              <c:pt idx="0">
                <c:v>ROS 2</c:v>
              </c:pt>
              <c:pt idx="1">
                <c:v>LLM</c:v>
              </c:pt>
              <c:pt idx="2">
                <c:v>Grounding</c:v>
              </c:pt>
              <c:pt idx="3">
                <c:v>NAO</c:v>
              </c:pt>
            </c:strLit>
          </c:cat>
          <c:val>
            <c:numLit>
              <c:formatCode>General</c:formatCode>
              <c:ptCount val="4"/>
              <c:pt idx="0">
                <c:v>26</c:v>
              </c:pt>
              <c:pt idx="1">
                <c:v>16</c:v>
              </c:pt>
              <c:pt idx="2">
                <c:v>31</c:v>
              </c:pt>
              <c:pt idx="3">
                <c:v>27</c:v>
              </c:pt>
            </c:numLit>
          </c:val>
        </c:ser>
        <c:dLbls/>
        <c:firstSliceAng val="325"/>
        <c:holeSize val="34"/>
      </c:doughnutChart>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Pass rate</c:v>
          </c:tx>
          <c:spPr>
            <a:solidFill xmlns:a="http://schemas.openxmlformats.org/drawingml/2006/main">
              <a:srgbClr val="0C6570"/>
            </a:solidFill>
          </c:spPr>
          <c:dLbls/>
          <c:cat>
            <c:strLit>
              <c:ptCount val="5"/>
              <c:pt idx="0">
                <c:v>Environment 11/11</c:v>
              </c:pt>
              <c:pt idx="1">
                <c:v>Stateful KB 7/7</c:v>
              </c:pt>
              <c:pt idx="2">
                <c:v>Robustness 12/15</c:v>
              </c:pt>
              <c:pt idx="3">
                <c:v>Fake deep 7/9</c:v>
              </c:pt>
              <c:pt idx="4">
                <c:v>Capability extreme 5/7</c:v>
              </c:pt>
            </c:strLit>
          </c:cat>
          <c:val>
            <c:numLit>
              <c:formatCode>General</c:formatCode>
              <c:ptCount val="5"/>
              <c:pt idx="0">
                <c:v>100</c:v>
              </c:pt>
              <c:pt idx="1">
                <c:v>100</c:v>
              </c:pt>
              <c:pt idx="2">
                <c:v>80</c:v>
              </c:pt>
              <c:pt idx="3">
                <c:v>78</c:v>
              </c:pt>
              <c:pt idx="4">
                <c:v>71</c:v>
              </c:pt>
            </c:numLit>
          </c:val>
        </c:ser>
        <c:dLbls>
          <c:txPr>
            <a:bodyPr xmlns:a="http://schemas.openxmlformats.org/drawingml/2006/main" anchorCtr="1"/>
            <a:lstStyle xmlns:a="http://schemas.openxmlformats.org/drawingml/2006/main"/>
            <a:p xmlns:a="http://schemas.openxmlformats.org/drawingml/2006/main">
              <a:pPr>
                <a:defRPr sz="1125" b="1">
                  <a:solidFill>
                    <a:srgbClr val="13202A"/>
                  </a:solidFill>
                </a:defRPr>
              </a:pPr>
            </a:p>
          </c:txPr>
          <c:dLblPos val="outEnd"/>
          <c:showVal val="1"/>
        </c:dLbls>
        <c:gapWidth val="3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Offset val="100"/>
      </c:catAx>
      <c:valAx>
        <c:axId val="48672768"/>
        <c:scaling>
          <c:orientation val="minMax"/>
        </c:scaling>
        <c:delete val="0"/>
        <c:axPos val="b"/>
        <c:numFmt formatCode="General"/>
        <c:majorTickMark val="none"/>
        <c:minorTickMark val="none"/>
        <c:spPr>
          <a:ln xmlns:a="http://schemas.openxmlformats.org/drawingml/2006/main" w="9525">
            <a:solidFill>
              <a:srgbClr val="D2D5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3202A"/>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A0F03F-3A45-4F92-BC59-84423AF2695A}"/>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E4CA6F8-6E1C-4C4F-B027-D4A196450BC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6642CB4-A5AE-45BA-85FC-03D63C15E93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OPENING</a:t>
            </a:r>
          </a:p>
        </p:txBody>
      </p:sp>
      <p:sp>
        <p:nvSpPr>
          <p:cNvPr id="4" name="">
            <a:extLst xmlns:a="http://schemas.openxmlformats.org/drawingml/2006/main">
              <a:ext uri="{FF2B5EF4-FFF2-40B4-BE49-F238E27FC236}">
                <a16:creationId xmlns:a16="http://schemas.microsoft.com/office/drawing/2014/main" id="{53A3B3BA-25F0-48AC-96C1-EED31E0F64F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2E1CB9C-D215-4435-A358-3E4E65D6A1B9}"/>
              </a:ext>
            </a:extLst>
          </p:cNvPr>
          <p:cNvSpPr>
            <a:spLocks xmlns:a="http://schemas.openxmlformats.org/drawingml/2006/main" noGrp="1"/>
          </p:cNvSpPr>
          <p:nvPr/>
        </p:nvSpPr>
        <p:spPr>
          <a:xfrm xmlns:a="http://schemas.openxmlformats.org/drawingml/2006/main">
            <a:off x="685800" y="72390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0C6570"/>
                </a:solidFill>
                <a:latin typeface="Arial"/>
                <a:ea typeface="Arial"/>
                <a:cs typeface="Arial"/>
              </a:defRPr>
            </a:pPr>
            <a:r>
              <a:rPr sz="1125" b="1" i="0">
                <a:solidFill>
                  <a:srgbClr val="0C6570"/>
                </a:solidFill>
                <a:latin typeface="Arial"/>
                <a:ea typeface="Arial"/>
                <a:cs typeface="Arial"/>
              </a:rPr>
              <a:t>MASTER'S THESIS DEFENCE</a:t>
            </a:r>
          </a:p>
        </p:txBody>
      </p:sp>
      <p:sp>
        <p:nvSpPr>
          <p:cNvPr id="6" name="">
            <a:extLst xmlns:a="http://schemas.openxmlformats.org/drawingml/2006/main">
              <a:ext uri="{FF2B5EF4-FFF2-40B4-BE49-F238E27FC236}">
                <a16:creationId xmlns:a16="http://schemas.microsoft.com/office/drawing/2014/main" id="{A9BBD080-F1EF-4D48-877F-916DB8B506AA}"/>
              </a:ext>
            </a:extLst>
          </p:cNvPr>
          <p:cNvSpPr>
            <a:spLocks xmlns:a="http://schemas.openxmlformats.org/drawingml/2006/main" noGrp="1"/>
          </p:cNvSpPr>
          <p:nvPr/>
        </p:nvSpPr>
        <p:spPr>
          <a:xfrm xmlns:a="http://schemas.openxmlformats.org/drawingml/2006/main">
            <a:off x="685800" y="1104900"/>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Design, Integration, and</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Validation of a Modular</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LLM-Based Interactive</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Architecture</a:t>
            </a:r>
          </a:p>
        </p:txBody>
      </p:sp>
      <p:sp>
        <p:nvSpPr>
          <p:cNvPr id="7" name="">
            <a:extLst xmlns:a="http://schemas.openxmlformats.org/drawingml/2006/main">
              <a:ext uri="{FF2B5EF4-FFF2-40B4-BE49-F238E27FC236}">
                <a16:creationId xmlns:a16="http://schemas.microsoft.com/office/drawing/2014/main" id="{B597FC6D-176C-4F67-B09F-FCDD5CFB2867}"/>
              </a:ext>
            </a:extLst>
          </p:cNvPr>
          <p:cNvSpPr>
            <a:spLocks xmlns:a="http://schemas.openxmlformats.org/drawingml/2006/main" noGrp="1"/>
          </p:cNvSpPr>
          <p:nvPr/>
        </p:nvSpPr>
        <p:spPr>
          <a:xfrm xmlns:a="http://schemas.openxmlformats.org/drawingml/2006/main">
            <a:off x="685800" y="4143375"/>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B6770"/>
                </a:solidFill>
                <a:latin typeface="Arial"/>
                <a:ea typeface="Arial"/>
                <a:cs typeface="Arial"/>
              </a:defRPr>
            </a:pPr>
            <a:r>
              <a:rPr sz="1875" b="0" i="0">
                <a:solidFill>
                  <a:srgbClr val="5B6770"/>
                </a:solidFill>
                <a:latin typeface="Arial"/>
                <a:ea typeface="Arial"/>
                <a:cs typeface="Arial"/>
              </a:rPr>
              <a:t>A NAO-centred ROS 2 architecture for grounded dialogue, structured planning, deterministic execution, and evidence-based reporting.</a:t>
            </a:r>
          </a:p>
        </p:txBody>
      </p:sp>
      <p:sp>
        <p:nvSpPr>
          <p:cNvPr id="8" name="">
            <a:extLst xmlns:a="http://schemas.openxmlformats.org/drawingml/2006/main">
              <a:ext uri="{FF2B5EF4-FFF2-40B4-BE49-F238E27FC236}">
                <a16:creationId xmlns:a16="http://schemas.microsoft.com/office/drawing/2014/main" id="{C83A81A4-D618-486B-9C0F-BFE80B414B43}"/>
              </a:ext>
            </a:extLst>
          </p:cNvPr>
          <p:cNvSpPr>
            <a:spLocks xmlns:a="http://schemas.openxmlformats.org/drawingml/2006/main" noGrp="1"/>
          </p:cNvSpPr>
          <p:nvPr/>
        </p:nvSpPr>
        <p:spPr>
          <a:xfrm xmlns:a="http://schemas.openxmlformats.org/drawingml/2006/main">
            <a:off x="685800" y="5257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Juan David Bendek Williamson    •    Supervised by Raquel Ros    •    2025–2026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1e8882358dd447d"/>
          <a:stretch xmlns:a="http://schemas.openxmlformats.org/drawingml/2006/main"/>
        </p:blipFill>
        <p:spPr>
          <a:xfrm xmlns:a="http://schemas.openxmlformats.org/drawingml/2006/main">
            <a:off x="718125" y="5753100"/>
            <a:ext cx="11355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E019D3-651E-44B5-A34B-87AEF2F3AAEF}"/>
              </a:ext>
            </a:extLst>
          </p:cNvPr>
          <p:cNvSpPr>
            <a:spLocks xmlns:a="http://schemas.openxmlformats.org/drawingml/2006/main" noGrp="1"/>
          </p:cNvSpPr>
          <p:nvPr/>
        </p:nvSpPr>
        <p:spPr>
          <a:xfrm xmlns:a="http://schemas.openxmlformats.org/drawingml/2006/main">
            <a:off x="2076450" y="5734050"/>
            <a:ext cx="9525" cy="514350"/>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1" name="">
            <a:extLst xmlns:a="http://schemas.openxmlformats.org/drawingml/2006/main">
              <a:ext uri="{FF2B5EF4-FFF2-40B4-BE49-F238E27FC236}">
                <a16:creationId xmlns:a16="http://schemas.microsoft.com/office/drawing/2014/main" id="{F8999E49-9FC6-44A8-8471-626219BFDEF0}"/>
              </a:ext>
            </a:extLst>
          </p:cNvPr>
          <p:cNvSpPr>
            <a:spLocks xmlns:a="http://schemas.openxmlformats.org/drawingml/2006/main" noGrp="1"/>
          </p:cNvSpPr>
          <p:nvPr/>
        </p:nvSpPr>
        <p:spPr>
          <a:xfrm xmlns:a="http://schemas.openxmlformats.org/drawingml/2006/main">
            <a:off x="2266950" y="578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IIIA-CSIC / Universitat Autònoma de Barcelona</a:t>
            </a:r>
          </a:p>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MSc Modelling for Science and Engineering</a:t>
            </a:r>
          </a:p>
        </p:txBody>
      </p:sp>
      <p:graphicFrame>
        <p:nvGraphicFramePr>
          <p:cNvPr id="30" name="Chart"/>
          <p:cNvGraphicFramePr/>
          <p:nvPr/>
        </p:nvGraphicFramePr>
        <p:xfrm>
          <a:off xmlns:a="http://schemas.openxmlformats.org/drawingml/2006/main" x="8286750" y="1714500"/>
          <a:ext xmlns:a="http://schemas.openxmlformats.org/drawingml/2006/main" cx="3143250" cy="3143250"/>
        </p:xfrm>
        <a:graphic xmlns:a="http://schemas.openxmlformats.org/drawingml/2006/main">
          <a:graphicData uri="http://schemas.openxmlformats.org/drawingml/2006/chart">
            <c:chart xmlns:r="http://schemas.openxmlformats.org/officeDocument/2006/relationships" xmlns:c="http://schemas.openxmlformats.org/drawingml/2006/chart" r:id="Re190685f00ff43c3"/>
          </a:graphicData>
        </a:graphic>
      </p:graphicFrame>
      <p:sp>
        <p:nvSpPr>
          <p:cNvPr id="13" name="">
            <a:extLst xmlns:a="http://schemas.openxmlformats.org/drawingml/2006/main">
              <a:ext uri="{FF2B5EF4-FFF2-40B4-BE49-F238E27FC236}">
                <a16:creationId xmlns:a16="http://schemas.microsoft.com/office/drawing/2014/main" id="{8AEA37AE-C693-4974-8B7B-D1172B698603}"/>
              </a:ext>
            </a:extLst>
          </p:cNvPr>
          <p:cNvSpPr>
            <a:spLocks xmlns:a="http://schemas.openxmlformats.org/drawingml/2006/main" noGrp="1"/>
          </p:cNvSpPr>
          <p:nvPr/>
        </p:nvSpPr>
        <p:spPr>
          <a:xfrm xmlns:a="http://schemas.openxmlformats.org/drawingml/2006/main">
            <a:off x="9324975" y="2724150"/>
            <a:ext cx="1066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ROS 2</a:t>
            </a:r>
          </a:p>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LLM</a:t>
            </a:r>
          </a:p>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NAO</a:t>
            </a:r>
          </a:p>
        </p:txBody>
      </p:sp>
    </p:spTree>
    <p:extLst>
      <p:ext uri="{BB962C8B-B14F-4D97-AF65-F5344CB8AC3E}">
        <p14:creationId xmlns:p14="http://schemas.microsoft.com/office/powerpoint/2010/main" val="2574498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0992EBC-519E-4D5D-A072-7B778C96220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51050CB-7CAF-45E9-9D1C-6B0C91F8AE7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B82BD1D-6CB1-44CB-85FE-846FDFD59DE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QUESTION</a:t>
            </a:r>
          </a:p>
        </p:txBody>
      </p:sp>
      <p:sp>
        <p:nvSpPr>
          <p:cNvPr id="4" name="">
            <a:extLst xmlns:a="http://schemas.openxmlformats.org/drawingml/2006/main">
              <a:ext uri="{FF2B5EF4-FFF2-40B4-BE49-F238E27FC236}">
                <a16:creationId xmlns:a16="http://schemas.microsoft.com/office/drawing/2014/main" id="{301AB84D-CB9C-4CD2-800B-0441A57D83D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DC95708-F7C5-4091-962E-25C1DBAA447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RESEARCH QUESTION AND OBJECTIVES</a:t>
            </a:r>
          </a:p>
        </p:txBody>
      </p:sp>
      <p:sp>
        <p:nvSpPr>
          <p:cNvPr id="6" name="">
            <a:extLst xmlns:a="http://schemas.openxmlformats.org/drawingml/2006/main">
              <a:ext uri="{FF2B5EF4-FFF2-40B4-BE49-F238E27FC236}">
                <a16:creationId xmlns:a16="http://schemas.microsoft.com/office/drawing/2014/main" id="{7C6A082C-DF18-4447-B7FF-4911281149DC}"/>
              </a:ext>
            </a:extLst>
          </p:cNvPr>
          <p:cNvSpPr>
            <a:spLocks xmlns:a="http://schemas.openxmlformats.org/drawingml/2006/main" noGrp="1"/>
          </p:cNvSpPr>
          <p:nvPr/>
        </p:nvSpPr>
        <p:spPr>
          <a:xfrm xmlns:a="http://schemas.openxmlformats.org/drawingml/2006/main">
            <a:off x="685800" y="838200"/>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i="0">
                <a:solidFill>
                  <a:srgbClr val="13202A"/>
                </a:solidFill>
                <a:latin typeface="Georgia"/>
                <a:ea typeface="Georgia"/>
                <a:cs typeface="Georgia"/>
              </a:defRPr>
            </a:pPr>
            <a:r>
              <a:rPr sz="2775" b="1" i="0">
                <a:solidFill>
                  <a:srgbClr val="13202A"/>
                </a:solidFill>
                <a:latin typeface="Georgia"/>
                <a:ea typeface="Georgia"/>
                <a:cs typeface="Georgia"/>
              </a:rPr>
              <a:t>The study asks how flexibility can be integrated without surrendering execution control.</a:t>
            </a:r>
          </a:p>
        </p:txBody>
      </p:sp>
      <p:sp>
        <p:nvSpPr>
          <p:cNvPr id="7" name="">
            <a:extLst xmlns:a="http://schemas.openxmlformats.org/drawingml/2006/main">
              <a:ext uri="{FF2B5EF4-FFF2-40B4-BE49-F238E27FC236}">
                <a16:creationId xmlns:a16="http://schemas.microsoft.com/office/drawing/2014/main" id="{3EB56797-BB8B-491E-B4BD-DC0C299F90D5}"/>
              </a:ext>
            </a:extLst>
          </p:cNvPr>
          <p:cNvSpPr>
            <a:spLocks xmlns:a="http://schemas.openxmlformats.org/drawingml/2006/main" noGrp="1"/>
          </p:cNvSpPr>
          <p:nvPr/>
        </p:nvSpPr>
        <p:spPr>
          <a:xfrm xmlns:a="http://schemas.openxmlformats.org/drawingml/2006/main">
            <a:off x="685800" y="1952625"/>
            <a:ext cx="10763250" cy="1352550"/>
          </a:xfrm>
          <a:prstGeom xmlns:a="http://schemas.openxmlformats.org/drawingml/2006/main" prst="roundRect">
            <a:avLst>
              <a:gd name="adj" fmla="val 14085"/>
            </a:avLst>
          </a:prstGeom>
          <a:solidFill xmlns:a="http://schemas.openxmlformats.org/drawingml/2006/main">
            <a:srgbClr val="073F47"/>
          </a:solidFill>
          <a:ln xmlns:a="http://schemas.openxmlformats.org/drawingml/2006/main" w="0">
            <a:solidFill>
              <a:srgbClr val="073F47"/>
            </a:solidFill>
            <a:prstDash val="solid"/>
          </a:ln>
        </p:spPr>
      </p:sp>
      <p:sp>
        <p:nvSpPr>
          <p:cNvPr id="8" name="">
            <a:extLst xmlns:a="http://schemas.openxmlformats.org/drawingml/2006/main">
              <a:ext uri="{FF2B5EF4-FFF2-40B4-BE49-F238E27FC236}">
                <a16:creationId xmlns:a16="http://schemas.microsoft.com/office/drawing/2014/main" id="{AC47A6D2-D4D8-4B0D-A8C9-A841ABD6242E}"/>
              </a:ext>
            </a:extLst>
          </p:cNvPr>
          <p:cNvSpPr>
            <a:spLocks xmlns:a="http://schemas.openxmlformats.org/drawingml/2006/main" noGrp="1"/>
          </p:cNvSpPr>
          <p:nvPr/>
        </p:nvSpPr>
        <p:spPr>
          <a:xfrm xmlns:a="http://schemas.openxmlformats.org/drawingml/2006/main">
            <a:off x="1028700" y="2209800"/>
            <a:ext cx="1007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FFFFFF"/>
                </a:solidFill>
                <a:latin typeface="Georgia"/>
                <a:ea typeface="Georgia"/>
                <a:cs typeface="Georgia"/>
              </a:defRPr>
            </a:pPr>
            <a:r>
              <a:rPr sz="1875" b="1" i="0">
                <a:solidFill>
                  <a:srgbClr val="FFFFFF"/>
                </a:solidFill>
                <a:latin typeface="Georgia"/>
                <a:ea typeface="Georgia"/>
                <a:cs typeface="Georgia"/>
              </a:rPr>
              <a:t>How can a modular robot architecture integrate dialogue, symbolic grounding, planning, deterministic execution, and feedback while preserving clear responsibility boundaries and evidence-based communication?</a:t>
            </a:r>
          </a:p>
        </p:txBody>
      </p:sp>
      <p:sp>
        <p:nvSpPr>
          <p:cNvPr id="9" name="">
            <a:extLst xmlns:a="http://schemas.openxmlformats.org/drawingml/2006/main">
              <a:ext uri="{FF2B5EF4-FFF2-40B4-BE49-F238E27FC236}">
                <a16:creationId xmlns:a16="http://schemas.microsoft.com/office/drawing/2014/main" id="{D25F9782-9553-44CC-8BC2-8AF71558D022}"/>
              </a:ext>
            </a:extLst>
          </p:cNvPr>
          <p:cNvSpPr>
            <a:spLocks xmlns:a="http://schemas.openxmlformats.org/drawingml/2006/main" noGrp="1"/>
          </p:cNvSpPr>
          <p:nvPr/>
        </p:nvSpPr>
        <p:spPr>
          <a:xfrm xmlns:a="http://schemas.openxmlformats.org/drawingml/2006/main">
            <a:off x="6858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A63CDF09-2066-40F4-9302-C489D3B38C75}"/>
              </a:ext>
            </a:extLst>
          </p:cNvPr>
          <p:cNvSpPr>
            <a:spLocks xmlns:a="http://schemas.openxmlformats.org/drawingml/2006/main" noGrp="1"/>
          </p:cNvSpPr>
          <p:nvPr/>
        </p:nvSpPr>
        <p:spPr>
          <a:xfrm xmlns:a="http://schemas.openxmlformats.org/drawingml/2006/main">
            <a:off x="685800" y="3657600"/>
            <a:ext cx="57150" cy="1809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1" name="">
            <a:extLst xmlns:a="http://schemas.openxmlformats.org/drawingml/2006/main">
              <a:ext uri="{FF2B5EF4-FFF2-40B4-BE49-F238E27FC236}">
                <a16:creationId xmlns:a16="http://schemas.microsoft.com/office/drawing/2014/main" id="{B1BB0332-2659-445C-A825-2E05C26FE492}"/>
              </a:ext>
            </a:extLst>
          </p:cNvPr>
          <p:cNvSpPr>
            <a:spLocks xmlns:a="http://schemas.openxmlformats.org/drawingml/2006/main" noGrp="1"/>
          </p:cNvSpPr>
          <p:nvPr/>
        </p:nvSpPr>
        <p:spPr>
          <a:xfrm xmlns:a="http://schemas.openxmlformats.org/drawingml/2006/main">
            <a:off x="8953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Integrate</a:t>
            </a:r>
          </a:p>
        </p:txBody>
      </p:sp>
      <p:sp>
        <p:nvSpPr>
          <p:cNvPr id="12" name="">
            <a:extLst xmlns:a="http://schemas.openxmlformats.org/drawingml/2006/main">
              <a:ext uri="{FF2B5EF4-FFF2-40B4-BE49-F238E27FC236}">
                <a16:creationId xmlns:a16="http://schemas.microsoft.com/office/drawing/2014/main" id="{E56F611F-588D-4896-8C09-FB2F4D6056ED}"/>
              </a:ext>
            </a:extLst>
          </p:cNvPr>
          <p:cNvSpPr>
            <a:spLocks xmlns:a="http://schemas.openxmlformats.org/drawingml/2006/main" noGrp="1"/>
          </p:cNvSpPr>
          <p:nvPr/>
        </p:nvSpPr>
        <p:spPr>
          <a:xfrm xmlns:a="http://schemas.openxmlformats.org/drawingml/2006/main">
            <a:off x="8953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dialogue, grounding, planning, orchestration, and skills through explicit ROS 2 interfaces</a:t>
            </a:r>
          </a:p>
        </p:txBody>
      </p:sp>
      <p:sp>
        <p:nvSpPr>
          <p:cNvPr id="13" name="">
            <a:extLst xmlns:a="http://schemas.openxmlformats.org/drawingml/2006/main">
              <a:ext uri="{FF2B5EF4-FFF2-40B4-BE49-F238E27FC236}">
                <a16:creationId xmlns:a16="http://schemas.microsoft.com/office/drawing/2014/main" id="{BA4D2953-C83B-4BAA-8FCD-2D96C6CB6EA7}"/>
              </a:ext>
            </a:extLst>
          </p:cNvPr>
          <p:cNvSpPr>
            <a:spLocks xmlns:a="http://schemas.openxmlformats.org/drawingml/2006/main" noGrp="1"/>
          </p:cNvSpPr>
          <p:nvPr/>
        </p:nvSpPr>
        <p:spPr>
          <a:xfrm xmlns:a="http://schemas.openxmlformats.org/drawingml/2006/main">
            <a:off x="428625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B20A5DF3-53EE-40C7-8A47-23B29C327074}"/>
              </a:ext>
            </a:extLst>
          </p:cNvPr>
          <p:cNvSpPr>
            <a:spLocks xmlns:a="http://schemas.openxmlformats.org/drawingml/2006/main" noGrp="1"/>
          </p:cNvSpPr>
          <p:nvPr/>
        </p:nvSpPr>
        <p:spPr>
          <a:xfrm xmlns:a="http://schemas.openxmlformats.org/drawingml/2006/main">
            <a:off x="4286250" y="3657600"/>
            <a:ext cx="57150" cy="1809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5" name="">
            <a:extLst xmlns:a="http://schemas.openxmlformats.org/drawingml/2006/main">
              <a:ext uri="{FF2B5EF4-FFF2-40B4-BE49-F238E27FC236}">
                <a16:creationId xmlns:a16="http://schemas.microsoft.com/office/drawing/2014/main" id="{025ADEF2-E4FB-499E-8087-830D30FB7D29}"/>
              </a:ext>
            </a:extLst>
          </p:cNvPr>
          <p:cNvSpPr>
            <a:spLocks xmlns:a="http://schemas.openxmlformats.org/drawingml/2006/main" noGrp="1"/>
          </p:cNvSpPr>
          <p:nvPr/>
        </p:nvSpPr>
        <p:spPr>
          <a:xfrm xmlns:a="http://schemas.openxmlformats.org/drawingml/2006/main">
            <a:off x="449580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Constrain</a:t>
            </a:r>
          </a:p>
        </p:txBody>
      </p:sp>
      <p:sp>
        <p:nvSpPr>
          <p:cNvPr id="16" name="">
            <a:extLst xmlns:a="http://schemas.openxmlformats.org/drawingml/2006/main">
              <a:ext uri="{FF2B5EF4-FFF2-40B4-BE49-F238E27FC236}">
                <a16:creationId xmlns:a16="http://schemas.microsoft.com/office/drawing/2014/main" id="{A63B682B-DC70-47AE-B72F-C2E91E1DACDF}"/>
              </a:ext>
            </a:extLst>
          </p:cNvPr>
          <p:cNvSpPr>
            <a:spLocks xmlns:a="http://schemas.openxmlformats.org/drawingml/2006/main" noGrp="1"/>
          </p:cNvSpPr>
          <p:nvPr/>
        </p:nvSpPr>
        <p:spPr>
          <a:xfrm xmlns:a="http://schemas.openxmlformats.org/drawingml/2006/main">
            <a:off x="449580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candidate plans through reviewed capabilities and deterministic admission before dispatch</a:t>
            </a:r>
          </a:p>
        </p:txBody>
      </p:sp>
      <p:sp>
        <p:nvSpPr>
          <p:cNvPr id="17" name="">
            <a:extLst xmlns:a="http://schemas.openxmlformats.org/drawingml/2006/main">
              <a:ext uri="{FF2B5EF4-FFF2-40B4-BE49-F238E27FC236}">
                <a16:creationId xmlns:a16="http://schemas.microsoft.com/office/drawing/2014/main" id="{DD464616-A4F4-44C4-8683-34A394DD1AE3}"/>
              </a:ext>
            </a:extLst>
          </p:cNvPr>
          <p:cNvSpPr>
            <a:spLocks xmlns:a="http://schemas.openxmlformats.org/drawingml/2006/main" noGrp="1"/>
          </p:cNvSpPr>
          <p:nvPr/>
        </p:nvSpPr>
        <p:spPr>
          <a:xfrm xmlns:a="http://schemas.openxmlformats.org/drawingml/2006/main">
            <a:off x="78867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8" name="">
            <a:extLst xmlns:a="http://schemas.openxmlformats.org/drawingml/2006/main">
              <a:ext uri="{FF2B5EF4-FFF2-40B4-BE49-F238E27FC236}">
                <a16:creationId xmlns:a16="http://schemas.microsoft.com/office/drawing/2014/main" id="{518A8853-C2A0-4A71-9A80-2B53D76C5341}"/>
              </a:ext>
            </a:extLst>
          </p:cNvPr>
          <p:cNvSpPr>
            <a:spLocks xmlns:a="http://schemas.openxmlformats.org/drawingml/2006/main" noGrp="1"/>
          </p:cNvSpPr>
          <p:nvPr/>
        </p:nvSpPr>
        <p:spPr>
          <a:xfrm xmlns:a="http://schemas.openxmlformats.org/drawingml/2006/main">
            <a:off x="7886700" y="3657600"/>
            <a:ext cx="57150" cy="1809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9" name="">
            <a:extLst xmlns:a="http://schemas.openxmlformats.org/drawingml/2006/main">
              <a:ext uri="{FF2B5EF4-FFF2-40B4-BE49-F238E27FC236}">
                <a16:creationId xmlns:a16="http://schemas.microsoft.com/office/drawing/2014/main" id="{5711C3A4-4B7B-484D-9C0B-F2AC66376A09}"/>
              </a:ext>
            </a:extLst>
          </p:cNvPr>
          <p:cNvSpPr>
            <a:spLocks xmlns:a="http://schemas.openxmlformats.org/drawingml/2006/main" noGrp="1"/>
          </p:cNvSpPr>
          <p:nvPr/>
        </p:nvSpPr>
        <p:spPr>
          <a:xfrm xmlns:a="http://schemas.openxmlformats.org/drawingml/2006/main">
            <a:off x="80962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Validate</a:t>
            </a:r>
          </a:p>
        </p:txBody>
      </p:sp>
      <p:sp>
        <p:nvSpPr>
          <p:cNvPr id="20" name="">
            <a:extLst xmlns:a="http://schemas.openxmlformats.org/drawingml/2006/main">
              <a:ext uri="{FF2B5EF4-FFF2-40B4-BE49-F238E27FC236}">
                <a16:creationId xmlns:a16="http://schemas.microsoft.com/office/drawing/2014/main" id="{7E2FADA6-7080-47DD-86D0-D77784352502}"/>
              </a:ext>
            </a:extLst>
          </p:cNvPr>
          <p:cNvSpPr>
            <a:spLocks xmlns:a="http://schemas.openxmlformats.org/drawingml/2006/main" noGrp="1"/>
          </p:cNvSpPr>
          <p:nvPr/>
        </p:nvSpPr>
        <p:spPr>
          <a:xfrm xmlns:a="http://schemas.openxmlformats.org/drawingml/2006/main">
            <a:off x="80962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full turns, controlled failures, symbolic postconditions, and truthful reporting</a:t>
            </a:r>
          </a:p>
        </p:txBody>
      </p:sp>
      <p:sp>
        <p:nvSpPr>
          <p:cNvPr id="21" name="">
            <a:extLst xmlns:a="http://schemas.openxmlformats.org/drawingml/2006/main">
              <a:ext uri="{FF2B5EF4-FFF2-40B4-BE49-F238E27FC236}">
                <a16:creationId xmlns:a16="http://schemas.microsoft.com/office/drawing/2014/main" id="{A9CBB695-0791-4533-A720-250356C94F4D}"/>
              </a:ext>
            </a:extLst>
          </p:cNvPr>
          <p:cNvSpPr>
            <a:spLocks xmlns:a="http://schemas.openxmlformats.org/drawingml/2006/main" noGrp="1"/>
          </p:cNvSpPr>
          <p:nvPr/>
        </p:nvSpPr>
        <p:spPr>
          <a:xfrm xmlns:a="http://schemas.openxmlformats.org/drawingml/2006/main">
            <a:off x="1962150" y="5772150"/>
            <a:ext cx="14287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850718B1-9361-4A0D-B474-01D67383C7A3}"/>
              </a:ext>
            </a:extLst>
          </p:cNvPr>
          <p:cNvSpPr>
            <a:spLocks xmlns:a="http://schemas.openxmlformats.org/drawingml/2006/main" noGrp="1"/>
          </p:cNvSpPr>
          <p:nvPr/>
        </p:nvSpPr>
        <p:spPr>
          <a:xfrm xmlns:a="http://schemas.openxmlformats.org/drawingml/2006/main">
            <a:off x="2038350" y="58388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 plans</a:t>
            </a:r>
          </a:p>
        </p:txBody>
      </p:sp>
      <p:sp>
        <p:nvSpPr>
          <p:cNvPr id="23" name="">
            <a:extLst xmlns:a="http://schemas.openxmlformats.org/drawingml/2006/main">
              <a:ext uri="{FF2B5EF4-FFF2-40B4-BE49-F238E27FC236}">
                <a16:creationId xmlns:a16="http://schemas.microsoft.com/office/drawing/2014/main" id="{A5FB4717-0A2A-45A4-ABE7-95C92146AD51}"/>
              </a:ext>
            </a:extLst>
          </p:cNvPr>
          <p:cNvSpPr>
            <a:spLocks xmlns:a="http://schemas.openxmlformats.org/drawingml/2006/main" noGrp="1"/>
          </p:cNvSpPr>
          <p:nvPr/>
        </p:nvSpPr>
        <p:spPr>
          <a:xfrm xmlns:a="http://schemas.openxmlformats.org/drawingml/2006/main">
            <a:off x="3543300" y="5772150"/>
            <a:ext cx="1619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4" name="">
            <a:extLst xmlns:a="http://schemas.openxmlformats.org/drawingml/2006/main">
              <a:ext uri="{FF2B5EF4-FFF2-40B4-BE49-F238E27FC236}">
                <a16:creationId xmlns:a16="http://schemas.microsoft.com/office/drawing/2014/main" id="{B24F606B-BFBA-4DE6-86DB-09459A3AF58F}"/>
              </a:ext>
            </a:extLst>
          </p:cNvPr>
          <p:cNvSpPr>
            <a:spLocks xmlns:a="http://schemas.openxmlformats.org/drawingml/2006/main" noGrp="1"/>
          </p:cNvSpPr>
          <p:nvPr/>
        </p:nvSpPr>
        <p:spPr>
          <a:xfrm xmlns:a="http://schemas.openxmlformats.org/drawingml/2006/main">
            <a:off x="3619500" y="583882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 grounding</a:t>
            </a:r>
          </a:p>
        </p:txBody>
      </p:sp>
      <p:sp>
        <p:nvSpPr>
          <p:cNvPr id="25" name="">
            <a:extLst xmlns:a="http://schemas.openxmlformats.org/drawingml/2006/main">
              <a:ext uri="{FF2B5EF4-FFF2-40B4-BE49-F238E27FC236}">
                <a16:creationId xmlns:a16="http://schemas.microsoft.com/office/drawing/2014/main" id="{2EE44B33-CF8F-4FEA-83F3-497F97715F1A}"/>
              </a:ext>
            </a:extLst>
          </p:cNvPr>
          <p:cNvSpPr>
            <a:spLocks xmlns:a="http://schemas.openxmlformats.org/drawingml/2006/main" noGrp="1"/>
          </p:cNvSpPr>
          <p:nvPr/>
        </p:nvSpPr>
        <p:spPr>
          <a:xfrm xmlns:a="http://schemas.openxmlformats.org/drawingml/2006/main">
            <a:off x="5314950" y="5772150"/>
            <a:ext cx="15621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6" name="">
            <a:extLst xmlns:a="http://schemas.openxmlformats.org/drawingml/2006/main">
              <a:ext uri="{FF2B5EF4-FFF2-40B4-BE49-F238E27FC236}">
                <a16:creationId xmlns:a16="http://schemas.microsoft.com/office/drawing/2014/main" id="{F13C306D-4277-4BBD-A21B-0048FA02D073}"/>
              </a:ext>
            </a:extLst>
          </p:cNvPr>
          <p:cNvSpPr>
            <a:spLocks xmlns:a="http://schemas.openxmlformats.org/drawingml/2006/main" noGrp="1"/>
          </p:cNvSpPr>
          <p:nvPr/>
        </p:nvSpPr>
        <p:spPr>
          <a:xfrm xmlns:a="http://schemas.openxmlformats.org/drawingml/2006/main">
            <a:off x="5391150" y="58388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 admission</a:t>
            </a:r>
          </a:p>
        </p:txBody>
      </p:sp>
      <p:sp>
        <p:nvSpPr>
          <p:cNvPr id="27" name="">
            <a:extLst xmlns:a="http://schemas.openxmlformats.org/drawingml/2006/main">
              <a:ext uri="{FF2B5EF4-FFF2-40B4-BE49-F238E27FC236}">
                <a16:creationId xmlns:a16="http://schemas.microsoft.com/office/drawing/2014/main" id="{BFD1B424-9EF9-4273-886D-B71DC052C124}"/>
              </a:ext>
            </a:extLst>
          </p:cNvPr>
          <p:cNvSpPr>
            <a:spLocks xmlns:a="http://schemas.openxmlformats.org/drawingml/2006/main" noGrp="1"/>
          </p:cNvSpPr>
          <p:nvPr/>
        </p:nvSpPr>
        <p:spPr>
          <a:xfrm xmlns:a="http://schemas.openxmlformats.org/drawingml/2006/main">
            <a:off x="7029450" y="5772150"/>
            <a:ext cx="15240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009BDAA9-79A1-46B7-BCE4-F8E58CB34908}"/>
              </a:ext>
            </a:extLst>
          </p:cNvPr>
          <p:cNvSpPr>
            <a:spLocks xmlns:a="http://schemas.openxmlformats.org/drawingml/2006/main" noGrp="1"/>
          </p:cNvSpPr>
          <p:nvPr/>
        </p:nvSpPr>
        <p:spPr>
          <a:xfrm xmlns:a="http://schemas.openxmlformats.org/drawingml/2006/main">
            <a:off x="7105650" y="5838825"/>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 recovery</a:t>
            </a:r>
          </a:p>
        </p:txBody>
      </p:sp>
      <p:sp>
        <p:nvSpPr>
          <p:cNvPr id="29" name="">
            <a:extLst xmlns:a="http://schemas.openxmlformats.org/drawingml/2006/main">
              <a:ext uri="{FF2B5EF4-FFF2-40B4-BE49-F238E27FC236}">
                <a16:creationId xmlns:a16="http://schemas.microsoft.com/office/drawing/2014/main" id="{E0F47174-35EC-4E42-8C62-A60E8E8ECCCB}"/>
              </a:ext>
            </a:extLst>
          </p:cNvPr>
          <p:cNvSpPr>
            <a:spLocks xmlns:a="http://schemas.openxmlformats.org/drawingml/2006/main" noGrp="1"/>
          </p:cNvSpPr>
          <p:nvPr/>
        </p:nvSpPr>
        <p:spPr>
          <a:xfrm xmlns:a="http://schemas.openxmlformats.org/drawingml/2006/main">
            <a:off x="8705850" y="5772150"/>
            <a:ext cx="16573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30" name="">
            <a:extLst xmlns:a="http://schemas.openxmlformats.org/drawingml/2006/main">
              <a:ext uri="{FF2B5EF4-FFF2-40B4-BE49-F238E27FC236}">
                <a16:creationId xmlns:a16="http://schemas.microsoft.com/office/drawing/2014/main" id="{0EC743D3-D3FE-492E-8DFC-B734E5CDD1D1}"/>
              </a:ext>
            </a:extLst>
          </p:cNvPr>
          <p:cNvSpPr>
            <a:spLocks xmlns:a="http://schemas.openxmlformats.org/drawingml/2006/main" noGrp="1"/>
          </p:cNvSpPr>
          <p:nvPr/>
        </p:nvSpPr>
        <p:spPr>
          <a:xfrm xmlns:a="http://schemas.openxmlformats.org/drawingml/2006/main">
            <a:off x="8782050" y="5838825"/>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 ownership</a:t>
            </a:r>
          </a:p>
        </p:txBody>
      </p:sp>
    </p:spTree>
    <p:extLst>
      <p:ext uri="{BB962C8B-B14F-4D97-AF65-F5344CB8AC3E}">
        <p14:creationId xmlns:p14="http://schemas.microsoft.com/office/powerpoint/2010/main" val="681103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E531CA5-128A-49B0-B0E8-EE106E20090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96768E2-5BF7-4202-A05C-CDD9DF0EAE0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F62D8FC-94C8-4352-A687-29274BC3433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F</a:t>
            </a:r>
          </a:p>
        </p:txBody>
      </p:sp>
      <p:sp>
        <p:nvSpPr>
          <p:cNvPr id="4" name="">
            <a:extLst xmlns:a="http://schemas.openxmlformats.org/drawingml/2006/main">
              <a:ext uri="{FF2B5EF4-FFF2-40B4-BE49-F238E27FC236}">
                <a16:creationId xmlns:a16="http://schemas.microsoft.com/office/drawing/2014/main" id="{07CC6531-DA90-49FD-AAC8-8C28DE7F5FA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5C95443E-7BEC-4056-A22D-ED494D171DA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F19E40AF-8226-4E53-A960-F4B303A6F181}"/>
              </a:ext>
            </a:extLst>
          </p:cNvPr>
          <p:cNvSpPr>
            <a:spLocks xmlns:a="http://schemas.openxmlformats.org/drawingml/2006/main" noGrp="1"/>
          </p:cNvSpPr>
          <p:nvPr/>
        </p:nvSpPr>
        <p:spPr>
          <a:xfrm xmlns:a="http://schemas.openxmlformats.org/drawingml/2006/main">
            <a:off x="685800" y="8382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i="0">
                <a:solidFill>
                  <a:srgbClr val="13202A"/>
                </a:solidFill>
                <a:latin typeface="Georgia"/>
                <a:ea typeface="Georgia"/>
                <a:cs typeface="Georgia"/>
              </a:defRPr>
            </a:pPr>
            <a:r>
              <a:rPr sz="2625" b="1" i="0">
                <a:solidFill>
                  <a:srgbClr val="13202A"/>
                </a:solidFill>
                <a:latin typeface="Georgia"/>
                <a:ea typeface="Georgia"/>
                <a:cs typeface="Georgia"/>
              </a:rPr>
              <a:t>Full implementation and validation objectives</a:t>
            </a:r>
          </a:p>
        </p:txBody>
      </p:sp>
      <p:sp>
        <p:nvSpPr>
          <p:cNvPr id="7" name="">
            <a:extLst xmlns:a="http://schemas.openxmlformats.org/drawingml/2006/main">
              <a:ext uri="{FF2B5EF4-FFF2-40B4-BE49-F238E27FC236}">
                <a16:creationId xmlns:a16="http://schemas.microsoft.com/office/drawing/2014/main" id="{09EFDC93-1CE8-4434-8397-50E8905A6ED7}"/>
              </a:ext>
            </a:extLst>
          </p:cNvPr>
          <p:cNvSpPr>
            <a:spLocks xmlns:a="http://schemas.openxmlformats.org/drawingml/2006/main" noGrp="1"/>
          </p:cNvSpPr>
          <p:nvPr/>
        </p:nvSpPr>
        <p:spPr>
          <a:xfrm xmlns:a="http://schemas.openxmlformats.org/drawingml/2006/main">
            <a:off x="685800"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7055511-1E96-4F50-956F-B6D874BC8278}"/>
              </a:ext>
            </a:extLst>
          </p:cNvPr>
          <p:cNvSpPr>
            <a:spLocks xmlns:a="http://schemas.openxmlformats.org/drawingml/2006/main" noGrp="1"/>
          </p:cNvSpPr>
          <p:nvPr/>
        </p:nvSpPr>
        <p:spPr>
          <a:xfrm xmlns:a="http://schemas.openxmlformats.org/drawingml/2006/main">
            <a:off x="914400" y="201930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24FB25-61FD-4BB8-B60F-39839F5DA1AC}"/>
              </a:ext>
            </a:extLst>
          </p:cNvPr>
          <p:cNvSpPr>
            <a:spLocks xmlns:a="http://schemas.openxmlformats.org/drawingml/2006/main" noGrp="1"/>
          </p:cNvSpPr>
          <p:nvPr/>
        </p:nvSpPr>
        <p:spPr>
          <a:xfrm xmlns:a="http://schemas.openxmlformats.org/drawingml/2006/main">
            <a:off x="1028700"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79BAE96-5955-4CEC-B373-CA1C6DF0AD88}"/>
              </a:ext>
            </a:extLst>
          </p:cNvPr>
          <p:cNvSpPr>
            <a:spLocks xmlns:a="http://schemas.openxmlformats.org/drawingml/2006/main" noGrp="1"/>
          </p:cNvSpPr>
          <p:nvPr/>
        </p:nvSpPr>
        <p:spPr>
          <a:xfrm xmlns:a="http://schemas.openxmlformats.org/drawingml/2006/main">
            <a:off x="1685925"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Integrate dialogue, routing, grounding, planning, deterministic orchestration, and skills through ROS 2 interfaces.</a:t>
            </a:r>
          </a:p>
        </p:txBody>
      </p:sp>
      <p:sp>
        <p:nvSpPr>
          <p:cNvPr id="11" name="">
            <a:extLst xmlns:a="http://schemas.openxmlformats.org/drawingml/2006/main">
              <a:ext uri="{FF2B5EF4-FFF2-40B4-BE49-F238E27FC236}">
                <a16:creationId xmlns:a16="http://schemas.microsoft.com/office/drawing/2014/main" id="{3B3F2132-32D5-432D-A23E-77D35B0AB754}"/>
              </a:ext>
            </a:extLst>
          </p:cNvPr>
          <p:cNvSpPr>
            <a:spLocks xmlns:a="http://schemas.openxmlformats.org/drawingml/2006/main" noGrp="1"/>
          </p:cNvSpPr>
          <p:nvPr/>
        </p:nvSpPr>
        <p:spPr>
          <a:xfrm xmlns:a="http://schemas.openxmlformats.org/drawingml/2006/main">
            <a:off x="5972175"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B15B32C-9273-4DA1-8323-771E197596FF}"/>
              </a:ext>
            </a:extLst>
          </p:cNvPr>
          <p:cNvSpPr>
            <a:spLocks xmlns:a="http://schemas.openxmlformats.org/drawingml/2006/main" noGrp="1"/>
          </p:cNvSpPr>
          <p:nvPr/>
        </p:nvSpPr>
        <p:spPr>
          <a:xfrm xmlns:a="http://schemas.openxmlformats.org/drawingml/2006/main">
            <a:off x="6200775" y="201930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8515B7-91E0-4624-94B8-FA94991F7530}"/>
              </a:ext>
            </a:extLst>
          </p:cNvPr>
          <p:cNvSpPr>
            <a:spLocks xmlns:a="http://schemas.openxmlformats.org/drawingml/2006/main" noGrp="1"/>
          </p:cNvSpPr>
          <p:nvPr/>
        </p:nvSpPr>
        <p:spPr>
          <a:xfrm xmlns:a="http://schemas.openxmlformats.org/drawingml/2006/main">
            <a:off x="6315075"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3D388E5-DA6F-4C90-BFF3-E8A408CDCAC6}"/>
              </a:ext>
            </a:extLst>
          </p:cNvPr>
          <p:cNvSpPr>
            <a:spLocks xmlns:a="http://schemas.openxmlformats.org/drawingml/2006/main" noGrp="1"/>
          </p:cNvSpPr>
          <p:nvPr/>
        </p:nvSpPr>
        <p:spPr>
          <a:xfrm xmlns:a="http://schemas.openxmlformats.org/drawingml/2006/main">
            <a:off x="6972300"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Define explicit runtime contracts for requests, context, plans, results, feedback, dialogue acts, and raw evidence.</a:t>
            </a:r>
          </a:p>
        </p:txBody>
      </p:sp>
      <p:sp>
        <p:nvSpPr>
          <p:cNvPr id="15" name="">
            <a:extLst xmlns:a="http://schemas.openxmlformats.org/drawingml/2006/main">
              <a:ext uri="{FF2B5EF4-FFF2-40B4-BE49-F238E27FC236}">
                <a16:creationId xmlns:a16="http://schemas.microsoft.com/office/drawing/2014/main" id="{7AF72098-8D17-4C39-8DB5-B5C582A2BA32}"/>
              </a:ext>
            </a:extLst>
          </p:cNvPr>
          <p:cNvSpPr>
            <a:spLocks xmlns:a="http://schemas.openxmlformats.org/drawingml/2006/main" noGrp="1"/>
          </p:cNvSpPr>
          <p:nvPr/>
        </p:nvSpPr>
        <p:spPr>
          <a:xfrm xmlns:a="http://schemas.openxmlformats.org/drawingml/2006/main">
            <a:off x="685800"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9AFE42C-E826-4D30-8AA6-564CD077B541}"/>
              </a:ext>
            </a:extLst>
          </p:cNvPr>
          <p:cNvSpPr>
            <a:spLocks xmlns:a="http://schemas.openxmlformats.org/drawingml/2006/main" noGrp="1"/>
          </p:cNvSpPr>
          <p:nvPr/>
        </p:nvSpPr>
        <p:spPr>
          <a:xfrm xmlns:a="http://schemas.openxmlformats.org/drawingml/2006/main">
            <a:off x="914400" y="3400425"/>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6AA0A0-8D94-4ABC-98A0-F5D3B42CDD54}"/>
              </a:ext>
            </a:extLst>
          </p:cNvPr>
          <p:cNvSpPr>
            <a:spLocks xmlns:a="http://schemas.openxmlformats.org/drawingml/2006/main" noGrp="1"/>
          </p:cNvSpPr>
          <p:nvPr/>
        </p:nvSpPr>
        <p:spPr>
          <a:xfrm xmlns:a="http://schemas.openxmlformats.org/drawingml/2006/main">
            <a:off x="1028700"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62DC436-455D-4827-BE89-511EFEB0E540}"/>
              </a:ext>
            </a:extLst>
          </p:cNvPr>
          <p:cNvSpPr>
            <a:spLocks xmlns:a="http://schemas.openxmlformats.org/drawingml/2006/main" noGrp="1"/>
          </p:cNvSpPr>
          <p:nvPr/>
        </p:nvSpPr>
        <p:spPr>
          <a:xfrm xmlns:a="http://schemas.openxmlformats.org/drawingml/2006/main">
            <a:off x="1685925"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Expose capabilities through a reviewed skill registry rather than model-generated robot APIs.</a:t>
            </a:r>
          </a:p>
        </p:txBody>
      </p:sp>
      <p:sp>
        <p:nvSpPr>
          <p:cNvPr id="19" name="">
            <a:extLst xmlns:a="http://schemas.openxmlformats.org/drawingml/2006/main">
              <a:ext uri="{FF2B5EF4-FFF2-40B4-BE49-F238E27FC236}">
                <a16:creationId xmlns:a16="http://schemas.microsoft.com/office/drawing/2014/main" id="{7270EE5A-AEEF-4D98-852F-1C4091D8589E}"/>
              </a:ext>
            </a:extLst>
          </p:cNvPr>
          <p:cNvSpPr>
            <a:spLocks xmlns:a="http://schemas.openxmlformats.org/drawingml/2006/main" noGrp="1"/>
          </p:cNvSpPr>
          <p:nvPr/>
        </p:nvSpPr>
        <p:spPr>
          <a:xfrm xmlns:a="http://schemas.openxmlformats.org/drawingml/2006/main">
            <a:off x="5972175"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042421B2-8759-44B1-875D-1AAEAC591FC3}"/>
              </a:ext>
            </a:extLst>
          </p:cNvPr>
          <p:cNvSpPr>
            <a:spLocks xmlns:a="http://schemas.openxmlformats.org/drawingml/2006/main" noGrp="1"/>
          </p:cNvSpPr>
          <p:nvPr/>
        </p:nvSpPr>
        <p:spPr>
          <a:xfrm xmlns:a="http://schemas.openxmlformats.org/drawingml/2006/main">
            <a:off x="6200775" y="3400425"/>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3FCD6-00C4-46D9-9F30-B3A9CA441AE0}"/>
              </a:ext>
            </a:extLst>
          </p:cNvPr>
          <p:cNvSpPr>
            <a:spLocks xmlns:a="http://schemas.openxmlformats.org/drawingml/2006/main" noGrp="1"/>
          </p:cNvSpPr>
          <p:nvPr/>
        </p:nvSpPr>
        <p:spPr>
          <a:xfrm xmlns:a="http://schemas.openxmlformats.org/drawingml/2006/main">
            <a:off x="6315075"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DDA7B5C-6E23-46D5-BA0D-0F01ECDD4B07}"/>
              </a:ext>
            </a:extLst>
          </p:cNvPr>
          <p:cNvSpPr>
            <a:spLocks xmlns:a="http://schemas.openxmlformats.org/drawingml/2006/main" noGrp="1"/>
          </p:cNvSpPr>
          <p:nvPr/>
        </p:nvSpPr>
        <p:spPr>
          <a:xfrm xmlns:a="http://schemas.openxmlformats.org/drawingml/2006/main">
            <a:off x="6972300"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Support dialogue, knowledge, atomic, and composite turns without transferring speech or execution ownership.</a:t>
            </a:r>
          </a:p>
        </p:txBody>
      </p:sp>
      <p:sp>
        <p:nvSpPr>
          <p:cNvPr id="23" name="">
            <a:extLst xmlns:a="http://schemas.openxmlformats.org/drawingml/2006/main">
              <a:ext uri="{FF2B5EF4-FFF2-40B4-BE49-F238E27FC236}">
                <a16:creationId xmlns:a16="http://schemas.microsoft.com/office/drawing/2014/main" id="{1ED2013A-C48E-4543-8E91-F681E92ADD9C}"/>
              </a:ext>
            </a:extLst>
          </p:cNvPr>
          <p:cNvSpPr>
            <a:spLocks xmlns:a="http://schemas.openxmlformats.org/drawingml/2006/main" noGrp="1"/>
          </p:cNvSpPr>
          <p:nvPr/>
        </p:nvSpPr>
        <p:spPr>
          <a:xfrm xmlns:a="http://schemas.openxmlformats.org/drawingml/2006/main">
            <a:off x="685800"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D5F0A89D-EA83-4744-9480-01E25927BFF8}"/>
              </a:ext>
            </a:extLst>
          </p:cNvPr>
          <p:cNvSpPr>
            <a:spLocks xmlns:a="http://schemas.openxmlformats.org/drawingml/2006/main" noGrp="1"/>
          </p:cNvSpPr>
          <p:nvPr/>
        </p:nvSpPr>
        <p:spPr>
          <a:xfrm xmlns:a="http://schemas.openxmlformats.org/drawingml/2006/main">
            <a:off x="914400" y="478155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DB26E-8490-41A3-A55E-A06D4ED2A6FB}"/>
              </a:ext>
            </a:extLst>
          </p:cNvPr>
          <p:cNvSpPr>
            <a:spLocks xmlns:a="http://schemas.openxmlformats.org/drawingml/2006/main" noGrp="1"/>
          </p:cNvSpPr>
          <p:nvPr/>
        </p:nvSpPr>
        <p:spPr>
          <a:xfrm xmlns:a="http://schemas.openxmlformats.org/drawingml/2006/main">
            <a:off x="1028700"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4E0F54-54F2-4EF3-A948-8455ABD0F53C}"/>
              </a:ext>
            </a:extLst>
          </p:cNvPr>
          <p:cNvSpPr>
            <a:spLocks xmlns:a="http://schemas.openxmlformats.org/drawingml/2006/main" noGrp="1"/>
          </p:cNvSpPr>
          <p:nvPr/>
        </p:nvSpPr>
        <p:spPr>
          <a:xfrm xmlns:a="http://schemas.openxmlformats.org/drawingml/2006/main">
            <a:off x="1685925"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Validate plans before dispatch and return typed evidence for failure, clarification, replanning, and reporting.</a:t>
            </a:r>
          </a:p>
        </p:txBody>
      </p:sp>
      <p:sp>
        <p:nvSpPr>
          <p:cNvPr id="27" name="">
            <a:extLst xmlns:a="http://schemas.openxmlformats.org/drawingml/2006/main">
              <a:ext uri="{FF2B5EF4-FFF2-40B4-BE49-F238E27FC236}">
                <a16:creationId xmlns:a16="http://schemas.microsoft.com/office/drawing/2014/main" id="{DA481F5C-356D-45C7-A91E-DFD4B95742E4}"/>
              </a:ext>
            </a:extLst>
          </p:cNvPr>
          <p:cNvSpPr>
            <a:spLocks xmlns:a="http://schemas.openxmlformats.org/drawingml/2006/main" noGrp="1"/>
          </p:cNvSpPr>
          <p:nvPr/>
        </p:nvSpPr>
        <p:spPr>
          <a:xfrm xmlns:a="http://schemas.openxmlformats.org/drawingml/2006/main">
            <a:off x="5972175"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162BD50E-11DB-457D-9954-E4C96C2130D2}"/>
              </a:ext>
            </a:extLst>
          </p:cNvPr>
          <p:cNvSpPr>
            <a:spLocks xmlns:a="http://schemas.openxmlformats.org/drawingml/2006/main" noGrp="1"/>
          </p:cNvSpPr>
          <p:nvPr/>
        </p:nvSpPr>
        <p:spPr>
          <a:xfrm xmlns:a="http://schemas.openxmlformats.org/drawingml/2006/main">
            <a:off x="6200775" y="478155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E0A7DB-0071-49B0-B3C3-FAD974B2902F}"/>
              </a:ext>
            </a:extLst>
          </p:cNvPr>
          <p:cNvSpPr>
            <a:spLocks xmlns:a="http://schemas.openxmlformats.org/drawingml/2006/main" noGrp="1"/>
          </p:cNvSpPr>
          <p:nvPr/>
        </p:nvSpPr>
        <p:spPr>
          <a:xfrm xmlns:a="http://schemas.openxmlformats.org/drawingml/2006/main">
            <a:off x="6315075"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6</a:t>
            </a:r>
          </a:p>
        </p:txBody>
      </p:sp>
      <p:sp>
        <p:nvSpPr>
          <p:cNvPr id="30" name="">
            <a:extLst xmlns:a="http://schemas.openxmlformats.org/drawingml/2006/main">
              <a:ext uri="{FF2B5EF4-FFF2-40B4-BE49-F238E27FC236}">
                <a16:creationId xmlns:a16="http://schemas.microsoft.com/office/drawing/2014/main" id="{A3302854-6AE4-43CC-A015-26C4B9790D8A}"/>
              </a:ext>
            </a:extLst>
          </p:cNvPr>
          <p:cNvSpPr>
            <a:spLocks xmlns:a="http://schemas.openxmlformats.org/drawingml/2006/main" noGrp="1"/>
          </p:cNvSpPr>
          <p:nvPr/>
        </p:nvSpPr>
        <p:spPr>
          <a:xfrm xmlns:a="http://schemas.openxmlformats.org/drawingml/2006/main">
            <a:off x="6972300"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Exercise full turns, controlled outcomes, focused subsystem checks, and symbolic postconditions.</a:t>
            </a:r>
          </a:p>
        </p:txBody>
      </p:sp>
    </p:spTree>
    <p:extLst>
      <p:ext uri="{BB962C8B-B14F-4D97-AF65-F5344CB8AC3E}">
        <p14:creationId xmlns:p14="http://schemas.microsoft.com/office/powerpoint/2010/main" val="1638900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1821DC-6624-42DF-900E-4D6BE752307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9E0EFB8-BBA5-4C92-9E5B-3440935A741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BAE2134-2AC1-4CC8-9A4B-49750C10CC4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VALIDATION</a:t>
            </a:r>
          </a:p>
        </p:txBody>
      </p:sp>
      <p:sp>
        <p:nvSpPr>
          <p:cNvPr id="4" name="">
            <a:extLst xmlns:a="http://schemas.openxmlformats.org/drawingml/2006/main">
              <a:ext uri="{FF2B5EF4-FFF2-40B4-BE49-F238E27FC236}">
                <a16:creationId xmlns:a16="http://schemas.microsoft.com/office/drawing/2014/main" id="{131DD6B2-A209-4AA2-87A7-923A15AF615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963DD07-3EEC-4AD8-8BF3-00E57638E4F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a:t>
            </a:r>
          </a:p>
        </p:txBody>
      </p:sp>
      <p:sp>
        <p:nvSpPr>
          <p:cNvPr id="6" name="">
            <a:extLst xmlns:a="http://schemas.openxmlformats.org/drawingml/2006/main">
              <a:ext uri="{FF2B5EF4-FFF2-40B4-BE49-F238E27FC236}">
                <a16:creationId xmlns:a16="http://schemas.microsoft.com/office/drawing/2014/main" id="{BFC0DF3F-DD62-49FB-A61D-742CF3AF31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case passed only when semantics, execution, effects, and reporting agreed.</a:t>
            </a:r>
          </a:p>
        </p:txBody>
      </p:sp>
      <p:sp>
        <p:nvSpPr>
          <p:cNvPr id="7" name="">
            <a:extLst xmlns:a="http://schemas.openxmlformats.org/drawingml/2006/main">
              <a:ext uri="{FF2B5EF4-FFF2-40B4-BE49-F238E27FC236}">
                <a16:creationId xmlns:a16="http://schemas.microsoft.com/office/drawing/2014/main" id="{07E74D5A-B4EE-479F-9B7B-7F02C240A2F0}"/>
              </a:ext>
            </a:extLst>
          </p:cNvPr>
          <p:cNvSpPr>
            <a:spLocks xmlns:a="http://schemas.openxmlformats.org/drawingml/2006/main" noGrp="1"/>
          </p:cNvSpPr>
          <p:nvPr/>
        </p:nvSpPr>
        <p:spPr>
          <a:xfrm xmlns:a="http://schemas.openxmlformats.org/drawingml/2006/main">
            <a:off x="6858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9166105B-EE34-4D26-980F-48CBEFA5BE9E}"/>
              </a:ext>
            </a:extLst>
          </p:cNvPr>
          <p:cNvSpPr>
            <a:spLocks xmlns:a="http://schemas.openxmlformats.org/drawingml/2006/main" noGrp="1"/>
          </p:cNvSpPr>
          <p:nvPr/>
        </p:nvSpPr>
        <p:spPr>
          <a:xfrm xmlns:a="http://schemas.openxmlformats.org/drawingml/2006/main">
            <a:off x="8191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0C6570"/>
                </a:solidFill>
                <a:latin typeface="Georgia"/>
                <a:ea typeface="Georgia"/>
                <a:cs typeface="Georgia"/>
              </a:defRPr>
            </a:pPr>
            <a:r>
              <a:rPr sz="3300" b="1" i="0">
                <a:solidFill>
                  <a:srgbClr val="0C6570"/>
                </a:solidFill>
                <a:latin typeface="Georgia"/>
                <a:ea typeface="Georgia"/>
                <a:cs typeface="Georgia"/>
              </a:rPr>
              <a:t>A</a:t>
            </a:r>
          </a:p>
        </p:txBody>
      </p:sp>
      <p:sp>
        <p:nvSpPr>
          <p:cNvPr id="9" name="">
            <a:extLst xmlns:a="http://schemas.openxmlformats.org/drawingml/2006/main">
              <a:ext uri="{FF2B5EF4-FFF2-40B4-BE49-F238E27FC236}">
                <a16:creationId xmlns:a16="http://schemas.microsoft.com/office/drawing/2014/main" id="{1360603F-BDB2-4ED0-AE63-10FCDA2BE2E3}"/>
              </a:ext>
            </a:extLst>
          </p:cNvPr>
          <p:cNvSpPr>
            <a:spLocks xmlns:a="http://schemas.openxmlformats.org/drawingml/2006/main" noGrp="1"/>
          </p:cNvSpPr>
          <p:nvPr/>
        </p:nvSpPr>
        <p:spPr>
          <a:xfrm xmlns:a="http://schemas.openxmlformats.org/drawingml/2006/main">
            <a:off x="8382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Semantic route</a:t>
            </a:r>
          </a:p>
        </p:txBody>
      </p:sp>
      <p:sp>
        <p:nvSpPr>
          <p:cNvPr id="10" name="">
            <a:extLst xmlns:a="http://schemas.openxmlformats.org/drawingml/2006/main">
              <a:ext uri="{FF2B5EF4-FFF2-40B4-BE49-F238E27FC236}">
                <a16:creationId xmlns:a16="http://schemas.microsoft.com/office/drawing/2014/main" id="{CD917EA2-6B97-4E62-BCC1-CC1780A1B50F}"/>
              </a:ext>
            </a:extLst>
          </p:cNvPr>
          <p:cNvSpPr>
            <a:spLocks xmlns:a="http://schemas.openxmlformats.org/drawingml/2006/main" noGrp="1"/>
          </p:cNvSpPr>
          <p:nvPr/>
        </p:nvSpPr>
        <p:spPr>
          <a:xfrm xmlns:a="http://schemas.openxmlformats.org/drawingml/2006/main">
            <a:off x="8572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Correct dialogue, knowledge, or execution path</a:t>
            </a:r>
          </a:p>
        </p:txBody>
      </p:sp>
      <p:sp>
        <p:nvSpPr>
          <p:cNvPr id="11" name="">
            <a:extLst xmlns:a="http://schemas.openxmlformats.org/drawingml/2006/main">
              <a:ext uri="{FF2B5EF4-FFF2-40B4-BE49-F238E27FC236}">
                <a16:creationId xmlns:a16="http://schemas.microsoft.com/office/drawing/2014/main" id="{A5C64D3F-7F97-40A9-817B-E651C598B0E9}"/>
              </a:ext>
            </a:extLst>
          </p:cNvPr>
          <p:cNvSpPr>
            <a:spLocks xmlns:a="http://schemas.openxmlformats.org/drawingml/2006/main" noGrp="1"/>
          </p:cNvSpPr>
          <p:nvPr/>
        </p:nvSpPr>
        <p:spPr>
          <a:xfrm xmlns:a="http://schemas.openxmlformats.org/drawingml/2006/main">
            <a:off x="33337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5C21DED-BF7D-4C00-8BB3-C0AAFF8AA7A3}"/>
              </a:ext>
            </a:extLst>
          </p:cNvPr>
          <p:cNvSpPr>
            <a:spLocks xmlns:a="http://schemas.openxmlformats.org/drawingml/2006/main" noGrp="1"/>
          </p:cNvSpPr>
          <p:nvPr/>
        </p:nvSpPr>
        <p:spPr>
          <a:xfrm xmlns:a="http://schemas.openxmlformats.org/drawingml/2006/main">
            <a:off x="34671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9B5C08"/>
                </a:solidFill>
                <a:latin typeface="Georgia"/>
                <a:ea typeface="Georgia"/>
                <a:cs typeface="Georgia"/>
              </a:defRPr>
            </a:pPr>
            <a:r>
              <a:rPr sz="3300" b="1" i="0">
                <a:solidFill>
                  <a:srgbClr val="9B5C08"/>
                </a:solidFill>
                <a:latin typeface="Georgia"/>
                <a:ea typeface="Georgia"/>
                <a:cs typeface="Georgia"/>
              </a:rPr>
              <a:t>B</a:t>
            </a:r>
          </a:p>
        </p:txBody>
      </p:sp>
      <p:sp>
        <p:nvSpPr>
          <p:cNvPr id="13" name="">
            <a:extLst xmlns:a="http://schemas.openxmlformats.org/drawingml/2006/main">
              <a:ext uri="{FF2B5EF4-FFF2-40B4-BE49-F238E27FC236}">
                <a16:creationId xmlns:a16="http://schemas.microsoft.com/office/drawing/2014/main" id="{9A3D66E3-9EF8-4D22-BB67-8A29EE78A131}"/>
              </a:ext>
            </a:extLst>
          </p:cNvPr>
          <p:cNvSpPr>
            <a:spLocks xmlns:a="http://schemas.openxmlformats.org/drawingml/2006/main" noGrp="1"/>
          </p:cNvSpPr>
          <p:nvPr/>
        </p:nvSpPr>
        <p:spPr>
          <a:xfrm xmlns:a="http://schemas.openxmlformats.org/drawingml/2006/main">
            <a:off x="34861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Accepted plan</a:t>
            </a:r>
          </a:p>
        </p:txBody>
      </p:sp>
      <p:sp>
        <p:nvSpPr>
          <p:cNvPr id="14" name="">
            <a:extLst xmlns:a="http://schemas.openxmlformats.org/drawingml/2006/main">
              <a:ext uri="{FF2B5EF4-FFF2-40B4-BE49-F238E27FC236}">
                <a16:creationId xmlns:a16="http://schemas.microsoft.com/office/drawing/2014/main" id="{0ADA32AD-5B5F-4E3E-814F-DE7D01F6F68F}"/>
              </a:ext>
            </a:extLst>
          </p:cNvPr>
          <p:cNvSpPr>
            <a:spLocks xmlns:a="http://schemas.openxmlformats.org/drawingml/2006/main" noGrp="1"/>
          </p:cNvSpPr>
          <p:nvPr/>
        </p:nvSpPr>
        <p:spPr>
          <a:xfrm xmlns:a="http://schemas.openxmlformats.org/drawingml/2006/main">
            <a:off x="35052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Complete targets, roles, skills, order, and lineage</a:t>
            </a:r>
          </a:p>
        </p:txBody>
      </p:sp>
      <p:sp>
        <p:nvSpPr>
          <p:cNvPr id="15" name="">
            <a:extLst xmlns:a="http://schemas.openxmlformats.org/drawingml/2006/main">
              <a:ext uri="{FF2B5EF4-FFF2-40B4-BE49-F238E27FC236}">
                <a16:creationId xmlns:a16="http://schemas.microsoft.com/office/drawing/2014/main" id="{36C7D75A-F542-4729-9D2E-567AACB78550}"/>
              </a:ext>
            </a:extLst>
          </p:cNvPr>
          <p:cNvSpPr>
            <a:spLocks xmlns:a="http://schemas.openxmlformats.org/drawingml/2006/main" noGrp="1"/>
          </p:cNvSpPr>
          <p:nvPr/>
        </p:nvSpPr>
        <p:spPr>
          <a:xfrm xmlns:a="http://schemas.openxmlformats.org/drawingml/2006/main">
            <a:off x="59817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DA09DF8-7FC5-43EB-B01B-C14859B2A30D}"/>
              </a:ext>
            </a:extLst>
          </p:cNvPr>
          <p:cNvSpPr>
            <a:spLocks xmlns:a="http://schemas.openxmlformats.org/drawingml/2006/main" noGrp="1"/>
          </p:cNvSpPr>
          <p:nvPr/>
        </p:nvSpPr>
        <p:spPr>
          <a:xfrm xmlns:a="http://schemas.openxmlformats.org/drawingml/2006/main">
            <a:off x="61150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A33B32"/>
                </a:solidFill>
                <a:latin typeface="Georgia"/>
                <a:ea typeface="Georgia"/>
                <a:cs typeface="Georgia"/>
              </a:defRPr>
            </a:pPr>
            <a:r>
              <a:rPr sz="3300" b="1" i="0">
                <a:solidFill>
                  <a:srgbClr val="A33B32"/>
                </a:solidFill>
                <a:latin typeface="Georgia"/>
                <a:ea typeface="Georgia"/>
                <a:cs typeface="Georgia"/>
              </a:rPr>
              <a:t>C</a:t>
            </a:r>
          </a:p>
        </p:txBody>
      </p:sp>
      <p:sp>
        <p:nvSpPr>
          <p:cNvPr id="17" name="">
            <a:extLst xmlns:a="http://schemas.openxmlformats.org/drawingml/2006/main">
              <a:ext uri="{FF2B5EF4-FFF2-40B4-BE49-F238E27FC236}">
                <a16:creationId xmlns:a16="http://schemas.microsoft.com/office/drawing/2014/main" id="{A43EAEC0-CBFA-45B7-9623-C24471CADC39}"/>
              </a:ext>
            </a:extLst>
          </p:cNvPr>
          <p:cNvSpPr>
            <a:spLocks xmlns:a="http://schemas.openxmlformats.org/drawingml/2006/main" noGrp="1"/>
          </p:cNvSpPr>
          <p:nvPr/>
        </p:nvSpPr>
        <p:spPr>
          <a:xfrm xmlns:a="http://schemas.openxmlformats.org/drawingml/2006/main">
            <a:off x="61341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Controlled outcome</a:t>
            </a:r>
          </a:p>
        </p:txBody>
      </p:sp>
      <p:sp>
        <p:nvSpPr>
          <p:cNvPr id="18" name="">
            <a:extLst xmlns:a="http://schemas.openxmlformats.org/drawingml/2006/main">
              <a:ext uri="{FF2B5EF4-FFF2-40B4-BE49-F238E27FC236}">
                <a16:creationId xmlns:a16="http://schemas.microsoft.com/office/drawing/2014/main" id="{A549A199-F363-412D-B663-38F5EB9642D1}"/>
              </a:ext>
            </a:extLst>
          </p:cNvPr>
          <p:cNvSpPr>
            <a:spLocks xmlns:a="http://schemas.openxmlformats.org/drawingml/2006/main" noGrp="1"/>
          </p:cNvSpPr>
          <p:nvPr/>
        </p:nvSpPr>
        <p:spPr>
          <a:xfrm xmlns:a="http://schemas.openxmlformats.org/drawingml/2006/main">
            <a:off x="61531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Success, failure, clarification, or bounded replan</a:t>
            </a:r>
          </a:p>
        </p:txBody>
      </p:sp>
      <p:sp>
        <p:nvSpPr>
          <p:cNvPr id="19" name="">
            <a:extLst xmlns:a="http://schemas.openxmlformats.org/drawingml/2006/main">
              <a:ext uri="{FF2B5EF4-FFF2-40B4-BE49-F238E27FC236}">
                <a16:creationId xmlns:a16="http://schemas.microsoft.com/office/drawing/2014/main" id="{8B1F6B1B-38CE-4300-A4AA-1BF5957C32AB}"/>
              </a:ext>
            </a:extLst>
          </p:cNvPr>
          <p:cNvSpPr>
            <a:spLocks xmlns:a="http://schemas.openxmlformats.org/drawingml/2006/main" noGrp="1"/>
          </p:cNvSpPr>
          <p:nvPr/>
        </p:nvSpPr>
        <p:spPr>
          <a:xfrm xmlns:a="http://schemas.openxmlformats.org/drawingml/2006/main">
            <a:off x="86296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1D9F0F5F-BD72-486A-B530-B11FD6B10321}"/>
              </a:ext>
            </a:extLst>
          </p:cNvPr>
          <p:cNvSpPr>
            <a:spLocks xmlns:a="http://schemas.openxmlformats.org/drawingml/2006/main" noGrp="1"/>
          </p:cNvSpPr>
          <p:nvPr/>
        </p:nvSpPr>
        <p:spPr>
          <a:xfrm xmlns:a="http://schemas.openxmlformats.org/drawingml/2006/main">
            <a:off x="87630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477A59"/>
                </a:solidFill>
                <a:latin typeface="Georgia"/>
                <a:ea typeface="Georgia"/>
                <a:cs typeface="Georgia"/>
              </a:defRPr>
            </a:pPr>
            <a:r>
              <a:rPr sz="3300" b="1" i="0">
                <a:solidFill>
                  <a:srgbClr val="477A59"/>
                </a:solidFill>
                <a:latin typeface="Georgia"/>
                <a:ea typeface="Georgia"/>
                <a:cs typeface="Georgia"/>
              </a:rPr>
              <a:t>D</a:t>
            </a:r>
          </a:p>
        </p:txBody>
      </p:sp>
      <p:sp>
        <p:nvSpPr>
          <p:cNvPr id="21" name="">
            <a:extLst xmlns:a="http://schemas.openxmlformats.org/drawingml/2006/main">
              <a:ext uri="{FF2B5EF4-FFF2-40B4-BE49-F238E27FC236}">
                <a16:creationId xmlns:a16="http://schemas.microsoft.com/office/drawing/2014/main" id="{DB60D3EA-4F5B-47DD-89C3-F3BE72777AB4}"/>
              </a:ext>
            </a:extLst>
          </p:cNvPr>
          <p:cNvSpPr>
            <a:spLocks xmlns:a="http://schemas.openxmlformats.org/drawingml/2006/main" noGrp="1"/>
          </p:cNvSpPr>
          <p:nvPr/>
        </p:nvSpPr>
        <p:spPr>
          <a:xfrm xmlns:a="http://schemas.openxmlformats.org/drawingml/2006/main">
            <a:off x="87820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Verified closure</a:t>
            </a:r>
          </a:p>
        </p:txBody>
      </p:sp>
      <p:sp>
        <p:nvSpPr>
          <p:cNvPr id="22" name="">
            <a:extLst xmlns:a="http://schemas.openxmlformats.org/drawingml/2006/main">
              <a:ext uri="{FF2B5EF4-FFF2-40B4-BE49-F238E27FC236}">
                <a16:creationId xmlns:a16="http://schemas.microsoft.com/office/drawing/2014/main" id="{DC604515-88D0-4F36-85EE-BD0D3E49E48C}"/>
              </a:ext>
            </a:extLst>
          </p:cNvPr>
          <p:cNvSpPr>
            <a:spLocks xmlns:a="http://schemas.openxmlformats.org/drawingml/2006/main" noGrp="1"/>
          </p:cNvSpPr>
          <p:nvPr/>
        </p:nvSpPr>
        <p:spPr>
          <a:xfrm xmlns:a="http://schemas.openxmlformats.org/drawingml/2006/main">
            <a:off x="88011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Postcondition and final report agree with evidence</a:t>
            </a:r>
          </a:p>
        </p:txBody>
      </p:sp>
      <p:sp>
        <p:nvSpPr>
          <p:cNvPr id="23" name="">
            <a:extLst xmlns:a="http://schemas.openxmlformats.org/drawingml/2006/main">
              <a:ext uri="{FF2B5EF4-FFF2-40B4-BE49-F238E27FC236}">
                <a16:creationId xmlns:a16="http://schemas.microsoft.com/office/drawing/2014/main" id="{ACB22E52-75EF-4DF8-8EE7-6983E76131EE}"/>
              </a:ext>
            </a:extLst>
          </p:cNvPr>
          <p:cNvSpPr>
            <a:spLocks xmlns:a="http://schemas.openxmlformats.org/drawingml/2006/main" noGrp="1"/>
          </p:cNvSpPr>
          <p:nvPr/>
        </p:nvSpPr>
        <p:spPr>
          <a:xfrm xmlns:a="http://schemas.openxmlformats.org/drawingml/2006/main">
            <a:off x="1000125" y="5095875"/>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One unit of analysis = one user request under a fixed software, model, world-state, and skill configuration.</a:t>
            </a:r>
          </a:p>
        </p:txBody>
      </p:sp>
      <p:sp>
        <p:nvSpPr>
          <p:cNvPr id="24" name="">
            <a:extLst xmlns:a="http://schemas.openxmlformats.org/drawingml/2006/main">
              <a:ext uri="{FF2B5EF4-FFF2-40B4-BE49-F238E27FC236}">
                <a16:creationId xmlns:a16="http://schemas.microsoft.com/office/drawing/2014/main" id="{D051F8D0-6423-4B2B-9FF3-3C19423581BE}"/>
              </a:ext>
            </a:extLst>
          </p:cNvPr>
          <p:cNvSpPr>
            <a:spLocks xmlns:a="http://schemas.openxmlformats.org/drawingml/2006/main" noGrp="1"/>
          </p:cNvSpPr>
          <p:nvPr/>
        </p:nvSpPr>
        <p:spPr>
          <a:xfrm xmlns:a="http://schemas.openxmlformats.org/drawingml/2006/main">
            <a:off x="1285875" y="57150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i="0">
                <a:solidFill>
                  <a:srgbClr val="5B6770"/>
                </a:solidFill>
                <a:latin typeface="Arial"/>
                <a:ea typeface="Arial"/>
                <a:cs typeface="Arial"/>
              </a:defRPr>
            </a:pPr>
            <a:r>
              <a:rPr sz="1425" b="0" i="0">
                <a:solidFill>
                  <a:srgbClr val="5B6770"/>
                </a:solidFill>
                <a:latin typeface="Arial"/>
                <a:ea typeface="Arial"/>
                <a:cs typeface="Arial"/>
              </a:rPr>
              <a:t>Scenario-based software and integration validation, not unrestricted robot-task success or human-subject evaluation.</a:t>
            </a:r>
          </a:p>
        </p:txBody>
      </p:sp>
    </p:spTree>
    <p:extLst>
      <p:ext uri="{BB962C8B-B14F-4D97-AF65-F5344CB8AC3E}">
        <p14:creationId xmlns:p14="http://schemas.microsoft.com/office/powerpoint/2010/main" val="177426516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E5FBD3-A4BA-47B5-B853-79E57A3CDAB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33CEC5FF-C62C-462C-B24F-52762BBDADC1}"/>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50826AD-07CA-482F-A030-880A8A8FF41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EVIDENCE</a:t>
            </a:r>
          </a:p>
        </p:txBody>
      </p:sp>
      <p:sp>
        <p:nvSpPr>
          <p:cNvPr id="4" name="">
            <a:extLst xmlns:a="http://schemas.openxmlformats.org/drawingml/2006/main">
              <a:ext uri="{FF2B5EF4-FFF2-40B4-BE49-F238E27FC236}">
                <a16:creationId xmlns:a16="http://schemas.microsoft.com/office/drawing/2014/main" id="{AD4C4632-7CC3-4C17-95F9-FB3EC75DD7A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0E013C9-77CC-460D-AD93-D9DB4DF5158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FROZEN EVIDENCE SCOPE</a:t>
            </a:r>
          </a:p>
        </p:txBody>
      </p:sp>
      <p:sp>
        <p:nvSpPr>
          <p:cNvPr id="6" name="">
            <a:extLst xmlns:a="http://schemas.openxmlformats.org/drawingml/2006/main">
              <a:ext uri="{FF2B5EF4-FFF2-40B4-BE49-F238E27FC236}">
                <a16:creationId xmlns:a16="http://schemas.microsoft.com/office/drawing/2014/main" id="{7A15AED1-D130-4C37-83FB-06A8A357654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One primary qualification anchors the thesis; other model probes remain separate.</a:t>
            </a:r>
          </a:p>
        </p:txBody>
      </p:sp>
      <p:sp>
        <p:nvSpPr>
          <p:cNvPr id="7" name="">
            <a:extLst xmlns:a="http://schemas.openxmlformats.org/drawingml/2006/main">
              <a:ext uri="{FF2B5EF4-FFF2-40B4-BE49-F238E27FC236}">
                <a16:creationId xmlns:a16="http://schemas.microsoft.com/office/drawing/2014/main" id="{313561BA-6F4E-4E64-B9B7-CB269631BCF7}"/>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D219546-9DE8-464A-A147-BE7031678F71}"/>
              </a:ext>
            </a:extLst>
          </p:cNvPr>
          <p:cNvSpPr>
            <a:spLocks xmlns:a="http://schemas.openxmlformats.org/drawingml/2006/main" noGrp="1"/>
          </p:cNvSpPr>
          <p:nvPr/>
        </p:nvSpPr>
        <p:spPr>
          <a:xfrm xmlns:a="http://schemas.openxmlformats.org/drawingml/2006/main">
            <a:off x="8191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108</a:t>
            </a:r>
          </a:p>
        </p:txBody>
      </p:sp>
      <p:sp>
        <p:nvSpPr>
          <p:cNvPr id="9" name="">
            <a:extLst xmlns:a="http://schemas.openxmlformats.org/drawingml/2006/main">
              <a:ext uri="{FF2B5EF4-FFF2-40B4-BE49-F238E27FC236}">
                <a16:creationId xmlns:a16="http://schemas.microsoft.com/office/drawing/2014/main" id="{9698E7A7-CEE0-4541-AD62-772139A6C13C}"/>
              </a:ext>
            </a:extLst>
          </p:cNvPr>
          <p:cNvSpPr>
            <a:spLocks xmlns:a="http://schemas.openxmlformats.org/drawingml/2006/main" noGrp="1"/>
          </p:cNvSpPr>
          <p:nvPr/>
        </p:nvSpPr>
        <p:spPr>
          <a:xfrm xmlns:a="http://schemas.openxmlformats.org/drawingml/2006/main">
            <a:off x="8382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Retained case records</a:t>
            </a:r>
          </a:p>
        </p:txBody>
      </p:sp>
      <p:sp>
        <p:nvSpPr>
          <p:cNvPr id="10" name="">
            <a:extLst xmlns:a="http://schemas.openxmlformats.org/drawingml/2006/main">
              <a:ext uri="{FF2B5EF4-FFF2-40B4-BE49-F238E27FC236}">
                <a16:creationId xmlns:a16="http://schemas.microsoft.com/office/drawing/2014/main" id="{FA6F513F-C2E3-4C5A-8693-A68A0A08F828}"/>
              </a:ext>
            </a:extLst>
          </p:cNvPr>
          <p:cNvSpPr>
            <a:spLocks xmlns:a="http://schemas.openxmlformats.org/drawingml/2006/main" noGrp="1"/>
          </p:cNvSpPr>
          <p:nvPr/>
        </p:nvSpPr>
        <p:spPr>
          <a:xfrm xmlns:a="http://schemas.openxmlformats.org/drawingml/2006/main">
            <a:off x="8572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Derived from 33 structured runtime traces across the final evidence index.</a:t>
            </a:r>
          </a:p>
        </p:txBody>
      </p:sp>
      <p:sp>
        <p:nvSpPr>
          <p:cNvPr id="11" name="">
            <a:extLst xmlns:a="http://schemas.openxmlformats.org/drawingml/2006/main">
              <a:ext uri="{FF2B5EF4-FFF2-40B4-BE49-F238E27FC236}">
                <a16:creationId xmlns:a16="http://schemas.microsoft.com/office/drawing/2014/main" id="{C195E7C4-1382-4E86-967D-89028B8D0D10}"/>
              </a:ext>
            </a:extLst>
          </p:cNvPr>
          <p:cNvSpPr>
            <a:spLocks xmlns:a="http://schemas.openxmlformats.org/drawingml/2006/main" noGrp="1"/>
          </p:cNvSpPr>
          <p:nvPr/>
        </p:nvSpPr>
        <p:spPr>
          <a:xfrm xmlns:a="http://schemas.openxmlformats.org/drawingml/2006/main">
            <a:off x="42291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CAB78222-9C29-4EF4-B511-B9F17BE8385E}"/>
              </a:ext>
            </a:extLst>
          </p:cNvPr>
          <p:cNvSpPr>
            <a:spLocks xmlns:a="http://schemas.openxmlformats.org/drawingml/2006/main" noGrp="1"/>
          </p:cNvSpPr>
          <p:nvPr/>
        </p:nvSpPr>
        <p:spPr>
          <a:xfrm xmlns:a="http://schemas.openxmlformats.org/drawingml/2006/main">
            <a:off x="43624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72</a:t>
            </a:r>
          </a:p>
        </p:txBody>
      </p:sp>
      <p:sp>
        <p:nvSpPr>
          <p:cNvPr id="13" name="">
            <a:extLst xmlns:a="http://schemas.openxmlformats.org/drawingml/2006/main">
              <a:ext uri="{FF2B5EF4-FFF2-40B4-BE49-F238E27FC236}">
                <a16:creationId xmlns:a16="http://schemas.microsoft.com/office/drawing/2014/main" id="{041A424C-EB54-42DD-ACAD-951C7A4492C0}"/>
              </a:ext>
            </a:extLst>
          </p:cNvPr>
          <p:cNvSpPr>
            <a:spLocks xmlns:a="http://schemas.openxmlformats.org/drawingml/2006/main" noGrp="1"/>
          </p:cNvSpPr>
          <p:nvPr/>
        </p:nvSpPr>
        <p:spPr>
          <a:xfrm xmlns:a="http://schemas.openxmlformats.org/drawingml/2006/main">
            <a:off x="43815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Primary records</a:t>
            </a:r>
          </a:p>
        </p:txBody>
      </p:sp>
      <p:sp>
        <p:nvSpPr>
          <p:cNvPr id="14" name="">
            <a:extLst xmlns:a="http://schemas.openxmlformats.org/drawingml/2006/main">
              <a:ext uri="{FF2B5EF4-FFF2-40B4-BE49-F238E27FC236}">
                <a16:creationId xmlns:a16="http://schemas.microsoft.com/office/drawing/2014/main" id="{EBB0F67B-0041-4626-82D1-BE5EA2B7F98D}"/>
              </a:ext>
            </a:extLst>
          </p:cNvPr>
          <p:cNvSpPr>
            <a:spLocks xmlns:a="http://schemas.openxmlformats.org/drawingml/2006/main" noGrp="1"/>
          </p:cNvSpPr>
          <p:nvPr/>
        </p:nvSpPr>
        <p:spPr>
          <a:xfrm xmlns:a="http://schemas.openxmlformats.org/drawingml/2006/main">
            <a:off x="44005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Qwen3-VL: 64 passes and 8 failures under the frozen qualification.</a:t>
            </a:r>
          </a:p>
        </p:txBody>
      </p:sp>
      <p:sp>
        <p:nvSpPr>
          <p:cNvPr id="15" name="">
            <a:extLst xmlns:a="http://schemas.openxmlformats.org/drawingml/2006/main">
              <a:ext uri="{FF2B5EF4-FFF2-40B4-BE49-F238E27FC236}">
                <a16:creationId xmlns:a16="http://schemas.microsoft.com/office/drawing/2014/main" id="{939C2BF3-1980-454D-99D5-A735749A66F0}"/>
              </a:ext>
            </a:extLst>
          </p:cNvPr>
          <p:cNvSpPr>
            <a:spLocks xmlns:a="http://schemas.openxmlformats.org/drawingml/2006/main" noGrp="1"/>
          </p:cNvSpPr>
          <p:nvPr/>
        </p:nvSpPr>
        <p:spPr>
          <a:xfrm xmlns:a="http://schemas.openxmlformats.org/drawingml/2006/main">
            <a:off x="77724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09C4F971-664F-4E7A-BBC3-093634B32F2F}"/>
              </a:ext>
            </a:extLst>
          </p:cNvPr>
          <p:cNvSpPr>
            <a:spLocks xmlns:a="http://schemas.openxmlformats.org/drawingml/2006/main" noGrp="1"/>
          </p:cNvSpPr>
          <p:nvPr/>
        </p:nvSpPr>
        <p:spPr>
          <a:xfrm xmlns:a="http://schemas.openxmlformats.org/drawingml/2006/main">
            <a:off x="79057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191</a:t>
            </a:r>
          </a:p>
        </p:txBody>
      </p:sp>
      <p:sp>
        <p:nvSpPr>
          <p:cNvPr id="17" name="">
            <a:extLst xmlns:a="http://schemas.openxmlformats.org/drawingml/2006/main">
              <a:ext uri="{FF2B5EF4-FFF2-40B4-BE49-F238E27FC236}">
                <a16:creationId xmlns:a16="http://schemas.microsoft.com/office/drawing/2014/main" id="{143DF589-DFA9-4F49-B8A2-61A69A780B46}"/>
              </a:ext>
            </a:extLst>
          </p:cNvPr>
          <p:cNvSpPr>
            <a:spLocks xmlns:a="http://schemas.openxmlformats.org/drawingml/2006/main" noGrp="1"/>
          </p:cNvSpPr>
          <p:nvPr/>
        </p:nvSpPr>
        <p:spPr>
          <a:xfrm xmlns:a="http://schemas.openxmlformats.org/drawingml/2006/main">
            <a:off x="79248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Model supplement</a:t>
            </a:r>
          </a:p>
        </p:txBody>
      </p:sp>
      <p:sp>
        <p:nvSpPr>
          <p:cNvPr id="18" name="">
            <a:extLst xmlns:a="http://schemas.openxmlformats.org/drawingml/2006/main">
              <a:ext uri="{FF2B5EF4-FFF2-40B4-BE49-F238E27FC236}">
                <a16:creationId xmlns:a16="http://schemas.microsoft.com/office/drawing/2014/main" id="{3CA4F9DB-8D80-4F33-9077-094A92FF775D}"/>
              </a:ext>
            </a:extLst>
          </p:cNvPr>
          <p:cNvSpPr>
            <a:spLocks xmlns:a="http://schemas.openxmlformats.org/drawingml/2006/main" noGrp="1"/>
          </p:cNvSpPr>
          <p:nvPr/>
        </p:nvSpPr>
        <p:spPr>
          <a:xfrm xmlns:a="http://schemas.openxmlformats.org/drawingml/2006/main">
            <a:off x="79438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Three Ollama models, retained outside the primary denominator.</a:t>
            </a:r>
          </a:p>
        </p:txBody>
      </p:sp>
      <p:sp>
        <p:nvSpPr>
          <p:cNvPr id="19" name="">
            <a:extLst xmlns:a="http://schemas.openxmlformats.org/drawingml/2006/main">
              <a:ext uri="{FF2B5EF4-FFF2-40B4-BE49-F238E27FC236}">
                <a16:creationId xmlns:a16="http://schemas.microsoft.com/office/drawing/2014/main" id="{C683F4CA-2246-4B95-821D-1D3624EC6A22}"/>
              </a:ext>
            </a:extLst>
          </p:cNvPr>
          <p:cNvSpPr>
            <a:spLocks xmlns:a="http://schemas.openxmlformats.org/drawingml/2006/main" noGrp="1"/>
          </p:cNvSpPr>
          <p:nvPr/>
        </p:nvSpPr>
        <p:spPr>
          <a:xfrm xmlns:a="http://schemas.openxmlformats.org/drawingml/2006/main">
            <a:off x="1600200" y="54292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i="0">
                <a:solidFill>
                  <a:srgbClr val="073F47"/>
                </a:solidFill>
                <a:latin typeface="Georgia"/>
                <a:ea typeface="Georgia"/>
                <a:cs typeface="Georgia"/>
              </a:defRPr>
            </a:pPr>
            <a:r>
              <a:rPr sz="2025" b="1" i="0">
                <a:solidFill>
                  <a:srgbClr val="073F47"/>
                </a:solidFill>
                <a:latin typeface="Georgia"/>
                <a:ea typeface="Georgia"/>
                <a:cs typeface="Georgia"/>
              </a:rPr>
              <a:t>The 22-case end-to-end questionnaire produced 20 passes and 2 failures.</a:t>
            </a:r>
          </a:p>
        </p:txBody>
      </p:sp>
    </p:spTree>
    <p:extLst>
      <p:ext uri="{BB962C8B-B14F-4D97-AF65-F5344CB8AC3E}">
        <p14:creationId xmlns:p14="http://schemas.microsoft.com/office/powerpoint/2010/main" val="110381476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461758-9581-47B2-AE36-8E4741D1721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8826674-F222-4A3D-A4E9-AC5578FDB5D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C75879E8-73B9-47EA-B87B-FFB8C15EEF00}"/>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61DEE54B-8EC2-48C1-858C-1120E788438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F950701-7BCB-42DE-BD22-DB277E77B05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PRIMARY QWEN3-VL RESULTS</a:t>
            </a:r>
          </a:p>
        </p:txBody>
      </p:sp>
      <p:sp>
        <p:nvSpPr>
          <p:cNvPr id="6" name="">
            <a:extLst xmlns:a="http://schemas.openxmlformats.org/drawingml/2006/main">
              <a:ext uri="{FF2B5EF4-FFF2-40B4-BE49-F238E27FC236}">
                <a16:creationId xmlns:a16="http://schemas.microsoft.com/office/drawing/2014/main" id="{05CF0C8F-A1A1-44AB-B415-B42993FD3AE7}"/>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Most tested seams passed.</a:t>
            </a:r>
          </a:p>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Semantic non-passes remained visible.</a:t>
            </a:r>
          </a:p>
        </p:txBody>
      </p:sp>
      <p:graphicFrame>
        <p:nvGraphicFramePr>
          <p:cNvPr id="25" name="Chart"/>
          <p:cNvGraphicFramePr/>
          <p:nvPr/>
        </p:nvGraphicFramePr>
        <p:xfrm>
          <a:off xmlns:a="http://schemas.openxmlformats.org/drawingml/2006/main" x="685800" y="1952625"/>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0adb5c9a33db4792"/>
          </a:graphicData>
        </a:graphic>
      </p:graphicFrame>
      <p:sp>
        <p:nvSpPr>
          <p:cNvPr id="8" name="">
            <a:extLst xmlns:a="http://schemas.openxmlformats.org/drawingml/2006/main">
              <a:ext uri="{FF2B5EF4-FFF2-40B4-BE49-F238E27FC236}">
                <a16:creationId xmlns:a16="http://schemas.microsoft.com/office/drawing/2014/main" id="{6AFCDB74-2BE7-419A-A4A9-BD348488D15D}"/>
              </a:ext>
            </a:extLst>
          </p:cNvPr>
          <p:cNvSpPr>
            <a:spLocks xmlns:a="http://schemas.openxmlformats.org/drawingml/2006/main" noGrp="1"/>
          </p:cNvSpPr>
          <p:nvPr/>
        </p:nvSpPr>
        <p:spPr>
          <a:xfrm xmlns:a="http://schemas.openxmlformats.org/drawingml/2006/main">
            <a:off x="7239000" y="2047875"/>
            <a:ext cx="3714750" cy="26670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2D5D4"/>
            </a:solidFill>
            <a:prstDash val="solid"/>
          </a:ln>
        </p:spPr>
      </p:sp>
      <p:sp>
        <p:nvSpPr>
          <p:cNvPr id="9" name="">
            <a:extLst xmlns:a="http://schemas.openxmlformats.org/drawingml/2006/main">
              <a:ext uri="{FF2B5EF4-FFF2-40B4-BE49-F238E27FC236}">
                <a16:creationId xmlns:a16="http://schemas.microsoft.com/office/drawing/2014/main" id="{CA02132A-C72A-4F5E-A0D5-EF69D0D1DD57}"/>
              </a:ext>
            </a:extLst>
          </p:cNvPr>
          <p:cNvSpPr>
            <a:spLocks xmlns:a="http://schemas.openxmlformats.org/drawingml/2006/main" noGrp="1"/>
          </p:cNvSpPr>
          <p:nvPr/>
        </p:nvSpPr>
        <p:spPr>
          <a:xfrm xmlns:a="http://schemas.openxmlformats.org/drawingml/2006/main">
            <a:off x="7239000" y="2047875"/>
            <a:ext cx="57150" cy="26670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0" name="">
            <a:extLst xmlns:a="http://schemas.openxmlformats.org/drawingml/2006/main">
              <a:ext uri="{FF2B5EF4-FFF2-40B4-BE49-F238E27FC236}">
                <a16:creationId xmlns:a16="http://schemas.microsoft.com/office/drawing/2014/main" id="{81ADD5B6-86AB-4025-9DC3-44D01FD47055}"/>
              </a:ext>
            </a:extLst>
          </p:cNvPr>
          <p:cNvSpPr>
            <a:spLocks xmlns:a="http://schemas.openxmlformats.org/drawingml/2006/main" noGrp="1"/>
          </p:cNvSpPr>
          <p:nvPr/>
        </p:nvSpPr>
        <p:spPr>
          <a:xfrm xmlns:a="http://schemas.openxmlformats.org/drawingml/2006/main">
            <a:off x="7448550" y="221932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failures exposed</a:t>
            </a:r>
          </a:p>
        </p:txBody>
      </p:sp>
      <p:sp>
        <p:nvSpPr>
          <p:cNvPr id="11" name="">
            <a:extLst xmlns:a="http://schemas.openxmlformats.org/drawingml/2006/main">
              <a:ext uri="{FF2B5EF4-FFF2-40B4-BE49-F238E27FC236}">
                <a16:creationId xmlns:a16="http://schemas.microsoft.com/office/drawing/2014/main" id="{BFE45643-81E4-41D0-8F62-9C64B45C0238}"/>
              </a:ext>
            </a:extLst>
          </p:cNvPr>
          <p:cNvSpPr>
            <a:spLocks xmlns:a="http://schemas.openxmlformats.org/drawingml/2006/main" noGrp="1"/>
          </p:cNvSpPr>
          <p:nvPr/>
        </p:nvSpPr>
        <p:spPr>
          <a:xfrm xmlns:a="http://schemas.openxmlformats.org/drawingml/2006/main">
            <a:off x="7448550" y="2619375"/>
            <a:ext cx="32956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incomplete universal target selection</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one location-to-recipient role error</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missing terminal closure after recovery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incomplete multi-capability plan coverage</a:t>
            </a:r>
          </a:p>
        </p:txBody>
      </p:sp>
      <p:sp>
        <p:nvSpPr>
          <p:cNvPr id="12" name="">
            <a:extLst xmlns:a="http://schemas.openxmlformats.org/drawingml/2006/main">
              <a:ext uri="{FF2B5EF4-FFF2-40B4-BE49-F238E27FC236}">
                <a16:creationId xmlns:a16="http://schemas.microsoft.com/office/drawing/2014/main" id="{0C0F55BD-F88E-4B88-84EE-015784D00285}"/>
              </a:ext>
            </a:extLst>
          </p:cNvPr>
          <p:cNvSpPr>
            <a:spLocks xmlns:a="http://schemas.openxmlformats.org/drawingml/2006/main" noGrp="1"/>
          </p:cNvSpPr>
          <p:nvPr/>
        </p:nvSpPr>
        <p:spPr>
          <a:xfrm xmlns:a="http://schemas.openxmlformats.org/drawingml/2006/main">
            <a:off x="7239000" y="4810125"/>
            <a:ext cx="3714750" cy="1190625"/>
          </a:xfrm>
          <a:prstGeom xmlns:a="http://schemas.openxmlformats.org/drawingml/2006/main" prst="roundRect">
            <a:avLst>
              <a:gd name="adj" fmla="val 12800"/>
            </a:avLst>
          </a:prstGeom>
          <a:solidFill xmlns:a="http://schemas.openxmlformats.org/drawingml/2006/main">
            <a:srgbClr val="FFFFFF"/>
          </a:solidFill>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E5AC7257-4E9F-4E57-A412-F5C71053E60F}"/>
              </a:ext>
            </a:extLst>
          </p:cNvPr>
          <p:cNvSpPr>
            <a:spLocks xmlns:a="http://schemas.openxmlformats.org/drawingml/2006/main" noGrp="1"/>
          </p:cNvSpPr>
          <p:nvPr/>
        </p:nvSpPr>
        <p:spPr>
          <a:xfrm xmlns:a="http://schemas.openxmlformats.org/drawingml/2006/main">
            <a:off x="7239000" y="4810125"/>
            <a:ext cx="57150" cy="1190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4" name="">
            <a:extLst xmlns:a="http://schemas.openxmlformats.org/drawingml/2006/main">
              <a:ext uri="{FF2B5EF4-FFF2-40B4-BE49-F238E27FC236}">
                <a16:creationId xmlns:a16="http://schemas.microsoft.com/office/drawing/2014/main" id="{82155759-F2BF-41A2-B79E-C2D4B80FF7F0}"/>
              </a:ext>
            </a:extLst>
          </p:cNvPr>
          <p:cNvSpPr>
            <a:spLocks xmlns:a="http://schemas.openxmlformats.org/drawingml/2006/main" noGrp="1"/>
          </p:cNvSpPr>
          <p:nvPr/>
        </p:nvSpPr>
        <p:spPr>
          <a:xfrm xmlns:a="http://schemas.openxmlformats.org/drawingml/2006/main">
            <a:off x="7448550" y="49815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Interpretation</a:t>
            </a:r>
          </a:p>
        </p:txBody>
      </p:sp>
      <p:sp>
        <p:nvSpPr>
          <p:cNvPr id="15" name="">
            <a:extLst xmlns:a="http://schemas.openxmlformats.org/drawingml/2006/main">
              <a:ext uri="{FF2B5EF4-FFF2-40B4-BE49-F238E27FC236}">
                <a16:creationId xmlns:a16="http://schemas.microsoft.com/office/drawing/2014/main" id="{603ABBFD-5A9E-4549-8FD5-C7411816B0D1}"/>
              </a:ext>
            </a:extLst>
          </p:cNvPr>
          <p:cNvSpPr>
            <a:spLocks xmlns:a="http://schemas.openxmlformats.org/drawingml/2006/main" noGrp="1"/>
          </p:cNvSpPr>
          <p:nvPr/>
        </p:nvSpPr>
        <p:spPr>
          <a:xfrm xmlns:a="http://schemas.openxmlformats.org/drawingml/2006/main">
            <a:off x="7448550" y="5267325"/>
            <a:ext cx="32956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Incomplete plans were rejected before dispatch. Safe containment did not erase task-level failure.</a:t>
            </a:r>
          </a:p>
        </p:txBody>
      </p:sp>
    </p:spTree>
    <p:extLst>
      <p:ext uri="{BB962C8B-B14F-4D97-AF65-F5344CB8AC3E}">
        <p14:creationId xmlns:p14="http://schemas.microsoft.com/office/powerpoint/2010/main" val="1977999802"/>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4366195-4A18-4748-BFCC-AD7237B95A8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504E224-1EC5-4974-9699-EA6E3F9480A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FA55BAE-005C-4861-8354-6EC983A4EEE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FAILURES</a:t>
            </a:r>
          </a:p>
        </p:txBody>
      </p:sp>
      <p:sp>
        <p:nvSpPr>
          <p:cNvPr id="4" name="">
            <a:extLst xmlns:a="http://schemas.openxmlformats.org/drawingml/2006/main">
              <a:ext uri="{FF2B5EF4-FFF2-40B4-BE49-F238E27FC236}">
                <a16:creationId xmlns:a16="http://schemas.microsoft.com/office/drawing/2014/main" id="{CBC062C8-446D-4D12-BAEF-3B2CC86DAAB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5C6429B-89EF-4B9D-AAFB-CACAAD939EF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ERROR TAXONOMY</a:t>
            </a:r>
          </a:p>
        </p:txBody>
      </p:sp>
      <p:sp>
        <p:nvSpPr>
          <p:cNvPr id="6" name="">
            <a:extLst xmlns:a="http://schemas.openxmlformats.org/drawingml/2006/main">
              <a:ext uri="{FF2B5EF4-FFF2-40B4-BE49-F238E27FC236}">
                <a16:creationId xmlns:a16="http://schemas.microsoft.com/office/drawing/2014/main" id="{E37BB146-A8DB-4A39-B7B6-5F98A179943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remaining failures occur at identifiable semantic and closure boundaries.</a:t>
            </a:r>
          </a:p>
        </p:txBody>
      </p:sp>
      <p:sp>
        <p:nvSpPr>
          <p:cNvPr id="7" name="">
            <a:extLst xmlns:a="http://schemas.openxmlformats.org/drawingml/2006/main">
              <a:ext uri="{FF2B5EF4-FFF2-40B4-BE49-F238E27FC236}">
                <a16:creationId xmlns:a16="http://schemas.microsoft.com/office/drawing/2014/main" id="{F46CFC9C-20E0-41B4-B9DE-58F050272B73}"/>
              </a:ext>
            </a:extLst>
          </p:cNvPr>
          <p:cNvSpPr>
            <a:spLocks xmlns:a="http://schemas.openxmlformats.org/drawingml/2006/main" noGrp="1"/>
          </p:cNvSpPr>
          <p:nvPr/>
        </p:nvSpPr>
        <p:spPr>
          <a:xfrm xmlns:a="http://schemas.openxmlformats.org/drawingml/2006/main">
            <a:off x="685800" y="20288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8" name="">
            <a:extLst xmlns:a="http://schemas.openxmlformats.org/drawingml/2006/main">
              <a:ext uri="{FF2B5EF4-FFF2-40B4-BE49-F238E27FC236}">
                <a16:creationId xmlns:a16="http://schemas.microsoft.com/office/drawing/2014/main" id="{33F7141F-94AC-4399-BBB2-61B1ABBB063E}"/>
              </a:ext>
            </a:extLst>
          </p:cNvPr>
          <p:cNvSpPr>
            <a:spLocks xmlns:a="http://schemas.openxmlformats.org/drawingml/2006/main" noGrp="1"/>
          </p:cNvSpPr>
          <p:nvPr/>
        </p:nvSpPr>
        <p:spPr>
          <a:xfrm xmlns:a="http://schemas.openxmlformats.org/drawingml/2006/main">
            <a:off x="762000" y="20955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6EAC1A10-2290-4F4C-B117-70654D3BF4B9}"/>
              </a:ext>
            </a:extLst>
          </p:cNvPr>
          <p:cNvSpPr>
            <a:spLocks xmlns:a="http://schemas.openxmlformats.org/drawingml/2006/main" noGrp="1"/>
          </p:cNvSpPr>
          <p:nvPr/>
        </p:nvSpPr>
        <p:spPr>
          <a:xfrm xmlns:a="http://schemas.openxmlformats.org/drawingml/2006/main">
            <a:off x="2324100" y="19812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KB update entered the execution planner</a:t>
            </a:r>
          </a:p>
        </p:txBody>
      </p:sp>
      <p:sp>
        <p:nvSpPr>
          <p:cNvPr id="10" name="">
            <a:extLst xmlns:a="http://schemas.openxmlformats.org/drawingml/2006/main">
              <a:ext uri="{FF2B5EF4-FFF2-40B4-BE49-F238E27FC236}">
                <a16:creationId xmlns:a16="http://schemas.microsoft.com/office/drawing/2014/main" id="{3FC82834-FC31-4395-8084-ED5E8E434ECC}"/>
              </a:ext>
            </a:extLst>
          </p:cNvPr>
          <p:cNvSpPr>
            <a:spLocks xmlns:a="http://schemas.openxmlformats.org/drawingml/2006/main" noGrp="1"/>
          </p:cNvSpPr>
          <p:nvPr/>
        </p:nvSpPr>
        <p:spPr>
          <a:xfrm xmlns:a="http://schemas.openxmlformats.org/drawingml/2006/main">
            <a:off x="7715250" y="20288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Route and ownership failure</a:t>
            </a:r>
          </a:p>
        </p:txBody>
      </p:sp>
      <p:sp>
        <p:nvSpPr>
          <p:cNvPr id="11" name="">
            <a:extLst xmlns:a="http://schemas.openxmlformats.org/drawingml/2006/main">
              <a:ext uri="{FF2B5EF4-FFF2-40B4-BE49-F238E27FC236}">
                <a16:creationId xmlns:a16="http://schemas.microsoft.com/office/drawing/2014/main" id="{460602EA-802E-40BD-9556-31781BD65BFA}"/>
              </a:ext>
            </a:extLst>
          </p:cNvPr>
          <p:cNvSpPr>
            <a:spLocks xmlns:a="http://schemas.openxmlformats.org/drawingml/2006/main" noGrp="1"/>
          </p:cNvSpPr>
          <p:nvPr/>
        </p:nvSpPr>
        <p:spPr>
          <a:xfrm xmlns:a="http://schemas.openxmlformats.org/drawingml/2006/main">
            <a:off x="685800" y="25622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0E1061-92FB-4D69-9F2E-3590C4F7758C}"/>
              </a:ext>
            </a:extLst>
          </p:cNvPr>
          <p:cNvSpPr>
            <a:spLocks xmlns:a="http://schemas.openxmlformats.org/drawingml/2006/main" noGrp="1"/>
          </p:cNvSpPr>
          <p:nvPr/>
        </p:nvSpPr>
        <p:spPr>
          <a:xfrm xmlns:a="http://schemas.openxmlformats.org/drawingml/2006/main">
            <a:off x="685800" y="28098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3" name="">
            <a:extLst xmlns:a="http://schemas.openxmlformats.org/drawingml/2006/main">
              <a:ext uri="{FF2B5EF4-FFF2-40B4-BE49-F238E27FC236}">
                <a16:creationId xmlns:a16="http://schemas.microsoft.com/office/drawing/2014/main" id="{50DF5E3D-EF9E-4E69-85D4-00EF144EC5A5}"/>
              </a:ext>
            </a:extLst>
          </p:cNvPr>
          <p:cNvSpPr>
            <a:spLocks xmlns:a="http://schemas.openxmlformats.org/drawingml/2006/main" noGrp="1"/>
          </p:cNvSpPr>
          <p:nvPr/>
        </p:nvSpPr>
        <p:spPr>
          <a:xfrm xmlns:a="http://schemas.openxmlformats.org/drawingml/2006/main">
            <a:off x="762000" y="2876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SELECTION</a:t>
            </a:r>
          </a:p>
        </p:txBody>
      </p:sp>
      <p:sp>
        <p:nvSpPr>
          <p:cNvPr id="14" name="">
            <a:extLst xmlns:a="http://schemas.openxmlformats.org/drawingml/2006/main">
              <a:ext uri="{FF2B5EF4-FFF2-40B4-BE49-F238E27FC236}">
                <a16:creationId xmlns:a16="http://schemas.microsoft.com/office/drawing/2014/main" id="{54C62EA0-F300-40EB-BA8A-BB998581CF08}"/>
              </a:ext>
            </a:extLst>
          </p:cNvPr>
          <p:cNvSpPr>
            <a:spLocks xmlns:a="http://schemas.openxmlformats.org/drawingml/2006/main" noGrp="1"/>
          </p:cNvSpPr>
          <p:nvPr/>
        </p:nvSpPr>
        <p:spPr>
          <a:xfrm xmlns:a="http://schemas.openxmlformats.org/drawingml/2006/main">
            <a:off x="2324100" y="27622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One member omitted from an “all objects” set</a:t>
            </a:r>
          </a:p>
        </p:txBody>
      </p:sp>
      <p:sp>
        <p:nvSpPr>
          <p:cNvPr id="15" name="">
            <a:extLst xmlns:a="http://schemas.openxmlformats.org/drawingml/2006/main">
              <a:ext uri="{FF2B5EF4-FFF2-40B4-BE49-F238E27FC236}">
                <a16:creationId xmlns:a16="http://schemas.microsoft.com/office/drawing/2014/main" id="{C491286F-1549-41F2-8480-0155F81F1F9D}"/>
              </a:ext>
            </a:extLst>
          </p:cNvPr>
          <p:cNvSpPr>
            <a:spLocks xmlns:a="http://schemas.openxmlformats.org/drawingml/2006/main" noGrp="1"/>
          </p:cNvSpPr>
          <p:nvPr/>
        </p:nvSpPr>
        <p:spPr>
          <a:xfrm xmlns:a="http://schemas.openxmlformats.org/drawingml/2006/main">
            <a:off x="7715250" y="28098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Target-set failure</a:t>
            </a:r>
          </a:p>
        </p:txBody>
      </p:sp>
      <p:sp>
        <p:nvSpPr>
          <p:cNvPr id="16" name="">
            <a:extLst xmlns:a="http://schemas.openxmlformats.org/drawingml/2006/main">
              <a:ext uri="{FF2B5EF4-FFF2-40B4-BE49-F238E27FC236}">
                <a16:creationId xmlns:a16="http://schemas.microsoft.com/office/drawing/2014/main" id="{7034FE58-83FB-4C6D-8323-894A4370F565}"/>
              </a:ext>
            </a:extLst>
          </p:cNvPr>
          <p:cNvSpPr>
            <a:spLocks xmlns:a="http://schemas.openxmlformats.org/drawingml/2006/main" noGrp="1"/>
          </p:cNvSpPr>
          <p:nvPr/>
        </p:nvSpPr>
        <p:spPr>
          <a:xfrm xmlns:a="http://schemas.openxmlformats.org/drawingml/2006/main">
            <a:off x="685800" y="33432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434CB78E-276C-4CD5-BBE6-E044CFD4D661}"/>
              </a:ext>
            </a:extLst>
          </p:cNvPr>
          <p:cNvSpPr>
            <a:spLocks xmlns:a="http://schemas.openxmlformats.org/drawingml/2006/main" noGrp="1"/>
          </p:cNvSpPr>
          <p:nvPr/>
        </p:nvSpPr>
        <p:spPr>
          <a:xfrm xmlns:a="http://schemas.openxmlformats.org/drawingml/2006/main">
            <a:off x="685800" y="35909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8" name="">
            <a:extLst xmlns:a="http://schemas.openxmlformats.org/drawingml/2006/main">
              <a:ext uri="{FF2B5EF4-FFF2-40B4-BE49-F238E27FC236}">
                <a16:creationId xmlns:a16="http://schemas.microsoft.com/office/drawing/2014/main" id="{74ECEA71-A485-4EB1-9201-7C8F47FFCD4F}"/>
              </a:ext>
            </a:extLst>
          </p:cNvPr>
          <p:cNvSpPr>
            <a:spLocks xmlns:a="http://schemas.openxmlformats.org/drawingml/2006/main" noGrp="1"/>
          </p:cNvSpPr>
          <p:nvPr/>
        </p:nvSpPr>
        <p:spPr>
          <a:xfrm xmlns:a="http://schemas.openxmlformats.org/drawingml/2006/main">
            <a:off x="762000" y="36576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ROLE</a:t>
            </a:r>
          </a:p>
        </p:txBody>
      </p:sp>
      <p:sp>
        <p:nvSpPr>
          <p:cNvPr id="19" name="">
            <a:extLst xmlns:a="http://schemas.openxmlformats.org/drawingml/2006/main">
              <a:ext uri="{FF2B5EF4-FFF2-40B4-BE49-F238E27FC236}">
                <a16:creationId xmlns:a16="http://schemas.microsoft.com/office/drawing/2014/main" id="{89454E82-897F-4BE2-97BE-75694D30ACD8}"/>
              </a:ext>
            </a:extLst>
          </p:cNvPr>
          <p:cNvSpPr>
            <a:spLocks xmlns:a="http://schemas.openxmlformats.org/drawingml/2006/main" noGrp="1"/>
          </p:cNvSpPr>
          <p:nvPr/>
        </p:nvSpPr>
        <p:spPr>
          <a:xfrm xmlns:a="http://schemas.openxmlformats.org/drawingml/2006/main">
            <a:off x="2324100" y="35433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Kitchen treated as the delivery recipient</a:t>
            </a:r>
          </a:p>
        </p:txBody>
      </p:sp>
      <p:sp>
        <p:nvSpPr>
          <p:cNvPr id="20" name="">
            <a:extLst xmlns:a="http://schemas.openxmlformats.org/drawingml/2006/main">
              <a:ext uri="{FF2B5EF4-FFF2-40B4-BE49-F238E27FC236}">
                <a16:creationId xmlns:a16="http://schemas.microsoft.com/office/drawing/2014/main" id="{F74B84A7-8AD9-461F-9951-F14811686837}"/>
              </a:ext>
            </a:extLst>
          </p:cNvPr>
          <p:cNvSpPr>
            <a:spLocks xmlns:a="http://schemas.openxmlformats.org/drawingml/2006/main" noGrp="1"/>
          </p:cNvSpPr>
          <p:nvPr/>
        </p:nvSpPr>
        <p:spPr>
          <a:xfrm xmlns:a="http://schemas.openxmlformats.org/drawingml/2006/main">
            <a:off x="7715250" y="35909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Entity-role failure</a:t>
            </a:r>
          </a:p>
        </p:txBody>
      </p:sp>
      <p:sp>
        <p:nvSpPr>
          <p:cNvPr id="21" name="">
            <a:extLst xmlns:a="http://schemas.openxmlformats.org/drawingml/2006/main">
              <a:ext uri="{FF2B5EF4-FFF2-40B4-BE49-F238E27FC236}">
                <a16:creationId xmlns:a16="http://schemas.microsoft.com/office/drawing/2014/main" id="{1CA83F22-C0A7-496C-96E1-AB7ABBA483C7}"/>
              </a:ext>
            </a:extLst>
          </p:cNvPr>
          <p:cNvSpPr>
            <a:spLocks xmlns:a="http://schemas.openxmlformats.org/drawingml/2006/main" noGrp="1"/>
          </p:cNvSpPr>
          <p:nvPr/>
        </p:nvSpPr>
        <p:spPr>
          <a:xfrm xmlns:a="http://schemas.openxmlformats.org/drawingml/2006/main">
            <a:off x="685800" y="41243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1CEC130F-ABFF-41FB-9AE1-5606CB37383F}"/>
              </a:ext>
            </a:extLst>
          </p:cNvPr>
          <p:cNvSpPr>
            <a:spLocks xmlns:a="http://schemas.openxmlformats.org/drawingml/2006/main" noGrp="1"/>
          </p:cNvSpPr>
          <p:nvPr/>
        </p:nvSpPr>
        <p:spPr>
          <a:xfrm xmlns:a="http://schemas.openxmlformats.org/drawingml/2006/main">
            <a:off x="685800" y="43719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23" name="">
            <a:extLst xmlns:a="http://schemas.openxmlformats.org/drawingml/2006/main">
              <a:ext uri="{FF2B5EF4-FFF2-40B4-BE49-F238E27FC236}">
                <a16:creationId xmlns:a16="http://schemas.microsoft.com/office/drawing/2014/main" id="{28B0A9CA-2562-48D5-8D1D-7E272982D24D}"/>
              </a:ext>
            </a:extLst>
          </p:cNvPr>
          <p:cNvSpPr>
            <a:spLocks xmlns:a="http://schemas.openxmlformats.org/drawingml/2006/main" noGrp="1"/>
          </p:cNvSpPr>
          <p:nvPr/>
        </p:nvSpPr>
        <p:spPr>
          <a:xfrm xmlns:a="http://schemas.openxmlformats.org/drawingml/2006/main">
            <a:off x="762000" y="44386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COVERAGE</a:t>
            </a:r>
          </a:p>
        </p:txBody>
      </p:sp>
      <p:sp>
        <p:nvSpPr>
          <p:cNvPr id="24" name="">
            <a:extLst xmlns:a="http://schemas.openxmlformats.org/drawingml/2006/main">
              <a:ext uri="{FF2B5EF4-FFF2-40B4-BE49-F238E27FC236}">
                <a16:creationId xmlns:a16="http://schemas.microsoft.com/office/drawing/2014/main" id="{B7D24D1A-6C34-4E31-9290-DBA955399754}"/>
              </a:ext>
            </a:extLst>
          </p:cNvPr>
          <p:cNvSpPr>
            <a:spLocks xmlns:a="http://schemas.openxmlformats.org/drawingml/2006/main" noGrp="1"/>
          </p:cNvSpPr>
          <p:nvPr/>
        </p:nvSpPr>
        <p:spPr>
          <a:xfrm xmlns:a="http://schemas.openxmlformats.org/drawingml/2006/main">
            <a:off x="2324100" y="43243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Required action absent from a long composite</a:t>
            </a:r>
          </a:p>
        </p:txBody>
      </p:sp>
      <p:sp>
        <p:nvSpPr>
          <p:cNvPr id="25" name="">
            <a:extLst xmlns:a="http://schemas.openxmlformats.org/drawingml/2006/main">
              <a:ext uri="{FF2B5EF4-FFF2-40B4-BE49-F238E27FC236}">
                <a16:creationId xmlns:a16="http://schemas.microsoft.com/office/drawing/2014/main" id="{6D79B0FD-01C0-4860-893E-5C7290B74D35}"/>
              </a:ext>
            </a:extLst>
          </p:cNvPr>
          <p:cNvSpPr>
            <a:spLocks xmlns:a="http://schemas.openxmlformats.org/drawingml/2006/main" noGrp="1"/>
          </p:cNvSpPr>
          <p:nvPr/>
        </p:nvSpPr>
        <p:spPr>
          <a:xfrm xmlns:a="http://schemas.openxmlformats.org/drawingml/2006/main">
            <a:off x="7715250" y="4371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Plan-completeness failure</a:t>
            </a:r>
          </a:p>
        </p:txBody>
      </p:sp>
      <p:sp>
        <p:nvSpPr>
          <p:cNvPr id="26" name="">
            <a:extLst xmlns:a="http://schemas.openxmlformats.org/drawingml/2006/main">
              <a:ext uri="{FF2B5EF4-FFF2-40B4-BE49-F238E27FC236}">
                <a16:creationId xmlns:a16="http://schemas.microsoft.com/office/drawing/2014/main" id="{FBBD535C-343A-496E-9A4F-74F7F01A036B}"/>
              </a:ext>
            </a:extLst>
          </p:cNvPr>
          <p:cNvSpPr>
            <a:spLocks xmlns:a="http://schemas.openxmlformats.org/drawingml/2006/main" noGrp="1"/>
          </p:cNvSpPr>
          <p:nvPr/>
        </p:nvSpPr>
        <p:spPr>
          <a:xfrm xmlns:a="http://schemas.openxmlformats.org/drawingml/2006/main">
            <a:off x="685800" y="49053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CB094958-2BDC-4C35-97D1-1E0956D27BC9}"/>
              </a:ext>
            </a:extLst>
          </p:cNvPr>
          <p:cNvSpPr>
            <a:spLocks xmlns:a="http://schemas.openxmlformats.org/drawingml/2006/main" noGrp="1"/>
          </p:cNvSpPr>
          <p:nvPr/>
        </p:nvSpPr>
        <p:spPr>
          <a:xfrm xmlns:a="http://schemas.openxmlformats.org/drawingml/2006/main">
            <a:off x="685800" y="5153025"/>
            <a:ext cx="1352550" cy="323850"/>
          </a:xfrm>
          <a:prstGeom xmlns:a="http://schemas.openxmlformats.org/drawingml/2006/main" prst="roundRect">
            <a:avLst>
              <a:gd name="adj" fmla="val 50000"/>
            </a:avLst>
          </a:prstGeom>
          <a:solidFill xmlns:a="http://schemas.openxmlformats.org/drawingml/2006/main">
            <a:srgbClr val="F2DFDC"/>
          </a:solidFill>
          <a:ln xmlns:a="http://schemas.openxmlformats.org/drawingml/2006/main" w="0">
            <a:solidFill>
              <a:srgbClr val="F2DFDC"/>
            </a:solidFill>
            <a:prstDash val="solid"/>
          </a:ln>
        </p:spPr>
      </p:sp>
      <p:sp>
        <p:nvSpPr>
          <p:cNvPr id="28" name="">
            <a:extLst xmlns:a="http://schemas.openxmlformats.org/drawingml/2006/main">
              <a:ext uri="{FF2B5EF4-FFF2-40B4-BE49-F238E27FC236}">
                <a16:creationId xmlns:a16="http://schemas.microsoft.com/office/drawing/2014/main" id="{CF0578A7-0A3A-414A-892C-C4C8251078DF}"/>
              </a:ext>
            </a:extLst>
          </p:cNvPr>
          <p:cNvSpPr>
            <a:spLocks xmlns:a="http://schemas.openxmlformats.org/drawingml/2006/main" noGrp="1"/>
          </p:cNvSpPr>
          <p:nvPr/>
        </p:nvSpPr>
        <p:spPr>
          <a:xfrm xmlns:a="http://schemas.openxmlformats.org/drawingml/2006/main">
            <a:off x="762000" y="52197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A33B32"/>
                </a:solidFill>
                <a:latin typeface="Arial"/>
                <a:ea typeface="Arial"/>
                <a:cs typeface="Arial"/>
              </a:defRPr>
            </a:pPr>
            <a:r>
              <a:rPr sz="1050" b="1" i="0">
                <a:solidFill>
                  <a:srgbClr val="A33B32"/>
                </a:solidFill>
                <a:latin typeface="Arial"/>
                <a:ea typeface="Arial"/>
                <a:cs typeface="Arial"/>
              </a:rPr>
              <a:t>CLOSURE</a:t>
            </a:r>
          </a:p>
        </p:txBody>
      </p:sp>
      <p:sp>
        <p:nvSpPr>
          <p:cNvPr id="29" name="">
            <a:extLst xmlns:a="http://schemas.openxmlformats.org/drawingml/2006/main">
              <a:ext uri="{FF2B5EF4-FFF2-40B4-BE49-F238E27FC236}">
                <a16:creationId xmlns:a16="http://schemas.microsoft.com/office/drawing/2014/main" id="{6225B41E-5F2A-43D4-A8DB-767A8B868B87}"/>
              </a:ext>
            </a:extLst>
          </p:cNvPr>
          <p:cNvSpPr>
            <a:spLocks xmlns:a="http://schemas.openxmlformats.org/drawingml/2006/main" noGrp="1"/>
          </p:cNvSpPr>
          <p:nvPr/>
        </p:nvSpPr>
        <p:spPr>
          <a:xfrm xmlns:a="http://schemas.openxmlformats.org/drawingml/2006/main">
            <a:off x="2324100" y="51054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Recovery occurred without reliable terminal speech</a:t>
            </a:r>
          </a:p>
        </p:txBody>
      </p:sp>
      <p:sp>
        <p:nvSpPr>
          <p:cNvPr id="30" name="">
            <a:extLst xmlns:a="http://schemas.openxmlformats.org/drawingml/2006/main">
              <a:ext uri="{FF2B5EF4-FFF2-40B4-BE49-F238E27FC236}">
                <a16:creationId xmlns:a16="http://schemas.microsoft.com/office/drawing/2014/main" id="{A3049420-B677-4F1A-BD28-01056CCD6B2A}"/>
              </a:ext>
            </a:extLst>
          </p:cNvPr>
          <p:cNvSpPr>
            <a:spLocks xmlns:a="http://schemas.openxmlformats.org/drawingml/2006/main" noGrp="1"/>
          </p:cNvSpPr>
          <p:nvPr/>
        </p:nvSpPr>
        <p:spPr>
          <a:xfrm xmlns:a="http://schemas.openxmlformats.org/drawingml/2006/main">
            <a:off x="7715250" y="51530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Report/closure failure</a:t>
            </a:r>
          </a:p>
        </p:txBody>
      </p:sp>
      <p:sp>
        <p:nvSpPr>
          <p:cNvPr id="31" name="">
            <a:extLst xmlns:a="http://schemas.openxmlformats.org/drawingml/2006/main">
              <a:ext uri="{FF2B5EF4-FFF2-40B4-BE49-F238E27FC236}">
                <a16:creationId xmlns:a16="http://schemas.microsoft.com/office/drawing/2014/main" id="{FB308384-F97F-45A4-A4FD-272B0B918BE5}"/>
              </a:ext>
            </a:extLst>
          </p:cNvPr>
          <p:cNvSpPr>
            <a:spLocks xmlns:a="http://schemas.openxmlformats.org/drawingml/2006/main" noGrp="1"/>
          </p:cNvSpPr>
          <p:nvPr/>
        </p:nvSpPr>
        <p:spPr>
          <a:xfrm xmlns:a="http://schemas.openxmlformats.org/drawingml/2006/main">
            <a:off x="685800" y="56864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711A2113-FA84-4B06-8E5F-11D2D0D654E6}"/>
              </a:ext>
            </a:extLst>
          </p:cNvPr>
          <p:cNvSpPr>
            <a:spLocks xmlns:a="http://schemas.openxmlformats.org/drawingml/2006/main" noGrp="1"/>
          </p:cNvSpPr>
          <p:nvPr/>
        </p:nvSpPr>
        <p:spPr>
          <a:xfrm xmlns:a="http://schemas.openxmlformats.org/drawingml/2006/main">
            <a:off x="1143000" y="59531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The architecture converted silent execution risks into inspectable route, selection, plan, clarification, or closure failures.</a:t>
            </a:r>
          </a:p>
        </p:txBody>
      </p:sp>
    </p:spTree>
    <p:extLst>
      <p:ext uri="{BB962C8B-B14F-4D97-AF65-F5344CB8AC3E}">
        <p14:creationId xmlns:p14="http://schemas.microsoft.com/office/powerpoint/2010/main" val="425320538"/>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DDE8F3-79F2-4B46-BBE1-56C2FF2971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BCCA8E-9E7B-4765-9895-B5AF406C5DB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3DB7A12-0612-4C78-ABB4-9D424649CD0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MODELS</a:t>
            </a:r>
          </a:p>
        </p:txBody>
      </p:sp>
      <p:sp>
        <p:nvSpPr>
          <p:cNvPr id="4" name="">
            <a:extLst xmlns:a="http://schemas.openxmlformats.org/drawingml/2006/main">
              <a:ext uri="{FF2B5EF4-FFF2-40B4-BE49-F238E27FC236}">
                <a16:creationId xmlns:a16="http://schemas.microsoft.com/office/drawing/2014/main" id="{4383F299-38F7-4FBC-AAA8-4C9A093C305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ECAFD28-516A-4834-96DC-04552E36AF1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MODEL COMPARISON</a:t>
            </a:r>
          </a:p>
        </p:txBody>
      </p:sp>
      <p:sp>
        <p:nvSpPr>
          <p:cNvPr id="6" name="">
            <a:extLst xmlns:a="http://schemas.openxmlformats.org/drawingml/2006/main">
              <a:ext uri="{FF2B5EF4-FFF2-40B4-BE49-F238E27FC236}">
                <a16:creationId xmlns:a16="http://schemas.microsoft.com/office/drawing/2014/main" id="{BF03A514-317D-4434-8E49-87160FBEE66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Stable interfaces did not produce invariant semantic behaviour.</a:t>
            </a:r>
          </a:p>
        </p:txBody>
      </p:sp>
      <p:sp>
        <p:nvSpPr>
          <p:cNvPr id="7" name="">
            <a:extLst xmlns:a="http://schemas.openxmlformats.org/drawingml/2006/main">
              <a:ext uri="{FF2B5EF4-FFF2-40B4-BE49-F238E27FC236}">
                <a16:creationId xmlns:a16="http://schemas.microsoft.com/office/drawing/2014/main" id="{2AC22915-C432-432C-AB41-573C12AF09B0}"/>
              </a:ext>
            </a:extLst>
          </p:cNvPr>
          <p:cNvSpPr>
            <a:spLocks xmlns:a="http://schemas.openxmlformats.org/drawingml/2006/main" noGrp="1"/>
          </p:cNvSpPr>
          <p:nvPr/>
        </p:nvSpPr>
        <p:spPr>
          <a:xfrm xmlns:a="http://schemas.openxmlformats.org/drawingml/2006/main">
            <a:off x="6858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BF55023-5A69-4241-869B-239CDD00BA3C}"/>
              </a:ext>
            </a:extLst>
          </p:cNvPr>
          <p:cNvSpPr>
            <a:spLocks xmlns:a="http://schemas.openxmlformats.org/drawingml/2006/main" noGrp="1"/>
          </p:cNvSpPr>
          <p:nvPr/>
        </p:nvSpPr>
        <p:spPr>
          <a:xfrm xmlns:a="http://schemas.openxmlformats.org/drawingml/2006/main">
            <a:off x="685800" y="2095500"/>
            <a:ext cx="57150" cy="28575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A8B04CC8-5986-41AF-B7D8-1169B5D25C12}"/>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Stable across backends</a:t>
            </a:r>
          </a:p>
        </p:txBody>
      </p:sp>
      <p:sp>
        <p:nvSpPr>
          <p:cNvPr id="10" name="">
            <a:extLst xmlns:a="http://schemas.openxmlformats.org/drawingml/2006/main">
              <a:ext uri="{FF2B5EF4-FFF2-40B4-BE49-F238E27FC236}">
                <a16:creationId xmlns:a16="http://schemas.microsoft.com/office/drawing/2014/main" id="{92C14791-E17A-4D3F-89E5-C8C4B9A2BD9B}"/>
              </a:ext>
            </a:extLst>
          </p:cNvPr>
          <p:cNvSpPr>
            <a:spLocks xmlns:a="http://schemas.openxmlformats.org/drawingml/2006/main" noGrp="1"/>
          </p:cNvSpPr>
          <p:nvPr/>
        </p:nvSpPr>
        <p:spPr>
          <a:xfrm xmlns:a="http://schemas.openxmlformats.org/drawingml/2006/main">
            <a:off x="8953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Environment profile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Startup ownership</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Symbolic transport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Planner request schema</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Typed execution boundary</a:t>
            </a:r>
          </a:p>
        </p:txBody>
      </p:sp>
      <p:sp>
        <p:nvSpPr>
          <p:cNvPr id="11" name="">
            <a:extLst xmlns:a="http://schemas.openxmlformats.org/drawingml/2006/main">
              <a:ext uri="{FF2B5EF4-FFF2-40B4-BE49-F238E27FC236}">
                <a16:creationId xmlns:a16="http://schemas.microsoft.com/office/drawing/2014/main" id="{6701E9B1-AD8A-4808-83C0-6E38A928B974}"/>
              </a:ext>
            </a:extLst>
          </p:cNvPr>
          <p:cNvSpPr>
            <a:spLocks xmlns:a="http://schemas.openxmlformats.org/drawingml/2006/main" noGrp="1"/>
          </p:cNvSpPr>
          <p:nvPr/>
        </p:nvSpPr>
        <p:spPr>
          <a:xfrm xmlns:a="http://schemas.openxmlformats.org/drawingml/2006/main">
            <a:off x="42291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1C2AE4A9-61F7-40FA-AD2F-B454E417F5CF}"/>
              </a:ext>
            </a:extLst>
          </p:cNvPr>
          <p:cNvSpPr>
            <a:spLocks xmlns:a="http://schemas.openxmlformats.org/drawingml/2006/main" noGrp="1"/>
          </p:cNvSpPr>
          <p:nvPr/>
        </p:nvSpPr>
        <p:spPr>
          <a:xfrm xmlns:a="http://schemas.openxmlformats.org/drawingml/2006/main">
            <a:off x="4229100" y="20955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B1C20BC5-A3EF-4DD4-96DF-9523905E771B}"/>
              </a:ext>
            </a:extLst>
          </p:cNvPr>
          <p:cNvSpPr>
            <a:spLocks xmlns:a="http://schemas.openxmlformats.org/drawingml/2006/main" noGrp="1"/>
          </p:cNvSpPr>
          <p:nvPr/>
        </p:nvSpPr>
        <p:spPr>
          <a:xfrm xmlns:a="http://schemas.openxmlformats.org/drawingml/2006/main">
            <a:off x="4438650" y="22669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Variable across backends</a:t>
            </a:r>
          </a:p>
        </p:txBody>
      </p:sp>
      <p:sp>
        <p:nvSpPr>
          <p:cNvPr id="14" name="">
            <a:extLst xmlns:a="http://schemas.openxmlformats.org/drawingml/2006/main">
              <a:ext uri="{FF2B5EF4-FFF2-40B4-BE49-F238E27FC236}">
                <a16:creationId xmlns:a16="http://schemas.microsoft.com/office/drawing/2014/main" id="{38A5BA41-3F60-473F-AFEA-540357679599}"/>
              </a:ext>
            </a:extLst>
          </p:cNvPr>
          <p:cNvSpPr>
            <a:spLocks xmlns:a="http://schemas.openxmlformats.org/drawingml/2006/main" noGrp="1"/>
          </p:cNvSpPr>
          <p:nvPr/>
        </p:nvSpPr>
        <p:spPr>
          <a:xfrm xmlns:a="http://schemas.openxmlformats.org/drawingml/2006/main">
            <a:off x="4438650" y="2933700"/>
            <a:ext cx="2819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Route selection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Target coverage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Role assignment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Clarification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 and report completeness</a:t>
            </a:r>
          </a:p>
        </p:txBody>
      </p:sp>
      <p:sp>
        <p:nvSpPr>
          <p:cNvPr id="15" name="">
            <a:extLst xmlns:a="http://schemas.openxmlformats.org/drawingml/2006/main">
              <a:ext uri="{FF2B5EF4-FFF2-40B4-BE49-F238E27FC236}">
                <a16:creationId xmlns:a16="http://schemas.microsoft.com/office/drawing/2014/main" id="{D5D1A09B-5F00-4762-B116-8C44D59F9DC3}"/>
              </a:ext>
            </a:extLst>
          </p:cNvPr>
          <p:cNvSpPr>
            <a:spLocks xmlns:a="http://schemas.openxmlformats.org/drawingml/2006/main" noGrp="1"/>
          </p:cNvSpPr>
          <p:nvPr/>
        </p:nvSpPr>
        <p:spPr>
          <a:xfrm xmlns:a="http://schemas.openxmlformats.org/drawingml/2006/main">
            <a:off x="77724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190CDB7-52A0-4084-A117-557290E5D21D}"/>
              </a:ext>
            </a:extLst>
          </p:cNvPr>
          <p:cNvSpPr>
            <a:spLocks xmlns:a="http://schemas.openxmlformats.org/drawingml/2006/main" noGrp="1"/>
          </p:cNvSpPr>
          <p:nvPr/>
        </p:nvSpPr>
        <p:spPr>
          <a:xfrm xmlns:a="http://schemas.openxmlformats.org/drawingml/2006/main">
            <a:off x="7772400" y="2095500"/>
            <a:ext cx="57150" cy="285750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4C4A68A9-6C1E-4EA5-8D7E-5E6BC8F9719F}"/>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Qualification rule</a:t>
            </a:r>
          </a:p>
        </p:txBody>
      </p:sp>
      <p:sp>
        <p:nvSpPr>
          <p:cNvPr id="18" name="">
            <a:extLst xmlns:a="http://schemas.openxmlformats.org/drawingml/2006/main">
              <a:ext uri="{FF2B5EF4-FFF2-40B4-BE49-F238E27FC236}">
                <a16:creationId xmlns:a16="http://schemas.microsoft.com/office/drawing/2014/main" id="{6986F4CB-0DC9-4113-8343-4E8152C9B4BE}"/>
              </a:ext>
            </a:extLst>
          </p:cNvPr>
          <p:cNvSpPr>
            <a:spLocks xmlns:a="http://schemas.openxmlformats.org/drawingml/2006/main" noGrp="1"/>
          </p:cNvSpPr>
          <p:nvPr/>
        </p:nvSpPr>
        <p:spPr>
          <a:xfrm xmlns:a="http://schemas.openxmlformats.org/drawingml/2006/main">
            <a:off x="79819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Qwen3-VL completed the frozen campaign. A compatible replacement must pass the same campaign before inheriting qualification.</a:t>
            </a:r>
          </a:p>
        </p:txBody>
      </p:sp>
      <p:sp>
        <p:nvSpPr>
          <p:cNvPr id="19" name="">
            <a:extLst xmlns:a="http://schemas.openxmlformats.org/drawingml/2006/main">
              <a:ext uri="{FF2B5EF4-FFF2-40B4-BE49-F238E27FC236}">
                <a16:creationId xmlns:a16="http://schemas.microsoft.com/office/drawing/2014/main" id="{CE0DA1F0-F26F-4B76-ADDF-287EDFFD4DCE}"/>
              </a:ext>
            </a:extLst>
          </p:cNvPr>
          <p:cNvSpPr>
            <a:spLocks xmlns:a="http://schemas.openxmlformats.org/drawingml/2006/main" noGrp="1"/>
          </p:cNvSpPr>
          <p:nvPr/>
        </p:nvSpPr>
        <p:spPr>
          <a:xfrm xmlns:a="http://schemas.openxmlformats.org/drawingml/2006/main">
            <a:off x="1143000" y="54292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073F47"/>
                </a:solidFill>
                <a:latin typeface="Georgia"/>
                <a:ea typeface="Georgia"/>
                <a:cs typeface="Georgia"/>
              </a:defRPr>
            </a:pPr>
            <a:r>
              <a:rPr sz="1875" b="1" i="0">
                <a:solidFill>
                  <a:srgbClr val="073F47"/>
                </a:solidFill>
                <a:latin typeface="Georgia"/>
                <a:ea typeface="Georgia"/>
                <a:cs typeface="Georgia"/>
              </a:rPr>
              <a:t>Model-agnostic describes the interface boundary. Model-invariant would require equivalent behaviour, which the evidence did not show.</a:t>
            </a:r>
          </a:p>
        </p:txBody>
      </p:sp>
    </p:spTree>
    <p:extLst>
      <p:ext uri="{BB962C8B-B14F-4D97-AF65-F5344CB8AC3E}">
        <p14:creationId xmlns:p14="http://schemas.microsoft.com/office/powerpoint/2010/main" val="49089968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7B9528-D91C-4661-80DD-91D304C3988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460869C-EB1F-4752-A0EE-A48AFEFF0DA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E5BBF02-02FC-4F72-8211-4F06A128891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RECOVERY</a:t>
            </a:r>
          </a:p>
        </p:txBody>
      </p:sp>
      <p:sp>
        <p:nvSpPr>
          <p:cNvPr id="4" name="">
            <a:extLst xmlns:a="http://schemas.openxmlformats.org/drawingml/2006/main">
              <a:ext uri="{FF2B5EF4-FFF2-40B4-BE49-F238E27FC236}">
                <a16:creationId xmlns:a16="http://schemas.microsoft.com/office/drawing/2014/main" id="{C11354AA-5A76-46F2-8F37-B0C476B445C8}"/>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A56E981-AF30-4ABE-BF34-370E46DAEA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REPRESENTATIVE RETAINED TRACE</a:t>
            </a:r>
          </a:p>
        </p:txBody>
      </p:sp>
      <p:sp>
        <p:nvSpPr>
          <p:cNvPr id="6" name="">
            <a:extLst xmlns:a="http://schemas.openxmlformats.org/drawingml/2006/main">
              <a:ext uri="{FF2B5EF4-FFF2-40B4-BE49-F238E27FC236}">
                <a16:creationId xmlns:a16="http://schemas.microsoft.com/office/drawing/2014/main" id="{5B1C531E-BD07-495A-B204-0E8281E00F70}"/>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failed pick produced a revised plan without losing the completed work.</a:t>
            </a:r>
          </a:p>
        </p:txBody>
      </p:sp>
      <p:sp>
        <p:nvSpPr>
          <p:cNvPr id="7" name="">
            <a:extLst xmlns:a="http://schemas.openxmlformats.org/drawingml/2006/main">
              <a:ext uri="{FF2B5EF4-FFF2-40B4-BE49-F238E27FC236}">
                <a16:creationId xmlns:a16="http://schemas.microsoft.com/office/drawing/2014/main" id="{B843EEBC-DB63-46E9-9B67-7E49E1BCF99A}"/>
              </a:ext>
            </a:extLst>
          </p:cNvPr>
          <p:cNvSpPr>
            <a:spLocks xmlns:a="http://schemas.openxmlformats.org/drawingml/2006/main" noGrp="1"/>
          </p:cNvSpPr>
          <p:nvPr/>
        </p:nvSpPr>
        <p:spPr>
          <a:xfrm xmlns:a="http://schemas.openxmlformats.org/drawingml/2006/main">
            <a:off x="6191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8" name="">
            <a:extLst xmlns:a="http://schemas.openxmlformats.org/drawingml/2006/main">
              <a:ext uri="{FF2B5EF4-FFF2-40B4-BE49-F238E27FC236}">
                <a16:creationId xmlns:a16="http://schemas.microsoft.com/office/drawing/2014/main" id="{E9696CAC-5447-4D3F-8EC1-E446F63AC838}"/>
              </a:ext>
            </a:extLst>
          </p:cNvPr>
          <p:cNvSpPr>
            <a:spLocks xmlns:a="http://schemas.openxmlformats.org/drawingml/2006/main" noGrp="1"/>
          </p:cNvSpPr>
          <p:nvPr/>
        </p:nvSpPr>
        <p:spPr>
          <a:xfrm xmlns:a="http://schemas.openxmlformats.org/drawingml/2006/main">
            <a:off x="7524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find object</a:t>
            </a:r>
          </a:p>
        </p:txBody>
      </p:sp>
      <p:sp>
        <p:nvSpPr>
          <p:cNvPr id="9" name="">
            <a:extLst xmlns:a="http://schemas.openxmlformats.org/drawingml/2006/main">
              <a:ext uri="{FF2B5EF4-FFF2-40B4-BE49-F238E27FC236}">
                <a16:creationId xmlns:a16="http://schemas.microsoft.com/office/drawing/2014/main" id="{C5C9995E-C57F-4503-9EFD-6965F56DC4A1}"/>
              </a:ext>
            </a:extLst>
          </p:cNvPr>
          <p:cNvSpPr>
            <a:spLocks xmlns:a="http://schemas.openxmlformats.org/drawingml/2006/main" noGrp="1"/>
          </p:cNvSpPr>
          <p:nvPr/>
        </p:nvSpPr>
        <p:spPr>
          <a:xfrm xmlns:a="http://schemas.openxmlformats.org/drawingml/2006/main">
            <a:off x="7524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D09FEAC5-725F-4B1A-8024-4BE67D05FE40}"/>
              </a:ext>
            </a:extLst>
          </p:cNvPr>
          <p:cNvSpPr>
            <a:spLocks xmlns:a="http://schemas.openxmlformats.org/drawingml/2006/main" noGrp="1"/>
          </p:cNvSpPr>
          <p:nvPr/>
        </p:nvSpPr>
        <p:spPr>
          <a:xfrm xmlns:a="http://schemas.openxmlformats.org/drawingml/2006/main">
            <a:off x="24003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15DA87B-A8C1-4820-84D6-6214D0883370}"/>
              </a:ext>
            </a:extLst>
          </p:cNvPr>
          <p:cNvSpPr>
            <a:spLocks xmlns:a="http://schemas.openxmlformats.org/drawingml/2006/main" noGrp="1"/>
          </p:cNvSpPr>
          <p:nvPr/>
        </p:nvSpPr>
        <p:spPr>
          <a:xfrm xmlns:a="http://schemas.openxmlformats.org/drawingml/2006/main">
            <a:off x="27717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A33B32"/>
            </a:solidFill>
            <a:prstDash val="solid"/>
          </a:ln>
        </p:spPr>
      </p:sp>
      <p:sp>
        <p:nvSpPr>
          <p:cNvPr id="12" name="">
            <a:extLst xmlns:a="http://schemas.openxmlformats.org/drawingml/2006/main">
              <a:ext uri="{FF2B5EF4-FFF2-40B4-BE49-F238E27FC236}">
                <a16:creationId xmlns:a16="http://schemas.microsoft.com/office/drawing/2014/main" id="{3F5CA679-BD95-4412-8F16-D1519598C4D9}"/>
              </a:ext>
            </a:extLst>
          </p:cNvPr>
          <p:cNvSpPr>
            <a:spLocks xmlns:a="http://schemas.openxmlformats.org/drawingml/2006/main" noGrp="1"/>
          </p:cNvSpPr>
          <p:nvPr/>
        </p:nvSpPr>
        <p:spPr>
          <a:xfrm xmlns:a="http://schemas.openxmlformats.org/drawingml/2006/main">
            <a:off x="29051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pick object</a:t>
            </a:r>
          </a:p>
        </p:txBody>
      </p:sp>
      <p:sp>
        <p:nvSpPr>
          <p:cNvPr id="13" name="">
            <a:extLst xmlns:a="http://schemas.openxmlformats.org/drawingml/2006/main">
              <a:ext uri="{FF2B5EF4-FFF2-40B4-BE49-F238E27FC236}">
                <a16:creationId xmlns:a16="http://schemas.microsoft.com/office/drawing/2014/main" id="{A1807AAA-936E-43C8-9DBB-35AD82C0BA8F}"/>
              </a:ext>
            </a:extLst>
          </p:cNvPr>
          <p:cNvSpPr>
            <a:spLocks xmlns:a="http://schemas.openxmlformats.org/drawingml/2006/main" noGrp="1"/>
          </p:cNvSpPr>
          <p:nvPr/>
        </p:nvSpPr>
        <p:spPr>
          <a:xfrm xmlns:a="http://schemas.openxmlformats.org/drawingml/2006/main">
            <a:off x="29051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A33B32"/>
                </a:solidFill>
                <a:latin typeface="Arial"/>
                <a:ea typeface="Arial"/>
                <a:cs typeface="Arial"/>
              </a:defRPr>
            </a:pPr>
            <a:r>
              <a:rPr sz="1200" b="1" i="0">
                <a:solidFill>
                  <a:srgbClr val="A33B32"/>
                </a:solidFill>
                <a:latin typeface="Arial"/>
                <a:ea typeface="Arial"/>
                <a:cs typeface="Arial"/>
              </a:rPr>
              <a:t>failed</a:t>
            </a:r>
          </a:p>
        </p:txBody>
      </p:sp>
      <p:sp>
        <p:nvSpPr>
          <p:cNvPr id="14" name="">
            <a:extLst xmlns:a="http://schemas.openxmlformats.org/drawingml/2006/main">
              <a:ext uri="{FF2B5EF4-FFF2-40B4-BE49-F238E27FC236}">
                <a16:creationId xmlns:a16="http://schemas.microsoft.com/office/drawing/2014/main" id="{F3BA1CCB-F916-4251-901D-D1EF31AB8C9D}"/>
              </a:ext>
            </a:extLst>
          </p:cNvPr>
          <p:cNvSpPr>
            <a:spLocks xmlns:a="http://schemas.openxmlformats.org/drawingml/2006/main" noGrp="1"/>
          </p:cNvSpPr>
          <p:nvPr/>
        </p:nvSpPr>
        <p:spPr>
          <a:xfrm xmlns:a="http://schemas.openxmlformats.org/drawingml/2006/main">
            <a:off x="45529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03C6122-91D6-4073-AE59-95F37F256BC9}"/>
              </a:ext>
            </a:extLst>
          </p:cNvPr>
          <p:cNvSpPr>
            <a:spLocks xmlns:a="http://schemas.openxmlformats.org/drawingml/2006/main" noGrp="1"/>
          </p:cNvSpPr>
          <p:nvPr/>
        </p:nvSpPr>
        <p:spPr>
          <a:xfrm xmlns:a="http://schemas.openxmlformats.org/drawingml/2006/main">
            <a:off x="49244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0C6570"/>
            </a:solidFill>
            <a:prstDash val="solid"/>
          </a:ln>
        </p:spPr>
      </p:sp>
      <p:sp>
        <p:nvSpPr>
          <p:cNvPr id="16" name="">
            <a:extLst xmlns:a="http://schemas.openxmlformats.org/drawingml/2006/main">
              <a:ext uri="{FF2B5EF4-FFF2-40B4-BE49-F238E27FC236}">
                <a16:creationId xmlns:a16="http://schemas.microsoft.com/office/drawing/2014/main" id="{BA2471F3-A1F5-4175-88A2-C8425D08691C}"/>
              </a:ext>
            </a:extLst>
          </p:cNvPr>
          <p:cNvSpPr>
            <a:spLocks xmlns:a="http://schemas.openxmlformats.org/drawingml/2006/main" noGrp="1"/>
          </p:cNvSpPr>
          <p:nvPr/>
        </p:nvSpPr>
        <p:spPr>
          <a:xfrm xmlns:a="http://schemas.openxmlformats.org/drawingml/2006/main">
            <a:off x="50577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typed feedback</a:t>
            </a:r>
          </a:p>
        </p:txBody>
      </p:sp>
      <p:sp>
        <p:nvSpPr>
          <p:cNvPr id="17" name="">
            <a:extLst xmlns:a="http://schemas.openxmlformats.org/drawingml/2006/main">
              <a:ext uri="{FF2B5EF4-FFF2-40B4-BE49-F238E27FC236}">
                <a16:creationId xmlns:a16="http://schemas.microsoft.com/office/drawing/2014/main" id="{2693149E-48AD-46D0-BCDD-5E32586F32A2}"/>
              </a:ext>
            </a:extLst>
          </p:cNvPr>
          <p:cNvSpPr>
            <a:spLocks xmlns:a="http://schemas.openxmlformats.org/drawingml/2006/main" noGrp="1"/>
          </p:cNvSpPr>
          <p:nvPr/>
        </p:nvSpPr>
        <p:spPr>
          <a:xfrm xmlns:a="http://schemas.openxmlformats.org/drawingml/2006/main">
            <a:off x="50577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0C6570"/>
                </a:solidFill>
                <a:latin typeface="Arial"/>
                <a:ea typeface="Arial"/>
                <a:cs typeface="Arial"/>
              </a:defRPr>
            </a:pPr>
            <a:r>
              <a:rPr sz="1200" b="1" i="0">
                <a:solidFill>
                  <a:srgbClr val="0C6570"/>
                </a:solidFill>
                <a:latin typeface="Arial"/>
                <a:ea typeface="Arial"/>
                <a:cs typeface="Arial"/>
              </a:rPr>
              <a:t>goal + plan lineage</a:t>
            </a:r>
          </a:p>
        </p:txBody>
      </p:sp>
      <p:sp>
        <p:nvSpPr>
          <p:cNvPr id="18" name="">
            <a:extLst xmlns:a="http://schemas.openxmlformats.org/drawingml/2006/main">
              <a:ext uri="{FF2B5EF4-FFF2-40B4-BE49-F238E27FC236}">
                <a16:creationId xmlns:a16="http://schemas.microsoft.com/office/drawing/2014/main" id="{44B6B563-6CE7-4FFC-8BB7-68060768729A}"/>
              </a:ext>
            </a:extLst>
          </p:cNvPr>
          <p:cNvSpPr>
            <a:spLocks xmlns:a="http://schemas.openxmlformats.org/drawingml/2006/main" noGrp="1"/>
          </p:cNvSpPr>
          <p:nvPr/>
        </p:nvSpPr>
        <p:spPr>
          <a:xfrm xmlns:a="http://schemas.openxmlformats.org/drawingml/2006/main">
            <a:off x="67056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20A194C-27C7-4E9B-AE75-FE961C4AA47F}"/>
              </a:ext>
            </a:extLst>
          </p:cNvPr>
          <p:cNvSpPr>
            <a:spLocks xmlns:a="http://schemas.openxmlformats.org/drawingml/2006/main" noGrp="1"/>
          </p:cNvSpPr>
          <p:nvPr/>
        </p:nvSpPr>
        <p:spPr>
          <a:xfrm xmlns:a="http://schemas.openxmlformats.org/drawingml/2006/main">
            <a:off x="70770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ACA1FCED-726B-494D-827C-F632BB47AD0E}"/>
              </a:ext>
            </a:extLst>
          </p:cNvPr>
          <p:cNvSpPr>
            <a:spLocks xmlns:a="http://schemas.openxmlformats.org/drawingml/2006/main" noGrp="1"/>
          </p:cNvSpPr>
          <p:nvPr/>
        </p:nvSpPr>
        <p:spPr>
          <a:xfrm xmlns:a="http://schemas.openxmlformats.org/drawingml/2006/main">
            <a:off x="72104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plan v2</a:t>
            </a:r>
          </a:p>
        </p:txBody>
      </p:sp>
      <p:sp>
        <p:nvSpPr>
          <p:cNvPr id="21" name="">
            <a:extLst xmlns:a="http://schemas.openxmlformats.org/drawingml/2006/main">
              <a:ext uri="{FF2B5EF4-FFF2-40B4-BE49-F238E27FC236}">
                <a16:creationId xmlns:a16="http://schemas.microsoft.com/office/drawing/2014/main" id="{24B00AC8-EAC4-499E-B52A-26B7146B9AA7}"/>
              </a:ext>
            </a:extLst>
          </p:cNvPr>
          <p:cNvSpPr>
            <a:spLocks xmlns:a="http://schemas.openxmlformats.org/drawingml/2006/main" noGrp="1"/>
          </p:cNvSpPr>
          <p:nvPr/>
        </p:nvSpPr>
        <p:spPr>
          <a:xfrm xmlns:a="http://schemas.openxmlformats.org/drawingml/2006/main">
            <a:off x="72104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E89A2F"/>
                </a:solidFill>
                <a:latin typeface="Arial"/>
                <a:ea typeface="Arial"/>
                <a:cs typeface="Arial"/>
              </a:defRPr>
            </a:pPr>
            <a:r>
              <a:rPr sz="1200" b="1" i="0">
                <a:solidFill>
                  <a:srgbClr val="E89A2F"/>
                </a:solidFill>
                <a:latin typeface="Arial"/>
                <a:ea typeface="Arial"/>
                <a:cs typeface="Arial"/>
              </a:rPr>
              <a:t>scan → find → pick</a:t>
            </a:r>
          </a:p>
        </p:txBody>
      </p:sp>
      <p:sp>
        <p:nvSpPr>
          <p:cNvPr id="22" name="">
            <a:extLst xmlns:a="http://schemas.openxmlformats.org/drawingml/2006/main">
              <a:ext uri="{FF2B5EF4-FFF2-40B4-BE49-F238E27FC236}">
                <a16:creationId xmlns:a16="http://schemas.microsoft.com/office/drawing/2014/main" id="{064B7F9C-802A-4903-9EC2-36944A827809}"/>
              </a:ext>
            </a:extLst>
          </p:cNvPr>
          <p:cNvSpPr>
            <a:spLocks xmlns:a="http://schemas.openxmlformats.org/drawingml/2006/main" noGrp="1"/>
          </p:cNvSpPr>
          <p:nvPr/>
        </p:nvSpPr>
        <p:spPr>
          <a:xfrm xmlns:a="http://schemas.openxmlformats.org/drawingml/2006/main">
            <a:off x="88582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FD66610-FE7D-4F6C-A10D-25E7D1A09A8A}"/>
              </a:ext>
            </a:extLst>
          </p:cNvPr>
          <p:cNvSpPr>
            <a:spLocks xmlns:a="http://schemas.openxmlformats.org/drawingml/2006/main" noGrp="1"/>
          </p:cNvSpPr>
          <p:nvPr/>
        </p:nvSpPr>
        <p:spPr>
          <a:xfrm xmlns:a="http://schemas.openxmlformats.org/drawingml/2006/main">
            <a:off x="92297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24" name="">
            <a:extLst xmlns:a="http://schemas.openxmlformats.org/drawingml/2006/main">
              <a:ext uri="{FF2B5EF4-FFF2-40B4-BE49-F238E27FC236}">
                <a16:creationId xmlns:a16="http://schemas.microsoft.com/office/drawing/2014/main" id="{6571A04F-2618-4CFA-8212-E05C7EE33AA2}"/>
              </a:ext>
            </a:extLst>
          </p:cNvPr>
          <p:cNvSpPr>
            <a:spLocks xmlns:a="http://schemas.openxmlformats.org/drawingml/2006/main" noGrp="1"/>
          </p:cNvSpPr>
          <p:nvPr/>
        </p:nvSpPr>
        <p:spPr>
          <a:xfrm xmlns:a="http://schemas.openxmlformats.org/drawingml/2006/main">
            <a:off x="93630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report</a:t>
            </a:r>
          </a:p>
        </p:txBody>
      </p:sp>
      <p:sp>
        <p:nvSpPr>
          <p:cNvPr id="25" name="">
            <a:extLst xmlns:a="http://schemas.openxmlformats.org/drawingml/2006/main">
              <a:ext uri="{FF2B5EF4-FFF2-40B4-BE49-F238E27FC236}">
                <a16:creationId xmlns:a16="http://schemas.microsoft.com/office/drawing/2014/main" id="{9118B760-CF30-49EE-A1A0-84F62F88322E}"/>
              </a:ext>
            </a:extLst>
          </p:cNvPr>
          <p:cNvSpPr>
            <a:spLocks xmlns:a="http://schemas.openxmlformats.org/drawingml/2006/main" noGrp="1"/>
          </p:cNvSpPr>
          <p:nvPr/>
        </p:nvSpPr>
        <p:spPr>
          <a:xfrm xmlns:a="http://schemas.openxmlformats.org/drawingml/2006/main">
            <a:off x="93630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completed</a:t>
            </a:r>
          </a:p>
        </p:txBody>
      </p:sp>
      <p:sp>
        <p:nvSpPr>
          <p:cNvPr id="26" name="">
            <a:extLst xmlns:a="http://schemas.openxmlformats.org/drawingml/2006/main">
              <a:ext uri="{FF2B5EF4-FFF2-40B4-BE49-F238E27FC236}">
                <a16:creationId xmlns:a16="http://schemas.microsoft.com/office/drawing/2014/main" id="{F70B9B19-4A2F-4724-ABB7-4E97C66C985B}"/>
              </a:ext>
            </a:extLst>
          </p:cNvPr>
          <p:cNvSpPr>
            <a:spLocks xmlns:a="http://schemas.openxmlformats.org/drawingml/2006/main" noGrp="1"/>
          </p:cNvSpPr>
          <p:nvPr/>
        </p:nvSpPr>
        <p:spPr>
          <a:xfrm xmlns:a="http://schemas.openxmlformats.org/drawingml/2006/main">
            <a:off x="1143000" y="4429125"/>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The model did not directly retry the robot. It proposed plan version 2 after receiving structured failure evidence.</a:t>
            </a:r>
          </a:p>
        </p:txBody>
      </p:sp>
      <p:sp>
        <p:nvSpPr>
          <p:cNvPr id="27" name="">
            <a:extLst xmlns:a="http://schemas.openxmlformats.org/drawingml/2006/main">
              <a:ext uri="{FF2B5EF4-FFF2-40B4-BE49-F238E27FC236}">
                <a16:creationId xmlns:a16="http://schemas.microsoft.com/office/drawing/2014/main" id="{BC88D947-D8D7-46B4-80A0-2BE4A845B71A}"/>
              </a:ext>
            </a:extLst>
          </p:cNvPr>
          <p:cNvSpPr>
            <a:spLocks xmlns:a="http://schemas.openxmlformats.org/drawingml/2006/main" noGrp="1"/>
          </p:cNvSpPr>
          <p:nvPr/>
        </p:nvSpPr>
        <p:spPr>
          <a:xfrm xmlns:a="http://schemas.openxmlformats.org/drawingml/2006/main">
            <a:off x="1524000" y="5143500"/>
            <a:ext cx="8572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C2D5C82A-C4B3-40A4-B985-CE50163F4C30}"/>
              </a:ext>
            </a:extLst>
          </p:cNvPr>
          <p:cNvSpPr>
            <a:spLocks xmlns:a="http://schemas.openxmlformats.org/drawingml/2006/main" noGrp="1"/>
          </p:cNvSpPr>
          <p:nvPr/>
        </p:nvSpPr>
        <p:spPr>
          <a:xfrm xmlns:a="http://schemas.openxmlformats.org/drawingml/2006/main">
            <a:off x="1524000" y="5143500"/>
            <a:ext cx="57150" cy="952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29" name="">
            <a:extLst xmlns:a="http://schemas.openxmlformats.org/drawingml/2006/main">
              <a:ext uri="{FF2B5EF4-FFF2-40B4-BE49-F238E27FC236}">
                <a16:creationId xmlns:a16="http://schemas.microsoft.com/office/drawing/2014/main" id="{BCFB5454-6991-47D0-BEF2-1857ACC32CBF}"/>
              </a:ext>
            </a:extLst>
          </p:cNvPr>
          <p:cNvSpPr>
            <a:spLocks xmlns:a="http://schemas.openxmlformats.org/drawingml/2006/main" noGrp="1"/>
          </p:cNvSpPr>
          <p:nvPr/>
        </p:nvSpPr>
        <p:spPr>
          <a:xfrm xmlns:a="http://schemas.openxmlformats.org/drawingml/2006/main">
            <a:off x="1733550" y="5314950"/>
            <a:ext cx="815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Why this trace matters</a:t>
            </a:r>
          </a:p>
        </p:txBody>
      </p:sp>
      <p:sp>
        <p:nvSpPr>
          <p:cNvPr id="30" name="">
            <a:extLst xmlns:a="http://schemas.openxmlformats.org/drawingml/2006/main">
              <a:ext uri="{FF2B5EF4-FFF2-40B4-BE49-F238E27FC236}">
                <a16:creationId xmlns:a16="http://schemas.microsoft.com/office/drawing/2014/main" id="{4D408058-74C8-4414-BF7A-D27B31997364}"/>
              </a:ext>
            </a:extLst>
          </p:cNvPr>
          <p:cNvSpPr>
            <a:spLocks xmlns:a="http://schemas.openxmlformats.org/drawingml/2006/main" noGrp="1"/>
          </p:cNvSpPr>
          <p:nvPr/>
        </p:nvSpPr>
        <p:spPr>
          <a:xfrm xmlns:a="http://schemas.openxmlformats.org/drawingml/2006/main">
            <a:off x="1733550" y="5505450"/>
            <a:ext cx="815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It demonstrates middle-stage recovery, retained lineage, and a truthful closure. Beginning-stage navigation recovery was also retained; terminal recovery remained less reliable.</a:t>
            </a:r>
          </a:p>
        </p:txBody>
      </p:sp>
    </p:spTree>
    <p:extLst>
      <p:ext uri="{BB962C8B-B14F-4D97-AF65-F5344CB8AC3E}">
        <p14:creationId xmlns:p14="http://schemas.microsoft.com/office/powerpoint/2010/main" val="109528359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4B5E39-4ABB-4CCE-9302-63735FA37B0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A514A75-E0C5-4049-9AB2-F55EE4A5F19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64D8A0A4-A1B6-484A-99F1-2BC9D9A6385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C83232D9-DC6F-46B5-A47F-D2F9AC111BE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5B79BE4E-3A9C-4912-A40C-C87294358CC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CONTROLLED LIVE DEMONSTRATION</a:t>
            </a:r>
          </a:p>
        </p:txBody>
      </p:sp>
      <p:sp>
        <p:nvSpPr>
          <p:cNvPr id="6" name="">
            <a:extLst xmlns:a="http://schemas.openxmlformats.org/drawingml/2006/main">
              <a:ext uri="{FF2B5EF4-FFF2-40B4-BE49-F238E27FC236}">
                <a16:creationId xmlns:a16="http://schemas.microsoft.com/office/drawing/2014/main" id="{AB07F6E5-25FC-462E-A692-CAFC98FD7B7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Three short turns expose dialogue, knowledge, and execution routing.</a:t>
            </a:r>
          </a:p>
        </p:txBody>
      </p:sp>
      <p:sp>
        <p:nvSpPr>
          <p:cNvPr id="7" name="">
            <a:extLst xmlns:a="http://schemas.openxmlformats.org/drawingml/2006/main">
              <a:ext uri="{FF2B5EF4-FFF2-40B4-BE49-F238E27FC236}">
                <a16:creationId xmlns:a16="http://schemas.microsoft.com/office/drawing/2014/main" id="{B6565582-EE84-427D-ACD3-EF5BC9C5ED47}"/>
              </a:ext>
            </a:extLst>
          </p:cNvPr>
          <p:cNvSpPr>
            <a:spLocks xmlns:a="http://schemas.openxmlformats.org/drawingml/2006/main" noGrp="1"/>
          </p:cNvSpPr>
          <p:nvPr/>
        </p:nvSpPr>
        <p:spPr>
          <a:xfrm xmlns:a="http://schemas.openxmlformats.org/drawingml/2006/main">
            <a:off x="685800" y="20478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F5BF8397-12C7-4495-9014-7164E73C1042}"/>
              </a:ext>
            </a:extLst>
          </p:cNvPr>
          <p:cNvSpPr>
            <a:spLocks xmlns:a="http://schemas.openxmlformats.org/drawingml/2006/main" noGrp="1"/>
          </p:cNvSpPr>
          <p:nvPr/>
        </p:nvSpPr>
        <p:spPr>
          <a:xfrm xmlns:a="http://schemas.openxmlformats.org/drawingml/2006/main">
            <a:off x="819150" y="22193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0C6570"/>
                </a:solidFill>
                <a:latin typeface="Georgia"/>
                <a:ea typeface="Georgia"/>
                <a:cs typeface="Georgia"/>
              </a:defRPr>
            </a:pPr>
            <a:r>
              <a:rPr sz="240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1F842DE0-23E4-41C8-BF12-55F2A2F13159}"/>
              </a:ext>
            </a:extLst>
          </p:cNvPr>
          <p:cNvSpPr>
            <a:spLocks xmlns:a="http://schemas.openxmlformats.org/drawingml/2006/main" noGrp="1"/>
          </p:cNvSpPr>
          <p:nvPr/>
        </p:nvSpPr>
        <p:spPr>
          <a:xfrm xmlns:a="http://schemas.openxmlformats.org/drawingml/2006/main">
            <a:off x="838200" y="28670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641F5A0-5C65-4546-A0B9-07A8B057EDA4}"/>
              </a:ext>
            </a:extLst>
          </p:cNvPr>
          <p:cNvSpPr>
            <a:spLocks xmlns:a="http://schemas.openxmlformats.org/drawingml/2006/main" noGrp="1"/>
          </p:cNvSpPr>
          <p:nvPr/>
        </p:nvSpPr>
        <p:spPr>
          <a:xfrm xmlns:a="http://schemas.openxmlformats.org/drawingml/2006/main" flipH="0" flipV="1">
            <a:off x="857250" y="28670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B5A0012-CDE0-4239-9020-CF9FD3AF6186}"/>
              </a:ext>
            </a:extLst>
          </p:cNvPr>
          <p:cNvSpPr>
            <a:spLocks xmlns:a="http://schemas.openxmlformats.org/drawingml/2006/main" noGrp="1"/>
          </p:cNvSpPr>
          <p:nvPr/>
        </p:nvSpPr>
        <p:spPr>
          <a:xfrm xmlns:a="http://schemas.openxmlformats.org/drawingml/2006/main">
            <a:off x="190500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“Hey, how are you?”</a:t>
            </a:r>
          </a:p>
        </p:txBody>
      </p:sp>
      <p:sp>
        <p:nvSpPr>
          <p:cNvPr id="12" name="">
            <a:extLst xmlns:a="http://schemas.openxmlformats.org/drawingml/2006/main">
              <a:ext uri="{FF2B5EF4-FFF2-40B4-BE49-F238E27FC236}">
                <a16:creationId xmlns:a16="http://schemas.microsoft.com/office/drawing/2014/main" id="{7D43063A-8BA2-4FE7-9B2A-15A01C6E1B78}"/>
              </a:ext>
            </a:extLst>
          </p:cNvPr>
          <p:cNvSpPr>
            <a:spLocks xmlns:a="http://schemas.openxmlformats.org/drawingml/2006/main" noGrp="1"/>
          </p:cNvSpPr>
          <p:nvPr/>
        </p:nvSpPr>
        <p:spPr>
          <a:xfrm xmlns:a="http://schemas.openxmlformats.org/drawingml/2006/main">
            <a:off x="6762750" y="210502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7B109CD9-97D6-40E8-AC51-57AD2FB3884A}"/>
              </a:ext>
            </a:extLst>
          </p:cNvPr>
          <p:cNvSpPr>
            <a:spLocks xmlns:a="http://schemas.openxmlformats.org/drawingml/2006/main" noGrp="1"/>
          </p:cNvSpPr>
          <p:nvPr/>
        </p:nvSpPr>
        <p:spPr>
          <a:xfrm xmlns:a="http://schemas.openxmlformats.org/drawingml/2006/main">
            <a:off x="6838950" y="21717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Dialogue route</a:t>
            </a:r>
          </a:p>
        </p:txBody>
      </p:sp>
      <p:sp>
        <p:nvSpPr>
          <p:cNvPr id="14" name="">
            <a:extLst xmlns:a="http://schemas.openxmlformats.org/drawingml/2006/main">
              <a:ext uri="{FF2B5EF4-FFF2-40B4-BE49-F238E27FC236}">
                <a16:creationId xmlns:a16="http://schemas.microsoft.com/office/drawing/2014/main" id="{98EA2E18-B000-4090-8DD5-F9C7BA1E910C}"/>
              </a:ext>
            </a:extLst>
          </p:cNvPr>
          <p:cNvSpPr>
            <a:spLocks xmlns:a="http://schemas.openxmlformats.org/drawingml/2006/main" noGrp="1"/>
          </p:cNvSpPr>
          <p:nvPr/>
        </p:nvSpPr>
        <p:spPr>
          <a:xfrm xmlns:a="http://schemas.openxmlformats.org/drawingml/2006/main">
            <a:off x="1905000" y="2571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one response, no planner request</a:t>
            </a:r>
          </a:p>
        </p:txBody>
      </p:sp>
      <p:sp>
        <p:nvSpPr>
          <p:cNvPr id="15" name="">
            <a:extLst xmlns:a="http://schemas.openxmlformats.org/drawingml/2006/main">
              <a:ext uri="{FF2B5EF4-FFF2-40B4-BE49-F238E27FC236}">
                <a16:creationId xmlns:a16="http://schemas.microsoft.com/office/drawing/2014/main" id="{61F53AA0-580E-43A1-A83B-4F3605C2FEBB}"/>
              </a:ext>
            </a:extLst>
          </p:cNvPr>
          <p:cNvSpPr>
            <a:spLocks xmlns:a="http://schemas.openxmlformats.org/drawingml/2006/main" noGrp="1"/>
          </p:cNvSpPr>
          <p:nvPr/>
        </p:nvSpPr>
        <p:spPr>
          <a:xfrm xmlns:a="http://schemas.openxmlformats.org/drawingml/2006/main">
            <a:off x="1905000" y="30480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9912706F-7AEA-4739-86F3-FAAB8DD2AC64}"/>
              </a:ext>
            </a:extLst>
          </p:cNvPr>
          <p:cNvSpPr>
            <a:spLocks xmlns:a="http://schemas.openxmlformats.org/drawingml/2006/main" noGrp="1"/>
          </p:cNvSpPr>
          <p:nvPr/>
        </p:nvSpPr>
        <p:spPr>
          <a:xfrm xmlns:a="http://schemas.openxmlformats.org/drawingml/2006/main">
            <a:off x="685800" y="328612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ECA7366C-A97F-4F28-BC00-512C5AE8A214}"/>
              </a:ext>
            </a:extLst>
          </p:cNvPr>
          <p:cNvSpPr>
            <a:spLocks xmlns:a="http://schemas.openxmlformats.org/drawingml/2006/main" noGrp="1"/>
          </p:cNvSpPr>
          <p:nvPr/>
        </p:nvSpPr>
        <p:spPr>
          <a:xfrm xmlns:a="http://schemas.openxmlformats.org/drawingml/2006/main">
            <a:off x="819150" y="345757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477A59"/>
                </a:solidFill>
                <a:latin typeface="Georgia"/>
                <a:ea typeface="Georgia"/>
                <a:cs typeface="Georgia"/>
              </a:defRPr>
            </a:pPr>
            <a:r>
              <a:rPr sz="2400" b="1" i="0">
                <a:solidFill>
                  <a:srgbClr val="477A59"/>
                </a:solidFill>
                <a:latin typeface="Georgia"/>
                <a:ea typeface="Georgia"/>
                <a:cs typeface="Georgia"/>
              </a:rPr>
              <a:t>02</a:t>
            </a:r>
          </a:p>
        </p:txBody>
      </p:sp>
      <p:sp>
        <p:nvSpPr>
          <p:cNvPr id="18" name="">
            <a:extLst xmlns:a="http://schemas.openxmlformats.org/drawingml/2006/main">
              <a:ext uri="{FF2B5EF4-FFF2-40B4-BE49-F238E27FC236}">
                <a16:creationId xmlns:a16="http://schemas.microsoft.com/office/drawing/2014/main" id="{839C4E0D-C0DF-4CA4-9E81-6E5947717E95}"/>
              </a:ext>
            </a:extLst>
          </p:cNvPr>
          <p:cNvSpPr>
            <a:spLocks xmlns:a="http://schemas.openxmlformats.org/drawingml/2006/main" noGrp="1"/>
          </p:cNvSpPr>
          <p:nvPr/>
        </p:nvSpPr>
        <p:spPr>
          <a:xfrm xmlns:a="http://schemas.openxmlformats.org/drawingml/2006/main">
            <a:off x="838200" y="410527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C9434110-EB06-45F3-920B-37517597278C}"/>
              </a:ext>
            </a:extLst>
          </p:cNvPr>
          <p:cNvSpPr>
            <a:spLocks xmlns:a="http://schemas.openxmlformats.org/drawingml/2006/main" noGrp="1"/>
          </p:cNvSpPr>
          <p:nvPr/>
        </p:nvSpPr>
        <p:spPr>
          <a:xfrm xmlns:a="http://schemas.openxmlformats.org/drawingml/2006/main" flipH="0" flipV="1">
            <a:off x="857250" y="410527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2AD4CA-C28D-43C1-BE55-9044F77D244C}"/>
              </a:ext>
            </a:extLst>
          </p:cNvPr>
          <p:cNvSpPr>
            <a:spLocks xmlns:a="http://schemas.openxmlformats.org/drawingml/2006/main" noGrp="1"/>
          </p:cNvSpPr>
          <p:nvPr/>
        </p:nvSpPr>
        <p:spPr>
          <a:xfrm xmlns:a="http://schemas.openxmlformats.org/drawingml/2006/main">
            <a:off x="1905000" y="3333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“What can you see now?”</a:t>
            </a:r>
          </a:p>
        </p:txBody>
      </p:sp>
      <p:sp>
        <p:nvSpPr>
          <p:cNvPr id="21" name="">
            <a:extLst xmlns:a="http://schemas.openxmlformats.org/drawingml/2006/main">
              <a:ext uri="{FF2B5EF4-FFF2-40B4-BE49-F238E27FC236}">
                <a16:creationId xmlns:a16="http://schemas.microsoft.com/office/drawing/2014/main" id="{E1980736-CB88-49D8-AFA1-7C6BEBCF6B75}"/>
              </a:ext>
            </a:extLst>
          </p:cNvPr>
          <p:cNvSpPr>
            <a:spLocks xmlns:a="http://schemas.openxmlformats.org/drawingml/2006/main" noGrp="1"/>
          </p:cNvSpPr>
          <p:nvPr/>
        </p:nvSpPr>
        <p:spPr>
          <a:xfrm xmlns:a="http://schemas.openxmlformats.org/drawingml/2006/main">
            <a:off x="6762750" y="334327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A29BF744-30B2-4BCE-9F93-1633DE9D496A}"/>
              </a:ext>
            </a:extLst>
          </p:cNvPr>
          <p:cNvSpPr>
            <a:spLocks xmlns:a="http://schemas.openxmlformats.org/drawingml/2006/main" noGrp="1"/>
          </p:cNvSpPr>
          <p:nvPr/>
        </p:nvSpPr>
        <p:spPr>
          <a:xfrm xmlns:a="http://schemas.openxmlformats.org/drawingml/2006/main">
            <a:off x="6838950" y="34099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Knowledge route</a:t>
            </a:r>
          </a:p>
        </p:txBody>
      </p:sp>
      <p:sp>
        <p:nvSpPr>
          <p:cNvPr id="23" name="">
            <a:extLst xmlns:a="http://schemas.openxmlformats.org/drawingml/2006/main">
              <a:ext uri="{FF2B5EF4-FFF2-40B4-BE49-F238E27FC236}">
                <a16:creationId xmlns:a16="http://schemas.microsoft.com/office/drawing/2014/main" id="{A35BFD58-B8EB-4CCC-A796-D45A0CB2D8B4}"/>
              </a:ext>
            </a:extLst>
          </p:cNvPr>
          <p:cNvSpPr>
            <a:spLocks xmlns:a="http://schemas.openxmlformats.org/drawingml/2006/main" noGrp="1"/>
          </p:cNvSpPr>
          <p:nvPr/>
        </p:nvSpPr>
        <p:spPr>
          <a:xfrm xmlns:a="http://schemas.openxmlformats.org/drawingml/2006/main">
            <a:off x="1905000" y="3810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answer from the declared symbolic state</a:t>
            </a:r>
          </a:p>
        </p:txBody>
      </p:sp>
      <p:sp>
        <p:nvSpPr>
          <p:cNvPr id="24" name="">
            <a:extLst xmlns:a="http://schemas.openxmlformats.org/drawingml/2006/main">
              <a:ext uri="{FF2B5EF4-FFF2-40B4-BE49-F238E27FC236}">
                <a16:creationId xmlns:a16="http://schemas.microsoft.com/office/drawing/2014/main" id="{313F5C51-67D1-4202-878D-173B46C8981A}"/>
              </a:ext>
            </a:extLst>
          </p:cNvPr>
          <p:cNvSpPr>
            <a:spLocks xmlns:a="http://schemas.openxmlformats.org/drawingml/2006/main" noGrp="1"/>
          </p:cNvSpPr>
          <p:nvPr/>
        </p:nvSpPr>
        <p:spPr>
          <a:xfrm xmlns:a="http://schemas.openxmlformats.org/drawingml/2006/main">
            <a:off x="1905000" y="428625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5" name="">
            <a:extLst xmlns:a="http://schemas.openxmlformats.org/drawingml/2006/main">
              <a:ext uri="{FF2B5EF4-FFF2-40B4-BE49-F238E27FC236}">
                <a16:creationId xmlns:a16="http://schemas.microsoft.com/office/drawing/2014/main" id="{FEF96972-FAFA-482F-86D2-574D11E093B0}"/>
              </a:ext>
            </a:extLst>
          </p:cNvPr>
          <p:cNvSpPr>
            <a:spLocks xmlns:a="http://schemas.openxmlformats.org/drawingml/2006/main" noGrp="1"/>
          </p:cNvSpPr>
          <p:nvPr/>
        </p:nvSpPr>
        <p:spPr>
          <a:xfrm xmlns:a="http://schemas.openxmlformats.org/drawingml/2006/main">
            <a:off x="685800" y="45243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63715329-2F66-4EF7-AB73-7076E80C8F82}"/>
              </a:ext>
            </a:extLst>
          </p:cNvPr>
          <p:cNvSpPr>
            <a:spLocks xmlns:a="http://schemas.openxmlformats.org/drawingml/2006/main" noGrp="1"/>
          </p:cNvSpPr>
          <p:nvPr/>
        </p:nvSpPr>
        <p:spPr>
          <a:xfrm xmlns:a="http://schemas.openxmlformats.org/drawingml/2006/main">
            <a:off x="819150" y="46958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E89A2F"/>
                </a:solidFill>
                <a:latin typeface="Georgia"/>
                <a:ea typeface="Georgia"/>
                <a:cs typeface="Georgia"/>
              </a:defRPr>
            </a:pPr>
            <a:r>
              <a:rPr sz="2400" b="1" i="0">
                <a:solidFill>
                  <a:srgbClr val="E89A2F"/>
                </a:solidFill>
                <a:latin typeface="Georgia"/>
                <a:ea typeface="Georgia"/>
                <a:cs typeface="Georgia"/>
              </a:rPr>
              <a:t>03</a:t>
            </a:r>
          </a:p>
        </p:txBody>
      </p:sp>
      <p:sp>
        <p:nvSpPr>
          <p:cNvPr id="27" name="">
            <a:extLst xmlns:a="http://schemas.openxmlformats.org/drawingml/2006/main">
              <a:ext uri="{FF2B5EF4-FFF2-40B4-BE49-F238E27FC236}">
                <a16:creationId xmlns:a16="http://schemas.microsoft.com/office/drawing/2014/main" id="{1C226C43-A092-47E9-88AD-87B1608630AF}"/>
              </a:ext>
            </a:extLst>
          </p:cNvPr>
          <p:cNvSpPr>
            <a:spLocks xmlns:a="http://schemas.openxmlformats.org/drawingml/2006/main" noGrp="1"/>
          </p:cNvSpPr>
          <p:nvPr/>
        </p:nvSpPr>
        <p:spPr>
          <a:xfrm xmlns:a="http://schemas.openxmlformats.org/drawingml/2006/main">
            <a:off x="838200" y="53435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CB89AC80-8D2E-440C-A0C7-FFD2833BF021}"/>
              </a:ext>
            </a:extLst>
          </p:cNvPr>
          <p:cNvSpPr>
            <a:spLocks xmlns:a="http://schemas.openxmlformats.org/drawingml/2006/main" noGrp="1"/>
          </p:cNvSpPr>
          <p:nvPr/>
        </p:nvSpPr>
        <p:spPr>
          <a:xfrm xmlns:a="http://schemas.openxmlformats.org/drawingml/2006/main" flipH="0" flipV="1">
            <a:off x="857250" y="53435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72306EB-0754-43E3-B548-9A67D28E66BD}"/>
              </a:ext>
            </a:extLst>
          </p:cNvPr>
          <p:cNvSpPr>
            <a:spLocks xmlns:a="http://schemas.openxmlformats.org/drawingml/2006/main" noGrp="1"/>
          </p:cNvSpPr>
          <p:nvPr/>
        </p:nvSpPr>
        <p:spPr>
          <a:xfrm xmlns:a="http://schemas.openxmlformats.org/drawingml/2006/main">
            <a:off x="1905000" y="45720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“Move your head up.”</a:t>
            </a:r>
          </a:p>
        </p:txBody>
      </p:sp>
      <p:sp>
        <p:nvSpPr>
          <p:cNvPr id="30" name="">
            <a:extLst xmlns:a="http://schemas.openxmlformats.org/drawingml/2006/main">
              <a:ext uri="{FF2B5EF4-FFF2-40B4-BE49-F238E27FC236}">
                <a16:creationId xmlns:a16="http://schemas.microsoft.com/office/drawing/2014/main" id="{FB1618D6-983A-4B1A-9917-95BB547D3051}"/>
              </a:ext>
            </a:extLst>
          </p:cNvPr>
          <p:cNvSpPr>
            <a:spLocks xmlns:a="http://schemas.openxmlformats.org/drawingml/2006/main" noGrp="1"/>
          </p:cNvSpPr>
          <p:nvPr/>
        </p:nvSpPr>
        <p:spPr>
          <a:xfrm xmlns:a="http://schemas.openxmlformats.org/drawingml/2006/main">
            <a:off x="6762750" y="4581525"/>
            <a:ext cx="171450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31" name="">
            <a:extLst xmlns:a="http://schemas.openxmlformats.org/drawingml/2006/main">
              <a:ext uri="{FF2B5EF4-FFF2-40B4-BE49-F238E27FC236}">
                <a16:creationId xmlns:a16="http://schemas.microsoft.com/office/drawing/2014/main" id="{A87D9D2B-D9B8-4367-AB32-890329DC8350}"/>
              </a:ext>
            </a:extLst>
          </p:cNvPr>
          <p:cNvSpPr>
            <a:spLocks xmlns:a="http://schemas.openxmlformats.org/drawingml/2006/main" noGrp="1"/>
          </p:cNvSpPr>
          <p:nvPr/>
        </p:nvSpPr>
        <p:spPr>
          <a:xfrm xmlns:a="http://schemas.openxmlformats.org/drawingml/2006/main">
            <a:off x="6838950" y="4648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Execution route</a:t>
            </a:r>
          </a:p>
        </p:txBody>
      </p:sp>
      <p:sp>
        <p:nvSpPr>
          <p:cNvPr id="32" name="">
            <a:extLst xmlns:a="http://schemas.openxmlformats.org/drawingml/2006/main">
              <a:ext uri="{FF2B5EF4-FFF2-40B4-BE49-F238E27FC236}">
                <a16:creationId xmlns:a16="http://schemas.microsoft.com/office/drawing/2014/main" id="{4EFC9BB8-694A-4AD1-8286-DCA9A11FEB68}"/>
              </a:ext>
            </a:extLst>
          </p:cNvPr>
          <p:cNvSpPr>
            <a:spLocks xmlns:a="http://schemas.openxmlformats.org/drawingml/2006/main" noGrp="1"/>
          </p:cNvSpPr>
          <p:nvPr/>
        </p:nvSpPr>
        <p:spPr>
          <a:xfrm xmlns:a="http://schemas.openxmlformats.org/drawingml/2006/main">
            <a:off x="1905000" y="5048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accepted plan, one skill result, one closure</a:t>
            </a:r>
          </a:p>
        </p:txBody>
      </p:sp>
      <p:sp>
        <p:nvSpPr>
          <p:cNvPr id="33" name="">
            <a:extLst xmlns:a="http://schemas.openxmlformats.org/drawingml/2006/main">
              <a:ext uri="{FF2B5EF4-FFF2-40B4-BE49-F238E27FC236}">
                <a16:creationId xmlns:a16="http://schemas.microsoft.com/office/drawing/2014/main" id="{3E6F81B6-95DF-48A9-94CA-65D50D40D5A5}"/>
              </a:ext>
            </a:extLst>
          </p:cNvPr>
          <p:cNvSpPr>
            <a:spLocks xmlns:a="http://schemas.openxmlformats.org/drawingml/2006/main" noGrp="1"/>
          </p:cNvSpPr>
          <p:nvPr/>
        </p:nvSpPr>
        <p:spPr>
          <a:xfrm xmlns:a="http://schemas.openxmlformats.org/drawingml/2006/main">
            <a:off x="1905000" y="55245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4" name="">
            <a:extLst xmlns:a="http://schemas.openxmlformats.org/drawingml/2006/main">
              <a:ext uri="{FF2B5EF4-FFF2-40B4-BE49-F238E27FC236}">
                <a16:creationId xmlns:a16="http://schemas.microsoft.com/office/drawing/2014/main" id="{251AA7D1-4831-4F42-823C-37D1851B8B83}"/>
              </a:ext>
            </a:extLst>
          </p:cNvPr>
          <p:cNvSpPr>
            <a:spLocks xmlns:a="http://schemas.openxmlformats.org/drawingml/2006/main" noGrp="1"/>
          </p:cNvSpPr>
          <p:nvPr/>
        </p:nvSpPr>
        <p:spPr>
          <a:xfrm xmlns:a="http://schemas.openxmlformats.org/drawingml/2006/main">
            <a:off x="1524000" y="59531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A33B32"/>
                </a:solidFill>
                <a:latin typeface="Arial"/>
                <a:ea typeface="Arial"/>
                <a:cs typeface="Arial"/>
              </a:defRPr>
            </a:pPr>
            <a:r>
              <a:rPr sz="1650" b="1" i="0">
                <a:solidFill>
                  <a:srgbClr val="A33B32"/>
                </a:solidFill>
                <a:latin typeface="Arial"/>
                <a:ea typeface="Arial"/>
                <a:cs typeface="Arial"/>
              </a:rPr>
              <a:t>The demonstration illustrates the architecture. The frozen traces remain the scored evidence.</a:t>
            </a:r>
          </a:p>
        </p:txBody>
      </p:sp>
    </p:spTree>
    <p:extLst>
      <p:ext uri="{BB962C8B-B14F-4D97-AF65-F5344CB8AC3E}">
        <p14:creationId xmlns:p14="http://schemas.microsoft.com/office/powerpoint/2010/main" val="1795381869"/>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F0AB593-C2A7-4381-B71A-ADB61A93073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B3A6C75-6167-4364-9726-C9BF04B4366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B166746-4FE3-4FEF-B98B-B2BD676C53C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B</a:t>
            </a:r>
          </a:p>
        </p:txBody>
      </p:sp>
      <p:sp>
        <p:nvSpPr>
          <p:cNvPr id="4" name="">
            <a:extLst xmlns:a="http://schemas.openxmlformats.org/drawingml/2006/main">
              <a:ext uri="{FF2B5EF4-FFF2-40B4-BE49-F238E27FC236}">
                <a16:creationId xmlns:a16="http://schemas.microsoft.com/office/drawing/2014/main" id="{E8659BA5-DAA7-4BE9-ADE4-2DDA60AD9557}"/>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567274CC-FEDE-4706-A955-F32A3B201DB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5F785C70-3DF1-4471-96CE-F55DA21BD2B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Research-question synthesis</a:t>
            </a:r>
          </a:p>
        </p:txBody>
      </p:sp>
      <p:sp>
        <p:nvSpPr>
          <p:cNvPr id="7" name="">
            <a:extLst xmlns:a="http://schemas.openxmlformats.org/drawingml/2006/main">
              <a:ext uri="{FF2B5EF4-FFF2-40B4-BE49-F238E27FC236}">
                <a16:creationId xmlns:a16="http://schemas.microsoft.com/office/drawing/2014/main" id="{5137C0D0-23BF-4632-8090-861FE17A1E9C}"/>
              </a:ext>
            </a:extLst>
          </p:cNvPr>
          <p:cNvSpPr>
            <a:spLocks xmlns:a="http://schemas.openxmlformats.org/drawingml/2006/main" noGrp="1"/>
          </p:cNvSpPr>
          <p:nvPr/>
        </p:nvSpPr>
        <p:spPr>
          <a:xfrm xmlns:a="http://schemas.openxmlformats.org/drawingml/2006/main">
            <a:off x="685800" y="1885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8" name="">
            <a:extLst xmlns:a="http://schemas.openxmlformats.org/drawingml/2006/main">
              <a:ext uri="{FF2B5EF4-FFF2-40B4-BE49-F238E27FC236}">
                <a16:creationId xmlns:a16="http://schemas.microsoft.com/office/drawing/2014/main" id="{B976AC7F-D632-4D03-BA98-61E969F97115}"/>
              </a:ext>
            </a:extLst>
          </p:cNvPr>
          <p:cNvSpPr>
            <a:spLocks xmlns:a="http://schemas.openxmlformats.org/drawingml/2006/main" noGrp="1"/>
          </p:cNvSpPr>
          <p:nvPr/>
        </p:nvSpPr>
        <p:spPr>
          <a:xfrm xmlns:a="http://schemas.openxmlformats.org/drawingml/2006/main">
            <a:off x="762000" y="1952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a:t>
            </a:r>
          </a:p>
        </p:txBody>
      </p:sp>
      <p:sp>
        <p:nvSpPr>
          <p:cNvPr id="9" name="">
            <a:extLst xmlns:a="http://schemas.openxmlformats.org/drawingml/2006/main">
              <a:ext uri="{FF2B5EF4-FFF2-40B4-BE49-F238E27FC236}">
                <a16:creationId xmlns:a16="http://schemas.microsoft.com/office/drawing/2014/main" id="{FCE2BCBC-474A-4A3C-80D3-E1ACCC5C682F}"/>
              </a:ext>
            </a:extLst>
          </p:cNvPr>
          <p:cNvSpPr>
            <a:spLocks xmlns:a="http://schemas.openxmlformats.org/drawingml/2006/main" noGrp="1"/>
          </p:cNvSpPr>
          <p:nvPr/>
        </p:nvSpPr>
        <p:spPr>
          <a:xfrm xmlns:a="http://schemas.openxmlformats.org/drawingml/2006/main">
            <a:off x="1809750" y="1838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Supported for tested task families</a:t>
            </a:r>
          </a:p>
        </p:txBody>
      </p:sp>
      <p:sp>
        <p:nvSpPr>
          <p:cNvPr id="10" name="">
            <a:extLst xmlns:a="http://schemas.openxmlformats.org/drawingml/2006/main">
              <a:ext uri="{FF2B5EF4-FFF2-40B4-BE49-F238E27FC236}">
                <a16:creationId xmlns:a16="http://schemas.microsoft.com/office/drawing/2014/main" id="{77073141-FE1F-4BEF-89D7-1593BC135C11}"/>
              </a:ext>
            </a:extLst>
          </p:cNvPr>
          <p:cNvSpPr>
            <a:spLocks xmlns:a="http://schemas.openxmlformats.org/drawingml/2006/main" noGrp="1"/>
          </p:cNvSpPr>
          <p:nvPr/>
        </p:nvSpPr>
        <p:spPr>
          <a:xfrm xmlns:a="http://schemas.openxmlformats.org/drawingml/2006/main">
            <a:off x="6191250" y="1838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One questionnaire composite and two extreme cases failed</a:t>
            </a:r>
          </a:p>
        </p:txBody>
      </p:sp>
      <p:sp>
        <p:nvSpPr>
          <p:cNvPr id="11" name="">
            <a:extLst xmlns:a="http://schemas.openxmlformats.org/drawingml/2006/main">
              <a:ext uri="{FF2B5EF4-FFF2-40B4-BE49-F238E27FC236}">
                <a16:creationId xmlns:a16="http://schemas.microsoft.com/office/drawing/2014/main" id="{6CA5926F-33BC-40EA-9798-2D103AE88400}"/>
              </a:ext>
            </a:extLst>
          </p:cNvPr>
          <p:cNvSpPr>
            <a:spLocks xmlns:a="http://schemas.openxmlformats.org/drawingml/2006/main" noGrp="1"/>
          </p:cNvSpPr>
          <p:nvPr/>
        </p:nvSpPr>
        <p:spPr>
          <a:xfrm xmlns:a="http://schemas.openxmlformats.org/drawingml/2006/main">
            <a:off x="1809750" y="2457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F5F87F-CA79-4212-81F4-50CF2CED858E}"/>
              </a:ext>
            </a:extLst>
          </p:cNvPr>
          <p:cNvSpPr>
            <a:spLocks xmlns:a="http://schemas.openxmlformats.org/drawingml/2006/main" noGrp="1"/>
          </p:cNvSpPr>
          <p:nvPr/>
        </p:nvSpPr>
        <p:spPr>
          <a:xfrm xmlns:a="http://schemas.openxmlformats.org/drawingml/2006/main">
            <a:off x="685800" y="27432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8259788A-236A-4850-8616-C0B592D668A3}"/>
              </a:ext>
            </a:extLst>
          </p:cNvPr>
          <p:cNvSpPr>
            <a:spLocks xmlns:a="http://schemas.openxmlformats.org/drawingml/2006/main" noGrp="1"/>
          </p:cNvSpPr>
          <p:nvPr/>
        </p:nvSpPr>
        <p:spPr>
          <a:xfrm xmlns:a="http://schemas.openxmlformats.org/drawingml/2006/main">
            <a:off x="762000" y="28098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a:t>
            </a:r>
          </a:p>
        </p:txBody>
      </p:sp>
      <p:sp>
        <p:nvSpPr>
          <p:cNvPr id="14" name="">
            <a:extLst xmlns:a="http://schemas.openxmlformats.org/drawingml/2006/main">
              <a:ext uri="{FF2B5EF4-FFF2-40B4-BE49-F238E27FC236}">
                <a16:creationId xmlns:a16="http://schemas.microsoft.com/office/drawing/2014/main" id="{44E383C7-DF2D-477F-AEF6-6BAA68C44C15}"/>
              </a:ext>
            </a:extLst>
          </p:cNvPr>
          <p:cNvSpPr>
            <a:spLocks xmlns:a="http://schemas.openxmlformats.org/drawingml/2006/main" noGrp="1"/>
          </p:cNvSpPr>
          <p:nvPr/>
        </p:nvSpPr>
        <p:spPr>
          <a:xfrm xmlns:a="http://schemas.openxmlformats.org/drawingml/2006/main">
            <a:off x="1809750" y="26955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Strong in controlled symbolic profiles</a:t>
            </a:r>
          </a:p>
        </p:txBody>
      </p:sp>
      <p:sp>
        <p:nvSpPr>
          <p:cNvPr id="15" name="">
            <a:extLst xmlns:a="http://schemas.openxmlformats.org/drawingml/2006/main">
              <a:ext uri="{FF2B5EF4-FFF2-40B4-BE49-F238E27FC236}">
                <a16:creationId xmlns:a16="http://schemas.microsoft.com/office/drawing/2014/main" id="{33A665D9-4DB5-4289-B53C-3C0C1A8D83CC}"/>
              </a:ext>
            </a:extLst>
          </p:cNvPr>
          <p:cNvSpPr>
            <a:spLocks xmlns:a="http://schemas.openxmlformats.org/drawingml/2006/main" noGrp="1"/>
          </p:cNvSpPr>
          <p:nvPr/>
        </p:nvSpPr>
        <p:spPr>
          <a:xfrm xmlns:a="http://schemas.openxmlformats.org/drawingml/2006/main">
            <a:off x="6191250" y="26955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Selection and role assignment remained model-sensitive</a:t>
            </a:r>
          </a:p>
        </p:txBody>
      </p:sp>
      <p:sp>
        <p:nvSpPr>
          <p:cNvPr id="16" name="">
            <a:extLst xmlns:a="http://schemas.openxmlformats.org/drawingml/2006/main">
              <a:ext uri="{FF2B5EF4-FFF2-40B4-BE49-F238E27FC236}">
                <a16:creationId xmlns:a16="http://schemas.microsoft.com/office/drawing/2014/main" id="{AE9B025B-321C-4EF2-B2C6-A83D25635370}"/>
              </a:ext>
            </a:extLst>
          </p:cNvPr>
          <p:cNvSpPr>
            <a:spLocks xmlns:a="http://schemas.openxmlformats.org/drawingml/2006/main" noGrp="1"/>
          </p:cNvSpPr>
          <p:nvPr/>
        </p:nvSpPr>
        <p:spPr>
          <a:xfrm xmlns:a="http://schemas.openxmlformats.org/drawingml/2006/main">
            <a:off x="1809750" y="33147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9866FD81-6E9B-4D32-A9D1-D92FB4E62A2F}"/>
              </a:ext>
            </a:extLst>
          </p:cNvPr>
          <p:cNvSpPr>
            <a:spLocks xmlns:a="http://schemas.openxmlformats.org/drawingml/2006/main" noGrp="1"/>
          </p:cNvSpPr>
          <p:nvPr/>
        </p:nvSpPr>
        <p:spPr>
          <a:xfrm xmlns:a="http://schemas.openxmlformats.org/drawingml/2006/main">
            <a:off x="685800" y="36004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8" name="">
            <a:extLst xmlns:a="http://schemas.openxmlformats.org/drawingml/2006/main">
              <a:ext uri="{FF2B5EF4-FFF2-40B4-BE49-F238E27FC236}">
                <a16:creationId xmlns:a16="http://schemas.microsoft.com/office/drawing/2014/main" id="{E15DAAC1-E9D2-419E-8DB4-3C995169A0AA}"/>
              </a:ext>
            </a:extLst>
          </p:cNvPr>
          <p:cNvSpPr>
            <a:spLocks xmlns:a="http://schemas.openxmlformats.org/drawingml/2006/main" noGrp="1"/>
          </p:cNvSpPr>
          <p:nvPr/>
        </p:nvSpPr>
        <p:spPr>
          <a:xfrm xmlns:a="http://schemas.openxmlformats.org/drawingml/2006/main">
            <a:off x="762000" y="36671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a:t>
            </a:r>
          </a:p>
        </p:txBody>
      </p:sp>
      <p:sp>
        <p:nvSpPr>
          <p:cNvPr id="19" name="">
            <a:extLst xmlns:a="http://schemas.openxmlformats.org/drawingml/2006/main">
              <a:ext uri="{FF2B5EF4-FFF2-40B4-BE49-F238E27FC236}">
                <a16:creationId xmlns:a16="http://schemas.microsoft.com/office/drawing/2014/main" id="{1DDC9765-6119-437C-B95C-2373B4CE5D06}"/>
              </a:ext>
            </a:extLst>
          </p:cNvPr>
          <p:cNvSpPr>
            <a:spLocks xmlns:a="http://schemas.openxmlformats.org/drawingml/2006/main" noGrp="1"/>
          </p:cNvSpPr>
          <p:nvPr/>
        </p:nvSpPr>
        <p:spPr>
          <a:xfrm xmlns:a="http://schemas.openxmlformats.org/drawingml/2006/main">
            <a:off x="1809750" y="35528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Supported by deterministic rejection</a:t>
            </a:r>
          </a:p>
        </p:txBody>
      </p:sp>
      <p:sp>
        <p:nvSpPr>
          <p:cNvPr id="20" name="">
            <a:extLst xmlns:a="http://schemas.openxmlformats.org/drawingml/2006/main">
              <a:ext uri="{FF2B5EF4-FFF2-40B4-BE49-F238E27FC236}">
                <a16:creationId xmlns:a16="http://schemas.microsoft.com/office/drawing/2014/main" id="{0770804C-5AAC-4627-B0AB-555612CCDF59}"/>
              </a:ext>
            </a:extLst>
          </p:cNvPr>
          <p:cNvSpPr>
            <a:spLocks xmlns:a="http://schemas.openxmlformats.org/drawingml/2006/main" noGrp="1"/>
          </p:cNvSpPr>
          <p:nvPr/>
        </p:nvSpPr>
        <p:spPr>
          <a:xfrm xmlns:a="http://schemas.openxmlformats.org/drawingml/2006/main">
            <a:off x="6191250" y="35528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Tested schemas, arguments, lineage, and registry only</a:t>
            </a:r>
          </a:p>
        </p:txBody>
      </p:sp>
      <p:sp>
        <p:nvSpPr>
          <p:cNvPr id="21" name="">
            <a:extLst xmlns:a="http://schemas.openxmlformats.org/drawingml/2006/main">
              <a:ext uri="{FF2B5EF4-FFF2-40B4-BE49-F238E27FC236}">
                <a16:creationId xmlns:a16="http://schemas.microsoft.com/office/drawing/2014/main" id="{3D40EA7F-41F7-41DE-9D6D-8A59CC1F2FC6}"/>
              </a:ext>
            </a:extLst>
          </p:cNvPr>
          <p:cNvSpPr>
            <a:spLocks xmlns:a="http://schemas.openxmlformats.org/drawingml/2006/main" noGrp="1"/>
          </p:cNvSpPr>
          <p:nvPr/>
        </p:nvSpPr>
        <p:spPr>
          <a:xfrm xmlns:a="http://schemas.openxmlformats.org/drawingml/2006/main">
            <a:off x="1809750" y="41719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50DA2207-3D12-4B9B-B83F-1DADA4E69EC6}"/>
              </a:ext>
            </a:extLst>
          </p:cNvPr>
          <p:cNvSpPr>
            <a:spLocks xmlns:a="http://schemas.openxmlformats.org/drawingml/2006/main" noGrp="1"/>
          </p:cNvSpPr>
          <p:nvPr/>
        </p:nvSpPr>
        <p:spPr>
          <a:xfrm xmlns:a="http://schemas.openxmlformats.org/drawingml/2006/main">
            <a:off x="685800" y="44577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3" name="">
            <a:extLst xmlns:a="http://schemas.openxmlformats.org/drawingml/2006/main">
              <a:ext uri="{FF2B5EF4-FFF2-40B4-BE49-F238E27FC236}">
                <a16:creationId xmlns:a16="http://schemas.microsoft.com/office/drawing/2014/main" id="{1A84E677-0593-4499-8619-4D2D7587B4CF}"/>
              </a:ext>
            </a:extLst>
          </p:cNvPr>
          <p:cNvSpPr>
            <a:spLocks xmlns:a="http://schemas.openxmlformats.org/drawingml/2006/main" noGrp="1"/>
          </p:cNvSpPr>
          <p:nvPr/>
        </p:nvSpPr>
        <p:spPr>
          <a:xfrm xmlns:a="http://schemas.openxmlformats.org/drawingml/2006/main">
            <a:off x="762000" y="45243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a:t>
            </a:r>
          </a:p>
        </p:txBody>
      </p:sp>
      <p:sp>
        <p:nvSpPr>
          <p:cNvPr id="24" name="">
            <a:extLst xmlns:a="http://schemas.openxmlformats.org/drawingml/2006/main">
              <a:ext uri="{FF2B5EF4-FFF2-40B4-BE49-F238E27FC236}">
                <a16:creationId xmlns:a16="http://schemas.microsoft.com/office/drawing/2014/main" id="{4495B200-B17C-470A-819E-D73C63208876}"/>
              </a:ext>
            </a:extLst>
          </p:cNvPr>
          <p:cNvSpPr>
            <a:spLocks xmlns:a="http://schemas.openxmlformats.org/drawingml/2006/main" noGrp="1"/>
          </p:cNvSpPr>
          <p:nvPr/>
        </p:nvSpPr>
        <p:spPr>
          <a:xfrm xmlns:a="http://schemas.openxmlformats.org/drawingml/2006/main">
            <a:off x="1809750" y="44100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Direct support for fail-once navigation and pick</a:t>
            </a:r>
          </a:p>
        </p:txBody>
      </p:sp>
      <p:sp>
        <p:nvSpPr>
          <p:cNvPr id="25" name="">
            <a:extLst xmlns:a="http://schemas.openxmlformats.org/drawingml/2006/main">
              <a:ext uri="{FF2B5EF4-FFF2-40B4-BE49-F238E27FC236}">
                <a16:creationId xmlns:a16="http://schemas.microsoft.com/office/drawing/2014/main" id="{B6FECA9A-38FC-42F1-B0DB-025C624110D3}"/>
              </a:ext>
            </a:extLst>
          </p:cNvPr>
          <p:cNvSpPr>
            <a:spLocks xmlns:a="http://schemas.openxmlformats.org/drawingml/2006/main" noGrp="1"/>
          </p:cNvSpPr>
          <p:nvPr/>
        </p:nvSpPr>
        <p:spPr>
          <a:xfrm xmlns:a="http://schemas.openxmlformats.org/drawingml/2006/main">
            <a:off x="6191250" y="44100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Missing-object, recipient, and closure recovery remained partial</a:t>
            </a:r>
          </a:p>
        </p:txBody>
      </p:sp>
      <p:sp>
        <p:nvSpPr>
          <p:cNvPr id="26" name="">
            <a:extLst xmlns:a="http://schemas.openxmlformats.org/drawingml/2006/main">
              <a:ext uri="{FF2B5EF4-FFF2-40B4-BE49-F238E27FC236}">
                <a16:creationId xmlns:a16="http://schemas.microsoft.com/office/drawing/2014/main" id="{1683F276-7217-4CF6-B429-ED92CCB59F50}"/>
              </a:ext>
            </a:extLst>
          </p:cNvPr>
          <p:cNvSpPr>
            <a:spLocks xmlns:a="http://schemas.openxmlformats.org/drawingml/2006/main" noGrp="1"/>
          </p:cNvSpPr>
          <p:nvPr/>
        </p:nvSpPr>
        <p:spPr>
          <a:xfrm xmlns:a="http://schemas.openxmlformats.org/drawingml/2006/main">
            <a:off x="1809750" y="50292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AE09993C-96C7-4B04-974C-EE5DB773BFA2}"/>
              </a:ext>
            </a:extLst>
          </p:cNvPr>
          <p:cNvSpPr>
            <a:spLocks xmlns:a="http://schemas.openxmlformats.org/drawingml/2006/main" noGrp="1"/>
          </p:cNvSpPr>
          <p:nvPr/>
        </p:nvSpPr>
        <p:spPr>
          <a:xfrm xmlns:a="http://schemas.openxmlformats.org/drawingml/2006/main">
            <a:off x="685800" y="5314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BCB53782-1249-49D1-AA3B-C7ABFBE47770}"/>
              </a:ext>
            </a:extLst>
          </p:cNvPr>
          <p:cNvSpPr>
            <a:spLocks xmlns:a="http://schemas.openxmlformats.org/drawingml/2006/main" noGrp="1"/>
          </p:cNvSpPr>
          <p:nvPr/>
        </p:nvSpPr>
        <p:spPr>
          <a:xfrm xmlns:a="http://schemas.openxmlformats.org/drawingml/2006/main">
            <a:off x="762000" y="5381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a:t>
            </a:r>
          </a:p>
        </p:txBody>
      </p:sp>
      <p:sp>
        <p:nvSpPr>
          <p:cNvPr id="29" name="">
            <a:extLst xmlns:a="http://schemas.openxmlformats.org/drawingml/2006/main">
              <a:ext uri="{FF2B5EF4-FFF2-40B4-BE49-F238E27FC236}">
                <a16:creationId xmlns:a16="http://schemas.microsoft.com/office/drawing/2014/main" id="{8F28B4D5-0213-4965-A6B0-586C55495D2D}"/>
              </a:ext>
            </a:extLst>
          </p:cNvPr>
          <p:cNvSpPr>
            <a:spLocks xmlns:a="http://schemas.openxmlformats.org/drawingml/2006/main" noGrp="1"/>
          </p:cNvSpPr>
          <p:nvPr/>
        </p:nvSpPr>
        <p:spPr>
          <a:xfrm xmlns:a="http://schemas.openxmlformats.org/drawingml/2006/main">
            <a:off x="1809750" y="5267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Supported at interface and auditability level</a:t>
            </a:r>
          </a:p>
        </p:txBody>
      </p:sp>
      <p:sp>
        <p:nvSpPr>
          <p:cNvPr id="30" name="">
            <a:extLst xmlns:a="http://schemas.openxmlformats.org/drawingml/2006/main">
              <a:ext uri="{FF2B5EF4-FFF2-40B4-BE49-F238E27FC236}">
                <a16:creationId xmlns:a16="http://schemas.microsoft.com/office/drawing/2014/main" id="{7DD415C4-DEC3-4CEB-8B1D-FF7E8749E6D8}"/>
              </a:ext>
            </a:extLst>
          </p:cNvPr>
          <p:cNvSpPr>
            <a:spLocks xmlns:a="http://schemas.openxmlformats.org/drawingml/2006/main" noGrp="1"/>
          </p:cNvSpPr>
          <p:nvPr/>
        </p:nvSpPr>
        <p:spPr>
          <a:xfrm xmlns:a="http://schemas.openxmlformats.org/drawingml/2006/main">
            <a:off x="6191250" y="5267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Other robots and equivalent model behaviour remain unqualified</a:t>
            </a:r>
          </a:p>
        </p:txBody>
      </p:sp>
      <p:sp>
        <p:nvSpPr>
          <p:cNvPr id="31" name="">
            <a:extLst xmlns:a="http://schemas.openxmlformats.org/drawingml/2006/main">
              <a:ext uri="{FF2B5EF4-FFF2-40B4-BE49-F238E27FC236}">
                <a16:creationId xmlns:a16="http://schemas.microsoft.com/office/drawing/2014/main" id="{7131007D-A4A0-4B0D-B645-DFE63F8A4DD1}"/>
              </a:ext>
            </a:extLst>
          </p:cNvPr>
          <p:cNvSpPr>
            <a:spLocks xmlns:a="http://schemas.openxmlformats.org/drawingml/2006/main" noGrp="1"/>
          </p:cNvSpPr>
          <p:nvPr/>
        </p:nvSpPr>
        <p:spPr>
          <a:xfrm xmlns:a="http://schemas.openxmlformats.org/drawingml/2006/main">
            <a:off x="1809750" y="5886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7940205"/>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F0D8E8-1E3D-4CB2-AF5C-66C7BCC0DA3E}"/>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4B7F5F8-DD86-4779-A86F-12210BDE1C5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D72792E6-7A7B-46B8-9739-68BA0AE4E8C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LIMITS</a:t>
            </a:r>
          </a:p>
        </p:txBody>
      </p:sp>
      <p:sp>
        <p:nvSpPr>
          <p:cNvPr id="4" name="">
            <a:extLst xmlns:a="http://schemas.openxmlformats.org/drawingml/2006/main">
              <a:ext uri="{FF2B5EF4-FFF2-40B4-BE49-F238E27FC236}">
                <a16:creationId xmlns:a16="http://schemas.microsoft.com/office/drawing/2014/main" id="{32266669-0916-411E-96AC-133A24E33D3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2024AE1B-1D77-434D-9E4D-7634119C283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CLAIM BOUNDARIES AND TRANSFER</a:t>
            </a:r>
          </a:p>
        </p:txBody>
      </p:sp>
      <p:sp>
        <p:nvSpPr>
          <p:cNvPr id="6" name="">
            <a:extLst xmlns:a="http://schemas.openxmlformats.org/drawingml/2006/main">
              <a:ext uri="{FF2B5EF4-FFF2-40B4-BE49-F238E27FC236}">
                <a16:creationId xmlns:a16="http://schemas.microsoft.com/office/drawing/2014/main" id="{03DF14AB-4E11-489C-AF7F-0B5138056A5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The strongest evidence concerns software contracts and symbolic state.</a:t>
            </a:r>
          </a:p>
        </p:txBody>
      </p:sp>
      <p:sp>
        <p:nvSpPr>
          <p:cNvPr id="7" name="">
            <a:extLst xmlns:a="http://schemas.openxmlformats.org/drawingml/2006/main">
              <a:ext uri="{FF2B5EF4-FFF2-40B4-BE49-F238E27FC236}">
                <a16:creationId xmlns:a16="http://schemas.microsoft.com/office/drawing/2014/main" id="{F0412956-E218-427B-B90D-7D4B7F20297B}"/>
              </a:ext>
            </a:extLst>
          </p:cNvPr>
          <p:cNvSpPr>
            <a:spLocks xmlns:a="http://schemas.openxmlformats.org/drawingml/2006/main" noGrp="1"/>
          </p:cNvSpPr>
          <p:nvPr/>
        </p:nvSpPr>
        <p:spPr>
          <a:xfrm xmlns:a="http://schemas.openxmlformats.org/drawingml/2006/main">
            <a:off x="6858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24B6D3D4-638A-48FD-98E6-DA1C7FC1CBA3}"/>
              </a:ext>
            </a:extLst>
          </p:cNvPr>
          <p:cNvSpPr>
            <a:spLocks xmlns:a="http://schemas.openxmlformats.org/drawingml/2006/main" noGrp="1"/>
          </p:cNvSpPr>
          <p:nvPr/>
        </p:nvSpPr>
        <p:spPr>
          <a:xfrm xmlns:a="http://schemas.openxmlformats.org/drawingml/2006/main">
            <a:off x="685800" y="2095500"/>
            <a:ext cx="57150" cy="300037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E0DA38A4-41F2-47E0-913F-0AEDFD0E78AA}"/>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A0ADA95F-66B7-4756-9824-D85CA1FFA477}"/>
              </a:ext>
            </a:extLst>
          </p:cNvPr>
          <p:cNvSpPr>
            <a:spLocks xmlns:a="http://schemas.openxmlformats.org/drawingml/2006/main" noGrp="1"/>
          </p:cNvSpPr>
          <p:nvPr/>
        </p:nvSpPr>
        <p:spPr>
          <a:xfrm xmlns:a="http://schemas.openxmlformats.org/drawingml/2006/main">
            <a:off x="8953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ownership and interface architecture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deterministic admission and dispatch</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controlled failure and replanning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symbolic postconditions and reporting</a:t>
            </a:r>
          </a:p>
        </p:txBody>
      </p:sp>
      <p:sp>
        <p:nvSpPr>
          <p:cNvPr id="11" name="">
            <a:extLst xmlns:a="http://schemas.openxmlformats.org/drawingml/2006/main">
              <a:ext uri="{FF2B5EF4-FFF2-40B4-BE49-F238E27FC236}">
                <a16:creationId xmlns:a16="http://schemas.microsoft.com/office/drawing/2014/main" id="{76E7859B-61AE-4AD2-8002-E129D8BE785C}"/>
              </a:ext>
            </a:extLst>
          </p:cNvPr>
          <p:cNvSpPr>
            <a:spLocks xmlns:a="http://schemas.openxmlformats.org/drawingml/2006/main" noGrp="1"/>
          </p:cNvSpPr>
          <p:nvPr/>
        </p:nvSpPr>
        <p:spPr>
          <a:xfrm xmlns:a="http://schemas.openxmlformats.org/drawingml/2006/main">
            <a:off x="42291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9F29E56-E232-4B9C-974A-FD6AB09E2D56}"/>
              </a:ext>
            </a:extLst>
          </p:cNvPr>
          <p:cNvSpPr>
            <a:spLocks xmlns:a="http://schemas.openxmlformats.org/drawingml/2006/main" noGrp="1"/>
          </p:cNvSpPr>
          <p:nvPr/>
        </p:nvSpPr>
        <p:spPr>
          <a:xfrm xmlns:a="http://schemas.openxmlformats.org/drawingml/2006/main">
            <a:off x="4229100" y="2095500"/>
            <a:ext cx="57150" cy="3000375"/>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0ED2A674-0D0A-417D-93BF-465263713256}"/>
              </a:ext>
            </a:extLst>
          </p:cNvPr>
          <p:cNvSpPr>
            <a:spLocks xmlns:a="http://schemas.openxmlformats.org/drawingml/2006/main" noGrp="1"/>
          </p:cNvSpPr>
          <p:nvPr/>
        </p:nvSpPr>
        <p:spPr>
          <a:xfrm xmlns:a="http://schemas.openxmlformats.org/drawingml/2006/main">
            <a:off x="44386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796D01D0-2F28-479D-AB15-8260F5B25C77}"/>
              </a:ext>
            </a:extLst>
          </p:cNvPr>
          <p:cNvSpPr>
            <a:spLocks xmlns:a="http://schemas.openxmlformats.org/drawingml/2006/main" noGrp="1"/>
          </p:cNvSpPr>
          <p:nvPr/>
        </p:nvSpPr>
        <p:spPr>
          <a:xfrm xmlns:a="http://schemas.openxmlformats.org/drawingml/2006/main">
            <a:off x="44386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navigation or grasp accuracy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detector performance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human safety or acceptance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unrestricted autonomy or universal model ranking</a:t>
            </a:r>
          </a:p>
        </p:txBody>
      </p:sp>
      <p:sp>
        <p:nvSpPr>
          <p:cNvPr id="15" name="">
            <a:extLst xmlns:a="http://schemas.openxmlformats.org/drawingml/2006/main">
              <a:ext uri="{FF2B5EF4-FFF2-40B4-BE49-F238E27FC236}">
                <a16:creationId xmlns:a16="http://schemas.microsoft.com/office/drawing/2014/main" id="{9CF2C06A-A887-46C5-9AF8-0FE7BB9895EA}"/>
              </a:ext>
            </a:extLst>
          </p:cNvPr>
          <p:cNvSpPr>
            <a:spLocks xmlns:a="http://schemas.openxmlformats.org/drawingml/2006/main" noGrp="1"/>
          </p:cNvSpPr>
          <p:nvPr/>
        </p:nvSpPr>
        <p:spPr>
          <a:xfrm xmlns:a="http://schemas.openxmlformats.org/drawingml/2006/main">
            <a:off x="77724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6FEC6C6D-7432-422C-88FA-3217D05D1F1B}"/>
              </a:ext>
            </a:extLst>
          </p:cNvPr>
          <p:cNvSpPr>
            <a:spLocks xmlns:a="http://schemas.openxmlformats.org/drawingml/2006/main" noGrp="1"/>
          </p:cNvSpPr>
          <p:nvPr/>
        </p:nvSpPr>
        <p:spPr>
          <a:xfrm xmlns:a="http://schemas.openxmlformats.org/drawingml/2006/main">
            <a:off x="7772400" y="2095500"/>
            <a:ext cx="57150" cy="300037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7" name="">
            <a:extLst xmlns:a="http://schemas.openxmlformats.org/drawingml/2006/main">
              <a:ext uri="{FF2B5EF4-FFF2-40B4-BE49-F238E27FC236}">
                <a16:creationId xmlns:a16="http://schemas.microsoft.com/office/drawing/2014/main" id="{6E006DAD-FAAC-41D1-A3EB-ECCA48557B2E}"/>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Transfer conditions</a:t>
            </a:r>
          </a:p>
        </p:txBody>
      </p:sp>
      <p:sp>
        <p:nvSpPr>
          <p:cNvPr id="18" name="">
            <a:extLst xmlns:a="http://schemas.openxmlformats.org/drawingml/2006/main">
              <a:ext uri="{FF2B5EF4-FFF2-40B4-BE49-F238E27FC236}">
                <a16:creationId xmlns:a16="http://schemas.microsoft.com/office/drawing/2014/main" id="{A6386C76-1F40-43AA-9488-DC5E1D3B38DA}"/>
              </a:ext>
            </a:extLst>
          </p:cNvPr>
          <p:cNvSpPr>
            <a:spLocks xmlns:a="http://schemas.openxmlformats.org/drawingml/2006/main" noGrp="1"/>
          </p:cNvSpPr>
          <p:nvPr/>
        </p:nvSpPr>
        <p:spPr>
          <a:xfrm xmlns:a="http://schemas.openxmlformats.org/drawingml/2006/main">
            <a:off x="79819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Another robot needs an equivalent reviewed skill registry and typed adapters. Another model must repeat the frozen qualification.</a:t>
            </a:r>
          </a:p>
        </p:txBody>
      </p:sp>
      <p:sp>
        <p:nvSpPr>
          <p:cNvPr id="19" name="">
            <a:extLst xmlns:a="http://schemas.openxmlformats.org/drawingml/2006/main">
              <a:ext uri="{FF2B5EF4-FFF2-40B4-BE49-F238E27FC236}">
                <a16:creationId xmlns:a16="http://schemas.microsoft.com/office/drawing/2014/main" id="{D22DA2A4-A302-417E-8F87-72609CF5F2C5}"/>
              </a:ext>
            </a:extLst>
          </p:cNvPr>
          <p:cNvSpPr>
            <a:spLocks xmlns:a="http://schemas.openxmlformats.org/drawingml/2006/main" noGrp="1"/>
          </p:cNvSpPr>
          <p:nvPr/>
        </p:nvSpPr>
        <p:spPr>
          <a:xfrm xmlns:a="http://schemas.openxmlformats.org/drawingml/2006/main">
            <a:off x="1143000" y="55245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Controlled simulation reduced hardware variance and compute waste, but it cannot replace physical safety and performance measurement.</a:t>
            </a:r>
          </a:p>
        </p:txBody>
      </p:sp>
    </p:spTree>
    <p:extLst>
      <p:ext uri="{BB962C8B-B14F-4D97-AF65-F5344CB8AC3E}">
        <p14:creationId xmlns:p14="http://schemas.microsoft.com/office/powerpoint/2010/main" val="9627017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5069F1-777F-4CF2-90F5-6443232C42D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A1783F6-77DE-45D9-B944-F6E66F83911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F3D7A34-87EC-41CE-8A02-C598AFC0C6A6}"/>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FUTURE WORK</a:t>
            </a:r>
          </a:p>
        </p:txBody>
      </p:sp>
      <p:sp>
        <p:nvSpPr>
          <p:cNvPr id="4" name="">
            <a:extLst xmlns:a="http://schemas.openxmlformats.org/drawingml/2006/main">
              <a:ext uri="{FF2B5EF4-FFF2-40B4-BE49-F238E27FC236}">
                <a16:creationId xmlns:a16="http://schemas.microsoft.com/office/drawing/2014/main" id="{B129AB67-1942-42A3-A2FE-34750DCBCEF2}"/>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58F5A9BA-385F-44A0-9910-EF37C2D8A9C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NEXT VALIDATION FRONTIER</a:t>
            </a:r>
          </a:p>
        </p:txBody>
      </p:sp>
      <p:sp>
        <p:nvSpPr>
          <p:cNvPr id="6" name="">
            <a:extLst xmlns:a="http://schemas.openxmlformats.org/drawingml/2006/main">
              <a:ext uri="{FF2B5EF4-FFF2-40B4-BE49-F238E27FC236}">
                <a16:creationId xmlns:a16="http://schemas.microsoft.com/office/drawing/2014/main" id="{72F266DE-2EE8-466F-AC28-C1E8016FEC9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Move from validated software contracts toward measured embodiment.</a:t>
            </a:r>
          </a:p>
        </p:txBody>
      </p:sp>
      <p:sp>
        <p:nvSpPr>
          <p:cNvPr id="7" name="">
            <a:extLst xmlns:a="http://schemas.openxmlformats.org/drawingml/2006/main">
              <a:ext uri="{FF2B5EF4-FFF2-40B4-BE49-F238E27FC236}">
                <a16:creationId xmlns:a16="http://schemas.microsoft.com/office/drawing/2014/main" id="{9C19F8DC-EFF7-4ECE-A74B-C2C6948D1F85}"/>
              </a:ext>
            </a:extLst>
          </p:cNvPr>
          <p:cNvSpPr>
            <a:spLocks xmlns:a="http://schemas.openxmlformats.org/drawingml/2006/main" noGrp="1"/>
          </p:cNvSpPr>
          <p:nvPr/>
        </p:nvSpPr>
        <p:spPr>
          <a:xfrm xmlns:a="http://schemas.openxmlformats.org/drawingml/2006/main">
            <a:off x="6858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50DE048-F3FB-49CF-A348-CCA64493C9BE}"/>
              </a:ext>
            </a:extLst>
          </p:cNvPr>
          <p:cNvSpPr>
            <a:spLocks xmlns:a="http://schemas.openxmlformats.org/drawingml/2006/main" noGrp="1"/>
          </p:cNvSpPr>
          <p:nvPr/>
        </p:nvSpPr>
        <p:spPr>
          <a:xfrm xmlns:a="http://schemas.openxmlformats.org/drawingml/2006/main">
            <a:off x="685800" y="2143125"/>
            <a:ext cx="57150" cy="2952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88551A3B-4319-468F-8CBF-007074236930}"/>
              </a:ext>
            </a:extLst>
          </p:cNvPr>
          <p:cNvSpPr>
            <a:spLocks xmlns:a="http://schemas.openxmlformats.org/drawingml/2006/main" noGrp="1"/>
          </p:cNvSpPr>
          <p:nvPr/>
        </p:nvSpPr>
        <p:spPr>
          <a:xfrm xmlns:a="http://schemas.openxmlformats.org/drawingml/2006/main">
            <a:off x="8953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Embodied skills</a:t>
            </a:r>
          </a:p>
        </p:txBody>
      </p:sp>
      <p:sp>
        <p:nvSpPr>
          <p:cNvPr id="10" name="">
            <a:extLst xmlns:a="http://schemas.openxmlformats.org/drawingml/2006/main">
              <a:ext uri="{FF2B5EF4-FFF2-40B4-BE49-F238E27FC236}">
                <a16:creationId xmlns:a16="http://schemas.microsoft.com/office/drawing/2014/main" id="{28AC30CD-1ED7-412A-8788-F5018CB45440}"/>
              </a:ext>
            </a:extLst>
          </p:cNvPr>
          <p:cNvSpPr>
            <a:spLocks xmlns:a="http://schemas.openxmlformats.org/drawingml/2006/main" noGrp="1"/>
          </p:cNvSpPr>
          <p:nvPr/>
        </p:nvSpPr>
        <p:spPr>
          <a:xfrm xmlns:a="http://schemas.openxmlformats.org/drawingml/2006/main">
            <a:off x="8953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Quantify head and gaze behaviour, guarded wave, bounded local motion, semantic navigation, and pointing kinematics.</a:t>
            </a:r>
          </a:p>
        </p:txBody>
      </p:sp>
      <p:sp>
        <p:nvSpPr>
          <p:cNvPr id="11" name="">
            <a:extLst xmlns:a="http://schemas.openxmlformats.org/drawingml/2006/main">
              <a:ext uri="{FF2B5EF4-FFF2-40B4-BE49-F238E27FC236}">
                <a16:creationId xmlns:a16="http://schemas.microsoft.com/office/drawing/2014/main" id="{C8BBF534-4666-4FFB-B59A-57ABAF02375F}"/>
              </a:ext>
            </a:extLst>
          </p:cNvPr>
          <p:cNvSpPr>
            <a:spLocks xmlns:a="http://schemas.openxmlformats.org/drawingml/2006/main" noGrp="1"/>
          </p:cNvSpPr>
          <p:nvPr/>
        </p:nvSpPr>
        <p:spPr>
          <a:xfrm xmlns:a="http://schemas.openxmlformats.org/drawingml/2006/main">
            <a:off x="42291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6CAFF59-79D4-4822-8383-E85AAED38997}"/>
              </a:ext>
            </a:extLst>
          </p:cNvPr>
          <p:cNvSpPr>
            <a:spLocks xmlns:a="http://schemas.openxmlformats.org/drawingml/2006/main" noGrp="1"/>
          </p:cNvSpPr>
          <p:nvPr/>
        </p:nvSpPr>
        <p:spPr>
          <a:xfrm xmlns:a="http://schemas.openxmlformats.org/drawingml/2006/main">
            <a:off x="4229100" y="2143125"/>
            <a:ext cx="57150" cy="2952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3" name="">
            <a:extLst xmlns:a="http://schemas.openxmlformats.org/drawingml/2006/main">
              <a:ext uri="{FF2B5EF4-FFF2-40B4-BE49-F238E27FC236}">
                <a16:creationId xmlns:a16="http://schemas.microsoft.com/office/drawing/2014/main" id="{ED8FE6E0-B135-4753-B914-254B9B9029FC}"/>
              </a:ext>
            </a:extLst>
          </p:cNvPr>
          <p:cNvSpPr>
            <a:spLocks xmlns:a="http://schemas.openxmlformats.org/drawingml/2006/main" noGrp="1"/>
          </p:cNvSpPr>
          <p:nvPr/>
        </p:nvSpPr>
        <p:spPr>
          <a:xfrm xmlns:a="http://schemas.openxmlformats.org/drawingml/2006/main">
            <a:off x="44386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World evidence</a:t>
            </a:r>
          </a:p>
        </p:txBody>
      </p:sp>
      <p:sp>
        <p:nvSpPr>
          <p:cNvPr id="14" name="">
            <a:extLst xmlns:a="http://schemas.openxmlformats.org/drawingml/2006/main">
              <a:ext uri="{FF2B5EF4-FFF2-40B4-BE49-F238E27FC236}">
                <a16:creationId xmlns:a16="http://schemas.microsoft.com/office/drawing/2014/main" id="{D4E02055-6A14-4975-B6F8-4D51AB7AEAF5}"/>
              </a:ext>
            </a:extLst>
          </p:cNvPr>
          <p:cNvSpPr>
            <a:spLocks xmlns:a="http://schemas.openxmlformats.org/drawingml/2006/main" noGrp="1"/>
          </p:cNvSpPr>
          <p:nvPr/>
        </p:nvSpPr>
        <p:spPr>
          <a:xfrm xmlns:a="http://schemas.openxmlformats.org/drawingml/2006/main">
            <a:off x="44386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Evaluate detector identity settling and scene-grounding quality before promoting detector-derived facts into stronger claims.</a:t>
            </a:r>
          </a:p>
        </p:txBody>
      </p:sp>
      <p:sp>
        <p:nvSpPr>
          <p:cNvPr id="15" name="">
            <a:extLst xmlns:a="http://schemas.openxmlformats.org/drawingml/2006/main">
              <a:ext uri="{FF2B5EF4-FFF2-40B4-BE49-F238E27FC236}">
                <a16:creationId xmlns:a16="http://schemas.microsoft.com/office/drawing/2014/main" id="{8112DFB5-CD39-4CE7-80ED-3C14A1376688}"/>
              </a:ext>
            </a:extLst>
          </p:cNvPr>
          <p:cNvSpPr>
            <a:spLocks xmlns:a="http://schemas.openxmlformats.org/drawingml/2006/main" noGrp="1"/>
          </p:cNvSpPr>
          <p:nvPr/>
        </p:nvSpPr>
        <p:spPr>
          <a:xfrm xmlns:a="http://schemas.openxmlformats.org/drawingml/2006/main">
            <a:off x="77724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AEB8024-6208-4BD7-ACA5-5C9A4B6CBA03}"/>
              </a:ext>
            </a:extLst>
          </p:cNvPr>
          <p:cNvSpPr>
            <a:spLocks xmlns:a="http://schemas.openxmlformats.org/drawingml/2006/main" noGrp="1"/>
          </p:cNvSpPr>
          <p:nvPr/>
        </p:nvSpPr>
        <p:spPr>
          <a:xfrm xmlns:a="http://schemas.openxmlformats.org/drawingml/2006/main">
            <a:off x="7772400" y="2143125"/>
            <a:ext cx="57150" cy="2952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1C2194AE-10D0-4F74-A914-4FBB2BCAE35E}"/>
              </a:ext>
            </a:extLst>
          </p:cNvPr>
          <p:cNvSpPr>
            <a:spLocks xmlns:a="http://schemas.openxmlformats.org/drawingml/2006/main" noGrp="1"/>
          </p:cNvSpPr>
          <p:nvPr/>
        </p:nvSpPr>
        <p:spPr>
          <a:xfrm xmlns:a="http://schemas.openxmlformats.org/drawingml/2006/main">
            <a:off x="79819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Interaction quality</a:t>
            </a:r>
          </a:p>
        </p:txBody>
      </p:sp>
      <p:sp>
        <p:nvSpPr>
          <p:cNvPr id="18" name="">
            <a:extLst xmlns:a="http://schemas.openxmlformats.org/drawingml/2006/main">
              <a:ext uri="{FF2B5EF4-FFF2-40B4-BE49-F238E27FC236}">
                <a16:creationId xmlns:a16="http://schemas.microsoft.com/office/drawing/2014/main" id="{D332DD2D-56F0-444B-9453-DFDCD116E391}"/>
              </a:ext>
            </a:extLst>
          </p:cNvPr>
          <p:cNvSpPr>
            <a:spLocks xmlns:a="http://schemas.openxmlformats.org/drawingml/2006/main" noGrp="1"/>
          </p:cNvSpPr>
          <p:nvPr/>
        </p:nvSpPr>
        <p:spPr>
          <a:xfrm xmlns:a="http://schemas.openxmlformats.org/drawingml/2006/main">
            <a:off x="79819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Measure ASR, TTS, latency, interruption handling, and autonomous idle/request arbitration with users and physical trials.</a:t>
            </a:r>
          </a:p>
        </p:txBody>
      </p:sp>
      <p:sp>
        <p:nvSpPr>
          <p:cNvPr id="19" name="">
            <a:extLst xmlns:a="http://schemas.openxmlformats.org/drawingml/2006/main">
              <a:ext uri="{FF2B5EF4-FFF2-40B4-BE49-F238E27FC236}">
                <a16:creationId xmlns:a16="http://schemas.microsoft.com/office/drawing/2014/main" id="{48C2767F-03D0-40AA-BA7A-57B879BE5078}"/>
              </a:ext>
            </a:extLst>
          </p:cNvPr>
          <p:cNvSpPr>
            <a:spLocks xmlns:a="http://schemas.openxmlformats.org/drawingml/2006/main" noGrp="1"/>
          </p:cNvSpPr>
          <p:nvPr/>
        </p:nvSpPr>
        <p:spPr>
          <a:xfrm xmlns:a="http://schemas.openxmlformats.org/drawingml/2006/main">
            <a:off x="1143000" y="5524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Every promoted skill should begin with one physical success, one failure or cancellation, and the same typed evidence boundary.</a:t>
            </a:r>
          </a:p>
        </p:txBody>
      </p:sp>
    </p:spTree>
    <p:extLst>
      <p:ext uri="{BB962C8B-B14F-4D97-AF65-F5344CB8AC3E}">
        <p14:creationId xmlns:p14="http://schemas.microsoft.com/office/powerpoint/2010/main" val="176113543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FC17A4-BD84-4D1E-A264-EF8E80FE32C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BBBA443-BA14-4EA1-AF8D-9570EDA07D2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6A29417-BE02-4A0B-8FD6-2C28230F3C83}"/>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CONTRIBUTIONS</a:t>
            </a:r>
          </a:p>
        </p:txBody>
      </p:sp>
      <p:sp>
        <p:nvSpPr>
          <p:cNvPr id="4" name="">
            <a:extLst xmlns:a="http://schemas.openxmlformats.org/drawingml/2006/main">
              <a:ext uri="{FF2B5EF4-FFF2-40B4-BE49-F238E27FC236}">
                <a16:creationId xmlns:a16="http://schemas.microsoft.com/office/drawing/2014/main" id="{2728C81E-E13F-4F51-9458-C483945C0CFA}"/>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D2C04787-4262-4A1D-B3DC-62494972B5CC}"/>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CONTRIBUTIONS</a:t>
            </a:r>
          </a:p>
        </p:txBody>
      </p:sp>
      <p:sp>
        <p:nvSpPr>
          <p:cNvPr id="6" name="">
            <a:extLst xmlns:a="http://schemas.openxmlformats.org/drawingml/2006/main">
              <a:ext uri="{FF2B5EF4-FFF2-40B4-BE49-F238E27FC236}">
                <a16:creationId xmlns:a16="http://schemas.microsoft.com/office/drawing/2014/main" id="{B7555BF5-4CF8-47E7-A00F-83AF7DB65E47}"/>
              </a:ext>
            </a:extLst>
          </p:cNvPr>
          <p:cNvSpPr>
            <a:spLocks xmlns:a="http://schemas.openxmlformats.org/drawingml/2006/main" noGrp="1"/>
          </p:cNvSpPr>
          <p:nvPr/>
        </p:nvSpPr>
        <p:spPr>
          <a:xfrm xmlns:a="http://schemas.openxmlformats.org/drawingml/2006/main">
            <a:off x="685800" y="838200"/>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The thesis contributes an architecture, a containment boundary, and a qualification method.</a:t>
            </a:r>
          </a:p>
        </p:txBody>
      </p:sp>
      <p:sp>
        <p:nvSpPr>
          <p:cNvPr id="7" name="">
            <a:extLst xmlns:a="http://schemas.openxmlformats.org/drawingml/2006/main">
              <a:ext uri="{FF2B5EF4-FFF2-40B4-BE49-F238E27FC236}">
                <a16:creationId xmlns:a16="http://schemas.microsoft.com/office/drawing/2014/main" id="{3EFB1288-38BD-4B28-A2E0-DCC6E3BF8DB9}"/>
              </a:ext>
            </a:extLst>
          </p:cNvPr>
          <p:cNvSpPr>
            <a:spLocks xmlns:a="http://schemas.openxmlformats.org/drawingml/2006/main" noGrp="1"/>
          </p:cNvSpPr>
          <p:nvPr/>
        </p:nvSpPr>
        <p:spPr>
          <a:xfrm xmlns:a="http://schemas.openxmlformats.org/drawingml/2006/main">
            <a:off x="6858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490F861A-2206-4BB0-8C9E-89DD4E73E3B6}"/>
              </a:ext>
            </a:extLst>
          </p:cNvPr>
          <p:cNvSpPr>
            <a:spLocks xmlns:a="http://schemas.openxmlformats.org/drawingml/2006/main" noGrp="1"/>
          </p:cNvSpPr>
          <p:nvPr/>
        </p:nvSpPr>
        <p:spPr>
          <a:xfrm xmlns:a="http://schemas.openxmlformats.org/drawingml/2006/main">
            <a:off x="8191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ADB1ED4A-EB41-4EC8-AE19-7ED81B6134EE}"/>
              </a:ext>
            </a:extLst>
          </p:cNvPr>
          <p:cNvSpPr>
            <a:spLocks xmlns:a="http://schemas.openxmlformats.org/drawingml/2006/main" noGrp="1"/>
          </p:cNvSpPr>
          <p:nvPr/>
        </p:nvSpPr>
        <p:spPr>
          <a:xfrm xmlns:a="http://schemas.openxmlformats.org/drawingml/2006/main">
            <a:off x="8382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F57DDA0C-4419-4D99-8DDE-13181765925D}"/>
              </a:ext>
            </a:extLst>
          </p:cNvPr>
          <p:cNvSpPr>
            <a:spLocks xmlns:a="http://schemas.openxmlformats.org/drawingml/2006/main" noGrp="1"/>
          </p:cNvSpPr>
          <p:nvPr/>
        </p:nvSpPr>
        <p:spPr>
          <a:xfrm xmlns:a="http://schemas.openxmlformats.org/drawingml/2006/main">
            <a:off x="8572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A modular ownership model connecting dialogue, grounding, planning, execution, and reporting.</a:t>
            </a:r>
          </a:p>
        </p:txBody>
      </p:sp>
      <p:sp>
        <p:nvSpPr>
          <p:cNvPr id="11" name="">
            <a:extLst xmlns:a="http://schemas.openxmlformats.org/drawingml/2006/main">
              <a:ext uri="{FF2B5EF4-FFF2-40B4-BE49-F238E27FC236}">
                <a16:creationId xmlns:a16="http://schemas.microsoft.com/office/drawing/2014/main" id="{E86107F3-7348-43E2-A439-6EB6B9DEBD87}"/>
              </a:ext>
            </a:extLst>
          </p:cNvPr>
          <p:cNvSpPr>
            <a:spLocks xmlns:a="http://schemas.openxmlformats.org/drawingml/2006/main" noGrp="1"/>
          </p:cNvSpPr>
          <p:nvPr/>
        </p:nvSpPr>
        <p:spPr>
          <a:xfrm xmlns:a="http://schemas.openxmlformats.org/drawingml/2006/main">
            <a:off x="42291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FD477EB9-E6DE-4879-AA0B-3EDC7A47032E}"/>
              </a:ext>
            </a:extLst>
          </p:cNvPr>
          <p:cNvSpPr>
            <a:spLocks xmlns:a="http://schemas.openxmlformats.org/drawingml/2006/main" noGrp="1"/>
          </p:cNvSpPr>
          <p:nvPr/>
        </p:nvSpPr>
        <p:spPr>
          <a:xfrm xmlns:a="http://schemas.openxmlformats.org/drawingml/2006/main">
            <a:off x="43624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FDF44746-3D89-449F-87DF-02CACB85476E}"/>
              </a:ext>
            </a:extLst>
          </p:cNvPr>
          <p:cNvSpPr>
            <a:spLocks xmlns:a="http://schemas.openxmlformats.org/drawingml/2006/main" noGrp="1"/>
          </p:cNvSpPr>
          <p:nvPr/>
        </p:nvSpPr>
        <p:spPr>
          <a:xfrm xmlns:a="http://schemas.openxmlformats.org/drawingml/2006/main">
            <a:off x="43815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Containment</a:t>
            </a:r>
          </a:p>
        </p:txBody>
      </p:sp>
      <p:sp>
        <p:nvSpPr>
          <p:cNvPr id="14" name="">
            <a:extLst xmlns:a="http://schemas.openxmlformats.org/drawingml/2006/main">
              <a:ext uri="{FF2B5EF4-FFF2-40B4-BE49-F238E27FC236}">
                <a16:creationId xmlns:a16="http://schemas.microsoft.com/office/drawing/2014/main" id="{4E0E61A4-9FE1-4E07-933C-47C6029F5882}"/>
              </a:ext>
            </a:extLst>
          </p:cNvPr>
          <p:cNvSpPr>
            <a:spLocks xmlns:a="http://schemas.openxmlformats.org/drawingml/2006/main" noGrp="1"/>
          </p:cNvSpPr>
          <p:nvPr/>
        </p:nvSpPr>
        <p:spPr>
          <a:xfrm xmlns:a="http://schemas.openxmlformats.org/drawingml/2006/main">
            <a:off x="44005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Typed contracts and deterministic admission restrict model-generated execution authority.</a:t>
            </a:r>
          </a:p>
        </p:txBody>
      </p:sp>
      <p:sp>
        <p:nvSpPr>
          <p:cNvPr id="15" name="">
            <a:extLst xmlns:a="http://schemas.openxmlformats.org/drawingml/2006/main">
              <a:ext uri="{FF2B5EF4-FFF2-40B4-BE49-F238E27FC236}">
                <a16:creationId xmlns:a16="http://schemas.microsoft.com/office/drawing/2014/main" id="{67F2FB3D-9D50-4D32-A4A7-AA92269BA3EF}"/>
              </a:ext>
            </a:extLst>
          </p:cNvPr>
          <p:cNvSpPr>
            <a:spLocks xmlns:a="http://schemas.openxmlformats.org/drawingml/2006/main" noGrp="1"/>
          </p:cNvSpPr>
          <p:nvPr/>
        </p:nvSpPr>
        <p:spPr>
          <a:xfrm xmlns:a="http://schemas.openxmlformats.org/drawingml/2006/main">
            <a:off x="77724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35E0A581-6652-416B-99DE-DD0EBD054B26}"/>
              </a:ext>
            </a:extLst>
          </p:cNvPr>
          <p:cNvSpPr>
            <a:spLocks xmlns:a="http://schemas.openxmlformats.org/drawingml/2006/main" noGrp="1"/>
          </p:cNvSpPr>
          <p:nvPr/>
        </p:nvSpPr>
        <p:spPr>
          <a:xfrm xmlns:a="http://schemas.openxmlformats.org/drawingml/2006/main">
            <a:off x="79057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D0E98B94-161E-4F6C-A793-14B2D38610BB}"/>
              </a:ext>
            </a:extLst>
          </p:cNvPr>
          <p:cNvSpPr>
            <a:spLocks xmlns:a="http://schemas.openxmlformats.org/drawingml/2006/main" noGrp="1"/>
          </p:cNvSpPr>
          <p:nvPr/>
        </p:nvSpPr>
        <p:spPr>
          <a:xfrm xmlns:a="http://schemas.openxmlformats.org/drawingml/2006/main">
            <a:off x="79248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Qualification</a:t>
            </a:r>
          </a:p>
        </p:txBody>
      </p:sp>
      <p:sp>
        <p:nvSpPr>
          <p:cNvPr id="18" name="">
            <a:extLst xmlns:a="http://schemas.openxmlformats.org/drawingml/2006/main">
              <a:ext uri="{FF2B5EF4-FFF2-40B4-BE49-F238E27FC236}">
                <a16:creationId xmlns:a16="http://schemas.microsoft.com/office/drawing/2014/main" id="{75D54AEE-7F6C-43DB-B3F9-625A56CA4AC5}"/>
              </a:ext>
            </a:extLst>
          </p:cNvPr>
          <p:cNvSpPr>
            <a:spLocks xmlns:a="http://schemas.openxmlformats.org/drawingml/2006/main" noGrp="1"/>
          </p:cNvSpPr>
          <p:nvPr/>
        </p:nvSpPr>
        <p:spPr>
          <a:xfrm xmlns:a="http://schemas.openxmlformats.org/drawingml/2006/main">
            <a:off x="79438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A repeatable evidence method separates model, stack, observability, and physical claims.</a:t>
            </a:r>
          </a:p>
        </p:txBody>
      </p:sp>
      <p:sp>
        <p:nvSpPr>
          <p:cNvPr id="19" name="">
            <a:extLst xmlns:a="http://schemas.openxmlformats.org/drawingml/2006/main">
              <a:ext uri="{FF2B5EF4-FFF2-40B4-BE49-F238E27FC236}">
                <a16:creationId xmlns:a16="http://schemas.microsoft.com/office/drawing/2014/main" id="{CBB53F58-F064-4CAD-8B9C-9E8A00091BA0}"/>
              </a:ext>
            </a:extLst>
          </p:cNvPr>
          <p:cNvSpPr>
            <a:spLocks xmlns:a="http://schemas.openxmlformats.org/drawingml/2006/main" noGrp="1"/>
          </p:cNvSpPr>
          <p:nvPr/>
        </p:nvSpPr>
        <p:spPr>
          <a:xfrm xmlns:a="http://schemas.openxmlformats.org/drawingml/2006/main">
            <a:off x="1476375" y="561975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Together, these boundaries make language-model variation observable without hiding task-level failure.</a:t>
            </a:r>
          </a:p>
        </p:txBody>
      </p:sp>
    </p:spTree>
    <p:extLst>
      <p:ext uri="{BB962C8B-B14F-4D97-AF65-F5344CB8AC3E}">
        <p14:creationId xmlns:p14="http://schemas.microsoft.com/office/powerpoint/2010/main" val="123061908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B0F767-CE06-4E9F-8375-4F06232FBE76}"/>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D361200-5005-4EAD-90B1-FF94ED2C20B5}"/>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060C6EC-4F74-451A-93CC-19B512AE3085}"/>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AC80ADAD-228A-4BD4-9EF6-EF07980506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3A23F599-CB26-44CA-9420-4BCC45252034}"/>
              </a:ext>
            </a:extLst>
          </p:cNvPr>
          <p:cNvSpPr>
            <a:spLocks xmlns:a="http://schemas.openxmlformats.org/drawingml/2006/main" noGrp="1"/>
          </p:cNvSpPr>
          <p:nvPr/>
        </p:nvSpPr>
        <p:spPr>
          <a:xfrm xmlns:a="http://schemas.openxmlformats.org/drawingml/2006/main">
            <a:off x="685800" y="6477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CONCLUSION</a:t>
            </a:r>
          </a:p>
        </p:txBody>
      </p:sp>
      <p:sp>
        <p:nvSpPr>
          <p:cNvPr id="6" name="">
            <a:extLst xmlns:a="http://schemas.openxmlformats.org/drawingml/2006/main">
              <a:ext uri="{FF2B5EF4-FFF2-40B4-BE49-F238E27FC236}">
                <a16:creationId xmlns:a16="http://schemas.microsoft.com/office/drawing/2014/main" id="{D1BD6021-B208-46CF-B13A-38B0C1E73674}"/>
              </a:ext>
            </a:extLst>
          </p:cNvPr>
          <p:cNvSpPr>
            <a:spLocks xmlns:a="http://schemas.openxmlformats.org/drawingml/2006/main" noGrp="1"/>
          </p:cNvSpPr>
          <p:nvPr/>
        </p:nvSpPr>
        <p:spPr>
          <a:xfrm xmlns:a="http://schemas.openxmlformats.org/drawingml/2006/main">
            <a:off x="685800" y="12573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7" name="">
            <a:extLst xmlns:a="http://schemas.openxmlformats.org/drawingml/2006/main">
              <a:ext uri="{FF2B5EF4-FFF2-40B4-BE49-F238E27FC236}">
                <a16:creationId xmlns:a16="http://schemas.microsoft.com/office/drawing/2014/main" id="{9E75FBDB-4311-4778-914A-DB5DF48318A0}"/>
              </a:ext>
            </a:extLst>
          </p:cNvPr>
          <p:cNvSpPr>
            <a:spLocks xmlns:a="http://schemas.openxmlformats.org/drawingml/2006/main" noGrp="1"/>
          </p:cNvSpPr>
          <p:nvPr/>
        </p:nvSpPr>
        <p:spPr>
          <a:xfrm xmlns:a="http://schemas.openxmlformats.org/drawingml/2006/main">
            <a:off x="1047750" y="1200150"/>
            <a:ext cx="9715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Language-model dialogue and planning can participate in an integrated robot architecture when their outputs are grounded, validated against reviewed skills, dispatched deterministically, and checked against typed feedback and symbolic postconditions.</a:t>
            </a:r>
          </a:p>
        </p:txBody>
      </p:sp>
      <p:sp>
        <p:nvSpPr>
          <p:cNvPr id="8" name="">
            <a:extLst xmlns:a="http://schemas.openxmlformats.org/drawingml/2006/main">
              <a:ext uri="{FF2B5EF4-FFF2-40B4-BE49-F238E27FC236}">
                <a16:creationId xmlns:a16="http://schemas.microsoft.com/office/drawing/2014/main" id="{A37976B1-DDA1-4968-9F90-5F357DAD77D3}"/>
              </a:ext>
            </a:extLst>
          </p:cNvPr>
          <p:cNvSpPr>
            <a:spLocks xmlns:a="http://schemas.openxmlformats.org/drawingml/2006/main" noGrp="1"/>
          </p:cNvSpPr>
          <p:nvPr/>
        </p:nvSpPr>
        <p:spPr>
          <a:xfrm xmlns:a="http://schemas.openxmlformats.org/drawingml/2006/main">
            <a:off x="1047750" y="4333875"/>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073F47"/>
                </a:solidFill>
                <a:latin typeface="Georgia"/>
                <a:ea typeface="Georgia"/>
                <a:cs typeface="Georgia"/>
              </a:defRPr>
            </a:pPr>
            <a:r>
              <a:rPr sz="2250" b="1" i="0">
                <a:solidFill>
                  <a:srgbClr val="073F47"/>
                </a:solidFill>
                <a:latin typeface="Georgia"/>
                <a:ea typeface="Georgia"/>
                <a:cs typeface="Georgia"/>
              </a:rPr>
              <a:t>The boundaries do not eliminate non-determinism. They make it observable and restrict its execution authority.</a:t>
            </a:r>
          </a:p>
        </p:txBody>
      </p:sp>
      <p:sp>
        <p:nvSpPr>
          <p:cNvPr id="9" name="">
            <a:extLst xmlns:a="http://schemas.openxmlformats.org/drawingml/2006/main">
              <a:ext uri="{FF2B5EF4-FFF2-40B4-BE49-F238E27FC236}">
                <a16:creationId xmlns:a16="http://schemas.microsoft.com/office/drawing/2014/main" id="{36B0F1FD-EF27-48E9-B4E3-31C939E59C84}"/>
              </a:ext>
            </a:extLst>
          </p:cNvPr>
          <p:cNvSpPr>
            <a:spLocks xmlns:a="http://schemas.openxmlformats.org/drawingml/2006/main" noGrp="1"/>
          </p:cNvSpPr>
          <p:nvPr/>
        </p:nvSpPr>
        <p:spPr>
          <a:xfrm xmlns:a="http://schemas.openxmlformats.org/drawingml/2006/main">
            <a:off x="1047750" y="57150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B6770"/>
                </a:solidFill>
                <a:latin typeface="Arial"/>
                <a:ea typeface="Arial"/>
                <a:cs typeface="Arial"/>
              </a:defRPr>
            </a:pPr>
            <a:r>
              <a:rPr sz="1725" b="0" i="0">
                <a:solidFill>
                  <a:srgbClr val="5B6770"/>
                </a:solidFill>
                <a:latin typeface="Arial"/>
                <a:ea typeface="Arial"/>
                <a:cs typeface="Arial"/>
              </a:rPr>
              <a:t>Thank you. I welcome your questions.</a:t>
            </a:r>
          </a:p>
        </p:txBody>
      </p:sp>
      <p:sp>
        <p:nvSpPr>
          <p:cNvPr id="10" name="">
            <a:extLst xmlns:a="http://schemas.openxmlformats.org/drawingml/2006/main">
              <a:ext uri="{FF2B5EF4-FFF2-40B4-BE49-F238E27FC236}">
                <a16:creationId xmlns:a16="http://schemas.microsoft.com/office/drawing/2014/main" id="{DC9AEA76-4654-4ACD-9EE3-C56CAE8CEA20}"/>
              </a:ext>
            </a:extLst>
          </p:cNvPr>
          <p:cNvSpPr>
            <a:spLocks xmlns:a="http://schemas.openxmlformats.org/drawingml/2006/main" noGrp="1"/>
          </p:cNvSpPr>
          <p:nvPr/>
        </p:nvSpPr>
        <p:spPr>
          <a:xfrm xmlns:a="http://schemas.openxmlformats.org/drawingml/2006/main">
            <a:off x="82867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770"/>
                </a:solidFill>
                <a:latin typeface="Arial"/>
                <a:ea typeface="Arial"/>
                <a:cs typeface="Arial"/>
              </a:defRPr>
            </a:pPr>
            <a:r>
              <a:rPr sz="1050" b="0" i="0">
                <a:solidFill>
                  <a:srgbClr val="5B6770"/>
                </a:solidFill>
                <a:latin typeface="Arial"/>
                <a:ea typeface="Arial"/>
                <a:cs typeface="Arial"/>
              </a:rPr>
              <a:t>IIIA-CSIC  •  UAB  •  JAE-ICU 2025</a:t>
            </a:r>
          </a:p>
        </p:txBody>
      </p:sp>
    </p:spTree>
    <p:extLst>
      <p:ext uri="{BB962C8B-B14F-4D97-AF65-F5344CB8AC3E}">
        <p14:creationId xmlns:p14="http://schemas.microsoft.com/office/powerpoint/2010/main" val="1823469721"/>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009560-B358-4DB8-9405-28D879E2548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8F51BE-BB3E-469B-BF89-D3120B3C9D2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9D868A8-1206-4017-87C3-78A316432CF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A</a:t>
            </a:r>
          </a:p>
        </p:txBody>
      </p:sp>
      <p:sp>
        <p:nvSpPr>
          <p:cNvPr id="4" name="">
            <a:extLst xmlns:a="http://schemas.openxmlformats.org/drawingml/2006/main">
              <a:ext uri="{FF2B5EF4-FFF2-40B4-BE49-F238E27FC236}">
                <a16:creationId xmlns:a16="http://schemas.microsoft.com/office/drawing/2014/main" id="{FAB95765-2A3C-4951-84D3-ECB26DEB469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C3E4DAD4-84FC-4475-A5C7-7D967408539A}"/>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884A566F-CD2D-47E7-947F-870285FA5493}"/>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Detailed frozen results</a:t>
            </a:r>
          </a:p>
        </p:txBody>
      </p:sp>
      <p:graphicFrame>
        <p:nvGraphicFramePr>
          <p:cNvPr id="16" name=""/>
          <p:cNvGraphicFramePr/>
          <p:nvPr/>
        </p:nvGraphicFramePr>
        <p:xfrm>
          <a:off xmlns:a="http://schemas.openxmlformats.org/drawingml/2006/main" x="685800" y="1809750"/>
          <a:ext xmlns:a="http://schemas.openxmlformats.org/drawingml/2006/main" cx="10191750" cy="3905250"/>
        </p:xfrm>
        <a:graphic xmlns:a="http://schemas.openxmlformats.org/drawingml/2006/main">
          <a:graphicData uri="http://schemas.openxmlformats.org/drawingml/2006/table">
            <a:tbl>
              <a:tblPr/>
              <a:tblGrid>
                <a:gridCol w="2952750"/>
                <a:gridCol w="1047750"/>
                <a:gridCol w="1047750"/>
                <a:gridCol w="5143500"/>
              </a:tblGrid>
              <a:tr h="488156">
                <a:tc>
                  <a:txBody>
                    <a:bodyPr/>
                    <a:lstStyle/>
                    <a:p>
                      <a:r>
                        <a:rPr sz="1200" b="1">
                          <a:solidFill>
                            <a:srgbClr val="FFFFFF"/>
                          </a:solidFill>
                        </a:rPr>
                        <a:t>Evidence scope</a:t>
                      </a:r>
                    </a:p>
                  </a:txBody>
                  <a:tcPr marL="91440" marR="91440" marT="45720" marB="45720">
                    <a:solidFill>
                      <a:srgbClr val="073F47"/>
                    </a:solidFill>
                  </a:tcPr>
                </a:tc>
                <a:tc>
                  <a:txBody>
                    <a:bodyPr/>
                    <a:lstStyle/>
                    <a:p>
                      <a:r>
                        <a:rPr sz="1200" b="1">
                          <a:solidFill>
                            <a:srgbClr val="FFFFFF"/>
                          </a:solidFill>
                        </a:rPr>
                        <a:t>Pass</a:t>
                      </a:r>
                    </a:p>
                  </a:txBody>
                  <a:tcPr marL="91440" marR="91440" marT="45720" marB="45720">
                    <a:solidFill>
                      <a:srgbClr val="073F47"/>
                    </a:solidFill>
                  </a:tcPr>
                </a:tc>
                <a:tc>
                  <a:txBody>
                    <a:bodyPr/>
                    <a:lstStyle/>
                    <a:p>
                      <a:r>
                        <a:rPr sz="1200" b="1">
                          <a:solidFill>
                            <a:srgbClr val="FFFFFF"/>
                          </a:solidFill>
                        </a:rPr>
                        <a:t>Fail</a:t>
                      </a:r>
                    </a:p>
                  </a:txBody>
                  <a:tcPr marL="91440" marR="91440" marT="45720" marB="45720">
                    <a:solidFill>
                      <a:srgbClr val="073F47"/>
                    </a:solidFill>
                  </a:tcPr>
                </a:tc>
                <a:tc>
                  <a:txBody>
                    <a:bodyPr/>
                    <a:lstStyle/>
                    <a:p>
                      <a:r>
                        <a:rPr sz="1200" b="1">
                          <a:solidFill>
                            <a:srgbClr val="FFFFFF"/>
                          </a:solidFill>
                        </a:rPr>
                        <a:t>Interpretation</a:t>
                      </a:r>
                    </a:p>
                  </a:txBody>
                  <a:tcPr marL="91440" marR="91440" marT="45720" marB="45720">
                    <a:solidFill>
                      <a:srgbClr val="073F47"/>
                    </a:solidFill>
                  </a:tcPr>
                </a:tc>
              </a:tr>
              <a:tr h="488156">
                <a:tc>
                  <a:txBody>
                    <a:bodyPr/>
                    <a:lstStyle/>
                    <a:p>
                      <a:r>
                        <a:rPr sz="1125">
                          <a:solidFill>
                            <a:srgbClr val="13202A"/>
                          </a:solidFill>
                        </a:rPr>
                        <a:t>Primary qualification</a:t>
                      </a:r>
                    </a:p>
                  </a:txBody>
                  <a:tcPr marL="91440" marR="91440" marT="45720" marB="45720"/>
                </a:tc>
                <a:tc>
                  <a:txBody>
                    <a:bodyPr/>
                    <a:lstStyle/>
                    <a:p>
                      <a:r>
                        <a:rPr sz="1125">
                          <a:solidFill>
                            <a:srgbClr val="13202A"/>
                          </a:solidFill>
                        </a:rPr>
                        <a:t>64</a:t>
                      </a:r>
                    </a:p>
                  </a:txBody>
                  <a:tcPr marL="91440" marR="91440" marT="45720" marB="45720"/>
                </a:tc>
                <a:tc>
                  <a:txBody>
                    <a:bodyPr/>
                    <a:lstStyle/>
                    <a:p>
                      <a:r>
                        <a:rPr sz="1125">
                          <a:solidFill>
                            <a:srgbClr val="13202A"/>
                          </a:solidFill>
                        </a:rPr>
                        <a:t>8</a:t>
                      </a:r>
                    </a:p>
                  </a:txBody>
                  <a:tcPr marL="91440" marR="91440" marT="45720" marB="45720"/>
                </a:tc>
                <a:tc>
                  <a:txBody>
                    <a:bodyPr/>
                    <a:lstStyle/>
                    <a:p>
                      <a:r>
                        <a:rPr sz="1125">
                          <a:solidFill>
                            <a:srgbClr val="13202A"/>
                          </a:solidFill>
                        </a:rPr>
                        <a:t>72 frozen Qwen3-VL records</a:t>
                      </a:r>
                    </a:p>
                  </a:txBody>
                  <a:tcPr marL="91440" marR="91440" marT="45720" marB="45720"/>
                </a:tc>
              </a:tr>
              <a:tr h="488156">
                <a:tc>
                  <a:txBody>
                    <a:bodyPr/>
                    <a:lstStyle/>
                    <a:p>
                      <a:r>
                        <a:rPr sz="1125">
                          <a:solidFill>
                            <a:srgbClr val="13202A"/>
                          </a:solidFill>
                        </a:rPr>
                        <a:t>End-to-end questionnaire</a:t>
                      </a:r>
                    </a:p>
                  </a:txBody>
                  <a:tcPr marL="91440" marR="91440" marT="45720" marB="45720"/>
                </a:tc>
                <a:tc>
                  <a:txBody>
                    <a:bodyPr/>
                    <a:lstStyle/>
                    <a:p>
                      <a:r>
                        <a:rPr sz="1125">
                          <a:solidFill>
                            <a:srgbClr val="13202A"/>
                          </a:solidFill>
                        </a:rPr>
                        <a:t>20</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22 integrated user turns</a:t>
                      </a:r>
                    </a:p>
                  </a:txBody>
                  <a:tcPr marL="91440" marR="91440" marT="45720" marB="45720"/>
                </a:tc>
              </a:tr>
              <a:tr h="488156">
                <a:tc>
                  <a:txBody>
                    <a:bodyPr/>
                    <a:lstStyle/>
                    <a:p>
                      <a:r>
                        <a:rPr sz="1125">
                          <a:solidFill>
                            <a:srgbClr val="13202A"/>
                          </a:solidFill>
                        </a:rPr>
                        <a:t>Environment</a:t>
                      </a:r>
                    </a:p>
                  </a:txBody>
                  <a:tcPr marL="91440" marR="91440" marT="45720" marB="45720"/>
                </a:tc>
                <a:tc>
                  <a:txBody>
                    <a:bodyPr/>
                    <a:lstStyle/>
                    <a:p>
                      <a:r>
                        <a:rPr sz="1125">
                          <a:solidFill>
                            <a:srgbClr val="13202A"/>
                          </a:solidFill>
                        </a:rPr>
                        <a:t>11</a:t>
                      </a:r>
                    </a:p>
                  </a:txBody>
                  <a:tcPr marL="91440" marR="91440" marT="45720" marB="45720"/>
                </a:tc>
                <a:tc>
                  <a:txBody>
                    <a:bodyPr/>
                    <a:lstStyle/>
                    <a:p>
                      <a:r>
                        <a:rPr sz="1125">
                          <a:solidFill>
                            <a:srgbClr val="13202A"/>
                          </a:solidFill>
                        </a:rPr>
                        <a:t>0</a:t>
                      </a:r>
                    </a:p>
                  </a:txBody>
                  <a:tcPr marL="91440" marR="91440" marT="45720" marB="45720"/>
                </a:tc>
                <a:tc>
                  <a:txBody>
                    <a:bodyPr/>
                    <a:lstStyle/>
                    <a:p>
                      <a:r>
                        <a:rPr sz="1125">
                          <a:solidFill>
                            <a:srgbClr val="13202A"/>
                          </a:solidFill>
                        </a:rPr>
                        <a:t>Controlled scene and grounding</a:t>
                      </a:r>
                    </a:p>
                  </a:txBody>
                  <a:tcPr marL="91440" marR="91440" marT="45720" marB="45720"/>
                </a:tc>
              </a:tr>
              <a:tr h="488156">
                <a:tc>
                  <a:txBody>
                    <a:bodyPr/>
                    <a:lstStyle/>
                    <a:p>
                      <a:r>
                        <a:rPr sz="1125">
                          <a:solidFill>
                            <a:srgbClr val="13202A"/>
                          </a:solidFill>
                        </a:rPr>
                        <a:t>Stateful KB</a:t>
                      </a:r>
                    </a:p>
                  </a:txBody>
                  <a:tcPr marL="91440" marR="91440" marT="45720" marB="45720"/>
                </a:tc>
                <a:tc>
                  <a:txBody>
                    <a:bodyPr/>
                    <a:lstStyle/>
                    <a:p>
                      <a:r>
                        <a:rPr sz="1125">
                          <a:solidFill>
                            <a:srgbClr val="13202A"/>
                          </a:solidFill>
                        </a:rPr>
                        <a:t>7</a:t>
                      </a:r>
                    </a:p>
                  </a:txBody>
                  <a:tcPr marL="91440" marR="91440" marT="45720" marB="45720"/>
                </a:tc>
                <a:tc>
                  <a:txBody>
                    <a:bodyPr/>
                    <a:lstStyle/>
                    <a:p>
                      <a:r>
                        <a:rPr sz="1125">
                          <a:solidFill>
                            <a:srgbClr val="13202A"/>
                          </a:solidFill>
                        </a:rPr>
                        <a:t>0</a:t>
                      </a:r>
                    </a:p>
                  </a:txBody>
                  <a:tcPr marL="91440" marR="91440" marT="45720" marB="45720"/>
                </a:tc>
                <a:tc>
                  <a:txBody>
                    <a:bodyPr/>
                    <a:lstStyle/>
                    <a:p>
                      <a:r>
                        <a:rPr sz="1125">
                          <a:solidFill>
                            <a:srgbClr val="13202A"/>
                          </a:solidFill>
                        </a:rPr>
                        <a:t>Pre-query, mutation/effect, post-query</a:t>
                      </a:r>
                    </a:p>
                  </a:txBody>
                  <a:tcPr marL="91440" marR="91440" marT="45720" marB="45720"/>
                </a:tc>
              </a:tr>
              <a:tr h="488156">
                <a:tc>
                  <a:txBody>
                    <a:bodyPr/>
                    <a:lstStyle/>
                    <a:p>
                      <a:r>
                        <a:rPr sz="1125">
                          <a:solidFill>
                            <a:srgbClr val="13202A"/>
                          </a:solidFill>
                        </a:rPr>
                        <a:t>Robustness</a:t>
                      </a:r>
                    </a:p>
                  </a:txBody>
                  <a:tcPr marL="91440" marR="91440" marT="45720" marB="45720"/>
                </a:tc>
                <a:tc>
                  <a:txBody>
                    <a:bodyPr/>
                    <a:lstStyle/>
                    <a:p>
                      <a:r>
                        <a:rPr sz="1125">
                          <a:solidFill>
                            <a:srgbClr val="13202A"/>
                          </a:solidFill>
                        </a:rPr>
                        <a:t>12</a:t>
                      </a:r>
                    </a:p>
                  </a:txBody>
                  <a:tcPr marL="91440" marR="91440" marT="45720" marB="45720"/>
                </a:tc>
                <a:tc>
                  <a:txBody>
                    <a:bodyPr/>
                    <a:lstStyle/>
                    <a:p>
                      <a:r>
                        <a:rPr sz="1125">
                          <a:solidFill>
                            <a:srgbClr val="13202A"/>
                          </a:solidFill>
                        </a:rPr>
                        <a:t>3</a:t>
                      </a:r>
                    </a:p>
                  </a:txBody>
                  <a:tcPr marL="91440" marR="91440" marT="45720" marB="45720"/>
                </a:tc>
                <a:tc>
                  <a:txBody>
                    <a:bodyPr/>
                    <a:lstStyle/>
                    <a:p>
                      <a:r>
                        <a:rPr sz="1125">
                          <a:solidFill>
                            <a:srgbClr val="13202A"/>
                          </a:solidFill>
                        </a:rPr>
                        <a:t>Five frozen cases repeated three times</a:t>
                      </a:r>
                    </a:p>
                  </a:txBody>
                  <a:tcPr marL="91440" marR="91440" marT="45720" marB="45720"/>
                </a:tc>
              </a:tr>
              <a:tr h="488156">
                <a:tc>
                  <a:txBody>
                    <a:bodyPr/>
                    <a:lstStyle/>
                    <a:p>
                      <a:r>
                        <a:rPr sz="1125">
                          <a:solidFill>
                            <a:srgbClr val="13202A"/>
                          </a:solidFill>
                        </a:rPr>
                        <a:t>Fake deep</a:t>
                      </a:r>
                    </a:p>
                  </a:txBody>
                  <a:tcPr marL="91440" marR="91440" marT="45720" marB="45720"/>
                </a:tc>
                <a:tc>
                  <a:txBody>
                    <a:bodyPr/>
                    <a:lstStyle/>
                    <a:p>
                      <a:r>
                        <a:rPr sz="1125">
                          <a:solidFill>
                            <a:srgbClr val="13202A"/>
                          </a:solidFill>
                        </a:rPr>
                        <a:t>7</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Nine demanding multi-step cases</a:t>
                      </a:r>
                    </a:p>
                  </a:txBody>
                  <a:tcPr marL="91440" marR="91440" marT="45720" marB="45720"/>
                </a:tc>
              </a:tr>
              <a:tr h="488156">
                <a:tc>
                  <a:txBody>
                    <a:bodyPr/>
                    <a:lstStyle/>
                    <a:p>
                      <a:r>
                        <a:rPr sz="1125">
                          <a:solidFill>
                            <a:srgbClr val="13202A"/>
                          </a:solidFill>
                        </a:rPr>
                        <a:t>Capability extreme</a:t>
                      </a:r>
                    </a:p>
                  </a:txBody>
                  <a:tcPr marL="91440" marR="91440" marT="45720" marB="45720"/>
                </a:tc>
                <a:tc>
                  <a:txBody>
                    <a:bodyPr/>
                    <a:lstStyle/>
                    <a:p>
                      <a:r>
                        <a:rPr sz="1125">
                          <a:solidFill>
                            <a:srgbClr val="13202A"/>
                          </a:solidFill>
                        </a:rPr>
                        <a:t>5</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Long composite coverage</a:t>
                      </a:r>
                    </a:p>
                  </a:txBody>
                  <a:tcPr marL="91440" marR="91440" marT="45720" marB="45720"/>
                </a:tc>
              </a:tr>
            </a:tbl>
          </a:graphicData>
        </a:graphic>
      </p:graphicFrame>
    </p:spTree>
    <p:extLst>
      <p:ext uri="{BB962C8B-B14F-4D97-AF65-F5344CB8AC3E}">
        <p14:creationId xmlns:p14="http://schemas.microsoft.com/office/powerpoint/2010/main" val="1544362483"/>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772E0A5-A39B-45E6-AB1C-37AD7A1DB4E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3F0BD3C-01F0-45E5-9D9F-D2FD03FE7E40}"/>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66081D7-FDD2-4AF4-BA3C-E470E3DFB48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ARCHITECTURE</a:t>
            </a:r>
          </a:p>
        </p:txBody>
      </p:sp>
      <p:sp>
        <p:nvSpPr>
          <p:cNvPr id="4" name="">
            <a:extLst xmlns:a="http://schemas.openxmlformats.org/drawingml/2006/main">
              <a:ext uri="{FF2B5EF4-FFF2-40B4-BE49-F238E27FC236}">
                <a16:creationId xmlns:a16="http://schemas.microsoft.com/office/drawing/2014/main" id="{75BCF909-B343-4FFD-B78B-09063F45F87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ECB81FE-70B7-4946-A8C7-DF697D11DC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ARCHITECTURE AND RUNTIME FLOW</a:t>
            </a:r>
          </a:p>
        </p:txBody>
      </p:sp>
      <p:sp>
        <p:nvSpPr>
          <p:cNvPr id="6" name="">
            <a:extLst xmlns:a="http://schemas.openxmlformats.org/drawingml/2006/main">
              <a:ext uri="{FF2B5EF4-FFF2-40B4-BE49-F238E27FC236}">
                <a16:creationId xmlns:a16="http://schemas.microsoft.com/office/drawing/2014/main" id="{EF0CC687-A428-4046-9BF0-490E0C60A6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Each uncertainty has an owner, and evidence returns through the same lineage.</a:t>
            </a:r>
          </a:p>
        </p:txBody>
      </p:sp>
      <p:sp>
        <p:nvSpPr>
          <p:cNvPr id="7" name="">
            <a:extLst xmlns:a="http://schemas.openxmlformats.org/drawingml/2006/main">
              <a:ext uri="{FF2B5EF4-FFF2-40B4-BE49-F238E27FC236}">
                <a16:creationId xmlns:a16="http://schemas.microsoft.com/office/drawing/2014/main" id="{1662C4EB-F3DD-4883-9696-A5FF8A128928}"/>
              </a:ext>
            </a:extLst>
          </p:cNvPr>
          <p:cNvSpPr>
            <a:spLocks xmlns:a="http://schemas.openxmlformats.org/drawingml/2006/main" noGrp="1"/>
          </p:cNvSpPr>
          <p:nvPr/>
        </p:nvSpPr>
        <p:spPr>
          <a:xfrm xmlns:a="http://schemas.openxmlformats.org/drawingml/2006/main">
            <a:off x="5429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9A6465E-BCB9-46BE-9615-8D3C6CAF7A06}"/>
              </a:ext>
            </a:extLst>
          </p:cNvPr>
          <p:cNvSpPr>
            <a:spLocks xmlns:a="http://schemas.openxmlformats.org/drawingml/2006/main" noGrp="1"/>
          </p:cNvSpPr>
          <p:nvPr/>
        </p:nvSpPr>
        <p:spPr>
          <a:xfrm xmlns:a="http://schemas.openxmlformats.org/drawingml/2006/main">
            <a:off x="6191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B7A15243-B1AE-4C60-8D20-5D287A8F4070}"/>
              </a:ext>
            </a:extLst>
          </p:cNvPr>
          <p:cNvSpPr>
            <a:spLocks xmlns:a="http://schemas.openxmlformats.org/drawingml/2006/main" noGrp="1"/>
          </p:cNvSpPr>
          <p:nvPr/>
        </p:nvSpPr>
        <p:spPr>
          <a:xfrm xmlns:a="http://schemas.openxmlformats.org/drawingml/2006/main">
            <a:off x="6572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turn lifecycle</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speech</a:t>
            </a:r>
          </a:p>
        </p:txBody>
      </p:sp>
      <p:sp>
        <p:nvSpPr>
          <p:cNvPr id="10" name="">
            <a:extLst xmlns:a="http://schemas.openxmlformats.org/drawingml/2006/main">
              <a:ext uri="{FF2B5EF4-FFF2-40B4-BE49-F238E27FC236}">
                <a16:creationId xmlns:a16="http://schemas.microsoft.com/office/drawing/2014/main" id="{4E2C77C0-AC23-4667-90C6-4C83B1110B36}"/>
              </a:ext>
            </a:extLst>
          </p:cNvPr>
          <p:cNvSpPr>
            <a:spLocks xmlns:a="http://schemas.openxmlformats.org/drawingml/2006/main" noGrp="1"/>
          </p:cNvSpPr>
          <p:nvPr/>
        </p:nvSpPr>
        <p:spPr>
          <a:xfrm xmlns:a="http://schemas.openxmlformats.org/drawingml/2006/main">
            <a:off x="20955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8A77BFF-61D2-4DDD-8FD9-74603C85BC47}"/>
              </a:ext>
            </a:extLst>
          </p:cNvPr>
          <p:cNvSpPr>
            <a:spLocks xmlns:a="http://schemas.openxmlformats.org/drawingml/2006/main" noGrp="1"/>
          </p:cNvSpPr>
          <p:nvPr/>
        </p:nvSpPr>
        <p:spPr>
          <a:xfrm xmlns:a="http://schemas.openxmlformats.org/drawingml/2006/main">
            <a:off x="22860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024A19C2-5CF4-4845-B49B-16773B2491B4}"/>
              </a:ext>
            </a:extLst>
          </p:cNvPr>
          <p:cNvSpPr>
            <a:spLocks xmlns:a="http://schemas.openxmlformats.org/drawingml/2006/main" noGrp="1"/>
          </p:cNvSpPr>
          <p:nvPr/>
        </p:nvSpPr>
        <p:spPr>
          <a:xfrm xmlns:a="http://schemas.openxmlformats.org/drawingml/2006/main">
            <a:off x="23622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Chatbot</a:t>
            </a:r>
          </a:p>
        </p:txBody>
      </p:sp>
      <p:sp>
        <p:nvSpPr>
          <p:cNvPr id="13" name="">
            <a:extLst xmlns:a="http://schemas.openxmlformats.org/drawingml/2006/main">
              <a:ext uri="{FF2B5EF4-FFF2-40B4-BE49-F238E27FC236}">
                <a16:creationId xmlns:a16="http://schemas.microsoft.com/office/drawing/2014/main" id="{0B90CDFE-9A33-4BED-8A90-B285290E7EE3}"/>
              </a:ext>
            </a:extLst>
          </p:cNvPr>
          <p:cNvSpPr>
            <a:spLocks xmlns:a="http://schemas.openxmlformats.org/drawingml/2006/main" noGrp="1"/>
          </p:cNvSpPr>
          <p:nvPr/>
        </p:nvSpPr>
        <p:spPr>
          <a:xfrm xmlns:a="http://schemas.openxmlformats.org/drawingml/2006/main">
            <a:off x="24003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route and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grounded request</a:t>
            </a:r>
          </a:p>
        </p:txBody>
      </p:sp>
      <p:sp>
        <p:nvSpPr>
          <p:cNvPr id="14" name="">
            <a:extLst xmlns:a="http://schemas.openxmlformats.org/drawingml/2006/main">
              <a:ext uri="{FF2B5EF4-FFF2-40B4-BE49-F238E27FC236}">
                <a16:creationId xmlns:a16="http://schemas.microsoft.com/office/drawing/2014/main" id="{05B58456-C338-42F2-98EB-595492088DDB}"/>
              </a:ext>
            </a:extLst>
          </p:cNvPr>
          <p:cNvSpPr>
            <a:spLocks xmlns:a="http://schemas.openxmlformats.org/drawingml/2006/main" noGrp="1"/>
          </p:cNvSpPr>
          <p:nvPr/>
        </p:nvSpPr>
        <p:spPr>
          <a:xfrm xmlns:a="http://schemas.openxmlformats.org/drawingml/2006/main">
            <a:off x="383857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FD6FE1D-26D2-47A3-879A-9A7BA768B331}"/>
              </a:ext>
            </a:extLst>
          </p:cNvPr>
          <p:cNvSpPr>
            <a:spLocks xmlns:a="http://schemas.openxmlformats.org/drawingml/2006/main" noGrp="1"/>
          </p:cNvSpPr>
          <p:nvPr/>
        </p:nvSpPr>
        <p:spPr>
          <a:xfrm xmlns:a="http://schemas.openxmlformats.org/drawingml/2006/main">
            <a:off x="4029075" y="2400300"/>
            <a:ext cx="1571625" cy="1428750"/>
          </a:xfrm>
          <a:prstGeom xmlns:a="http://schemas.openxmlformats.org/drawingml/2006/main" prst="roundRect">
            <a:avLst>
              <a:gd name="adj" fmla="val 10667"/>
            </a:avLst>
          </a:prstGeom>
          <a:solidFill xmlns:a="http://schemas.openxmlformats.org/drawingml/2006/main">
            <a:srgbClr val="073F47"/>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4B61A177-C7B0-4249-867D-6D7EF0A62CCF}"/>
              </a:ext>
            </a:extLst>
          </p:cNvPr>
          <p:cNvSpPr>
            <a:spLocks xmlns:a="http://schemas.openxmlformats.org/drawingml/2006/main" noGrp="1"/>
          </p:cNvSpPr>
          <p:nvPr/>
        </p:nvSpPr>
        <p:spPr>
          <a:xfrm xmlns:a="http://schemas.openxmlformats.org/drawingml/2006/main">
            <a:off x="410527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Planner</a:t>
            </a:r>
          </a:p>
        </p:txBody>
      </p:sp>
      <p:sp>
        <p:nvSpPr>
          <p:cNvPr id="17" name="">
            <a:extLst xmlns:a="http://schemas.openxmlformats.org/drawingml/2006/main">
              <a:ext uri="{FF2B5EF4-FFF2-40B4-BE49-F238E27FC236}">
                <a16:creationId xmlns:a16="http://schemas.microsoft.com/office/drawing/2014/main" id="{AEDB813D-2C44-4630-AF83-7A62FCB01F8A}"/>
              </a:ext>
            </a:extLst>
          </p:cNvPr>
          <p:cNvSpPr>
            <a:spLocks xmlns:a="http://schemas.openxmlformats.org/drawingml/2006/main" noGrp="1"/>
          </p:cNvSpPr>
          <p:nvPr/>
        </p:nvSpPr>
        <p:spPr>
          <a:xfrm xmlns:a="http://schemas.openxmlformats.org/drawingml/2006/main">
            <a:off x="414337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candidate plan</a:t>
            </a:r>
          </a:p>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and supervision</a:t>
            </a:r>
          </a:p>
        </p:txBody>
      </p:sp>
      <p:sp>
        <p:nvSpPr>
          <p:cNvPr id="18" name="">
            <a:extLst xmlns:a="http://schemas.openxmlformats.org/drawingml/2006/main">
              <a:ext uri="{FF2B5EF4-FFF2-40B4-BE49-F238E27FC236}">
                <a16:creationId xmlns:a16="http://schemas.microsoft.com/office/drawing/2014/main" id="{C69B23E7-BCBF-41F0-8B14-F8BAE0388F8B}"/>
              </a:ext>
            </a:extLst>
          </p:cNvPr>
          <p:cNvSpPr>
            <a:spLocks xmlns:a="http://schemas.openxmlformats.org/drawingml/2006/main" noGrp="1"/>
          </p:cNvSpPr>
          <p:nvPr/>
        </p:nvSpPr>
        <p:spPr>
          <a:xfrm xmlns:a="http://schemas.openxmlformats.org/drawingml/2006/main">
            <a:off x="558165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B97B23D-1330-451D-926B-59BBE1B2B2F5}"/>
              </a:ext>
            </a:extLst>
          </p:cNvPr>
          <p:cNvSpPr>
            <a:spLocks xmlns:a="http://schemas.openxmlformats.org/drawingml/2006/main" noGrp="1"/>
          </p:cNvSpPr>
          <p:nvPr/>
        </p:nvSpPr>
        <p:spPr>
          <a:xfrm xmlns:a="http://schemas.openxmlformats.org/drawingml/2006/main">
            <a:off x="577215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D7C49FE0-559E-407E-9106-1F3A3138A45D}"/>
              </a:ext>
            </a:extLst>
          </p:cNvPr>
          <p:cNvSpPr>
            <a:spLocks xmlns:a="http://schemas.openxmlformats.org/drawingml/2006/main" noGrp="1"/>
          </p:cNvSpPr>
          <p:nvPr/>
        </p:nvSpPr>
        <p:spPr>
          <a:xfrm xmlns:a="http://schemas.openxmlformats.org/drawingml/2006/main">
            <a:off x="584835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Orchestrator</a:t>
            </a:r>
          </a:p>
        </p:txBody>
      </p:sp>
      <p:sp>
        <p:nvSpPr>
          <p:cNvPr id="21" name="">
            <a:extLst xmlns:a="http://schemas.openxmlformats.org/drawingml/2006/main">
              <a:ext uri="{FF2B5EF4-FFF2-40B4-BE49-F238E27FC236}">
                <a16:creationId xmlns:a16="http://schemas.microsoft.com/office/drawing/2014/main" id="{C3983F1B-1A25-47F2-A165-61F85E594BCB}"/>
              </a:ext>
            </a:extLst>
          </p:cNvPr>
          <p:cNvSpPr>
            <a:spLocks xmlns:a="http://schemas.openxmlformats.org/drawingml/2006/main" noGrp="1"/>
          </p:cNvSpPr>
          <p:nvPr/>
        </p:nvSpPr>
        <p:spPr>
          <a:xfrm xmlns:a="http://schemas.openxmlformats.org/drawingml/2006/main">
            <a:off x="588645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admission, dispatch,</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feedback</a:t>
            </a:r>
          </a:p>
        </p:txBody>
      </p:sp>
      <p:sp>
        <p:nvSpPr>
          <p:cNvPr id="22" name="">
            <a:extLst xmlns:a="http://schemas.openxmlformats.org/drawingml/2006/main">
              <a:ext uri="{FF2B5EF4-FFF2-40B4-BE49-F238E27FC236}">
                <a16:creationId xmlns:a16="http://schemas.microsoft.com/office/drawing/2014/main" id="{47EE3FFE-C9A3-4650-B650-00C4BD23B7F1}"/>
              </a:ext>
            </a:extLst>
          </p:cNvPr>
          <p:cNvSpPr>
            <a:spLocks xmlns:a="http://schemas.openxmlformats.org/drawingml/2006/main" noGrp="1"/>
          </p:cNvSpPr>
          <p:nvPr/>
        </p:nvSpPr>
        <p:spPr>
          <a:xfrm xmlns:a="http://schemas.openxmlformats.org/drawingml/2006/main">
            <a:off x="732472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19D8A4D-57A2-4B44-8C81-77DED4FED028}"/>
              </a:ext>
            </a:extLst>
          </p:cNvPr>
          <p:cNvSpPr>
            <a:spLocks xmlns:a="http://schemas.openxmlformats.org/drawingml/2006/main" noGrp="1"/>
          </p:cNvSpPr>
          <p:nvPr/>
        </p:nvSpPr>
        <p:spPr>
          <a:xfrm xmlns:a="http://schemas.openxmlformats.org/drawingml/2006/main">
            <a:off x="75152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F425BC38-FD4C-4EF5-87C1-E78F46701373}"/>
              </a:ext>
            </a:extLst>
          </p:cNvPr>
          <p:cNvSpPr>
            <a:spLocks xmlns:a="http://schemas.openxmlformats.org/drawingml/2006/main" noGrp="1"/>
          </p:cNvSpPr>
          <p:nvPr/>
        </p:nvSpPr>
        <p:spPr>
          <a:xfrm xmlns:a="http://schemas.openxmlformats.org/drawingml/2006/main">
            <a:off x="75914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Skills</a:t>
            </a:r>
          </a:p>
        </p:txBody>
      </p:sp>
      <p:sp>
        <p:nvSpPr>
          <p:cNvPr id="25" name="">
            <a:extLst xmlns:a="http://schemas.openxmlformats.org/drawingml/2006/main">
              <a:ext uri="{FF2B5EF4-FFF2-40B4-BE49-F238E27FC236}">
                <a16:creationId xmlns:a16="http://schemas.microsoft.com/office/drawing/2014/main" id="{ABA46358-C08D-416E-855A-8D1336AB7B73}"/>
              </a:ext>
            </a:extLst>
          </p:cNvPr>
          <p:cNvSpPr>
            <a:spLocks xmlns:a="http://schemas.openxmlformats.org/drawingml/2006/main" noGrp="1"/>
          </p:cNvSpPr>
          <p:nvPr/>
        </p:nvSpPr>
        <p:spPr>
          <a:xfrm xmlns:a="http://schemas.openxmlformats.org/drawingml/2006/main">
            <a:off x="76295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typed result</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effects</a:t>
            </a:r>
          </a:p>
        </p:txBody>
      </p:sp>
      <p:sp>
        <p:nvSpPr>
          <p:cNvPr id="26" name="">
            <a:extLst xmlns:a="http://schemas.openxmlformats.org/drawingml/2006/main">
              <a:ext uri="{FF2B5EF4-FFF2-40B4-BE49-F238E27FC236}">
                <a16:creationId xmlns:a16="http://schemas.microsoft.com/office/drawing/2014/main" id="{830443E5-FF75-4A5F-935F-931D5A47FA94}"/>
              </a:ext>
            </a:extLst>
          </p:cNvPr>
          <p:cNvSpPr>
            <a:spLocks xmlns:a="http://schemas.openxmlformats.org/drawingml/2006/main" noGrp="1"/>
          </p:cNvSpPr>
          <p:nvPr/>
        </p:nvSpPr>
        <p:spPr>
          <a:xfrm xmlns:a="http://schemas.openxmlformats.org/drawingml/2006/main">
            <a:off x="90678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2341903-A5A3-4FF8-B3C6-91DA228825FA}"/>
              </a:ext>
            </a:extLst>
          </p:cNvPr>
          <p:cNvSpPr>
            <a:spLocks xmlns:a="http://schemas.openxmlformats.org/drawingml/2006/main" noGrp="1"/>
          </p:cNvSpPr>
          <p:nvPr/>
        </p:nvSpPr>
        <p:spPr>
          <a:xfrm xmlns:a="http://schemas.openxmlformats.org/drawingml/2006/main">
            <a:off x="92583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9C440FA4-CC9C-43A6-A6EF-33EA7D66E032}"/>
              </a:ext>
            </a:extLst>
          </p:cNvPr>
          <p:cNvSpPr>
            <a:spLocks xmlns:a="http://schemas.openxmlformats.org/drawingml/2006/main" noGrp="1"/>
          </p:cNvSpPr>
          <p:nvPr/>
        </p:nvSpPr>
        <p:spPr>
          <a:xfrm xmlns:a="http://schemas.openxmlformats.org/drawingml/2006/main">
            <a:off x="93345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29" name="">
            <a:extLst xmlns:a="http://schemas.openxmlformats.org/drawingml/2006/main">
              <a:ext uri="{FF2B5EF4-FFF2-40B4-BE49-F238E27FC236}">
                <a16:creationId xmlns:a16="http://schemas.microsoft.com/office/drawing/2014/main" id="{EEDF790E-F3D8-47F3-B361-4BE0F8B7F94A}"/>
              </a:ext>
            </a:extLst>
          </p:cNvPr>
          <p:cNvSpPr>
            <a:spLocks xmlns:a="http://schemas.openxmlformats.org/drawingml/2006/main" noGrp="1"/>
          </p:cNvSpPr>
          <p:nvPr/>
        </p:nvSpPr>
        <p:spPr>
          <a:xfrm xmlns:a="http://schemas.openxmlformats.org/drawingml/2006/main">
            <a:off x="93726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one evidence-based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closure</a:t>
            </a:r>
          </a:p>
        </p:txBody>
      </p:sp>
      <p:sp>
        <p:nvSpPr>
          <p:cNvPr id="30" name="">
            <a:extLst xmlns:a="http://schemas.openxmlformats.org/drawingml/2006/main">
              <a:ext uri="{FF2B5EF4-FFF2-40B4-BE49-F238E27FC236}">
                <a16:creationId xmlns:a16="http://schemas.microsoft.com/office/drawing/2014/main" id="{9126A1D6-199C-4B1B-9797-28D7DC53831F}"/>
              </a:ext>
            </a:extLst>
          </p:cNvPr>
          <p:cNvSpPr>
            <a:spLocks xmlns:a="http://schemas.openxmlformats.org/drawingml/2006/main" noGrp="1"/>
          </p:cNvSpPr>
          <p:nvPr/>
        </p:nvSpPr>
        <p:spPr>
          <a:xfrm xmlns:a="http://schemas.openxmlformats.org/drawingml/2006/main">
            <a:off x="685800" y="42100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Goal ID  •  plan ID  •  plan version  •  stable step IDs</a:t>
            </a:r>
          </a:p>
        </p:txBody>
      </p:sp>
      <p:sp>
        <p:nvSpPr>
          <p:cNvPr id="31" name="">
            <a:extLst xmlns:a="http://schemas.openxmlformats.org/drawingml/2006/main">
              <a:ext uri="{FF2B5EF4-FFF2-40B4-BE49-F238E27FC236}">
                <a16:creationId xmlns:a16="http://schemas.microsoft.com/office/drawing/2014/main" id="{9063CB4A-586F-4490-98C5-7BB60731642F}"/>
              </a:ext>
            </a:extLst>
          </p:cNvPr>
          <p:cNvSpPr>
            <a:spLocks xmlns:a="http://schemas.openxmlformats.org/drawingml/2006/main" noGrp="1"/>
          </p:cNvSpPr>
          <p:nvPr/>
        </p:nvSpPr>
        <p:spPr>
          <a:xfrm xmlns:a="http://schemas.openxmlformats.org/drawingml/2006/main">
            <a:off x="14287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DC24675E-9B78-4D00-8D06-AD284E6467A7}"/>
              </a:ext>
            </a:extLst>
          </p:cNvPr>
          <p:cNvSpPr>
            <a:spLocks xmlns:a="http://schemas.openxmlformats.org/drawingml/2006/main" noGrp="1"/>
          </p:cNvSpPr>
          <p:nvPr/>
        </p:nvSpPr>
        <p:spPr>
          <a:xfrm xmlns:a="http://schemas.openxmlformats.org/drawingml/2006/main">
            <a:off x="1428750" y="4857750"/>
            <a:ext cx="57150" cy="1047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33" name="">
            <a:extLst xmlns:a="http://schemas.openxmlformats.org/drawingml/2006/main">
              <a:ext uri="{FF2B5EF4-FFF2-40B4-BE49-F238E27FC236}">
                <a16:creationId xmlns:a16="http://schemas.microsoft.com/office/drawing/2014/main" id="{79160C22-EE13-422E-BA86-7A42E871B4EA}"/>
              </a:ext>
            </a:extLst>
          </p:cNvPr>
          <p:cNvSpPr>
            <a:spLocks xmlns:a="http://schemas.openxmlformats.org/drawingml/2006/main" noGrp="1"/>
          </p:cNvSpPr>
          <p:nvPr/>
        </p:nvSpPr>
        <p:spPr>
          <a:xfrm xmlns:a="http://schemas.openxmlformats.org/drawingml/2006/main">
            <a:off x="16383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Symbolic evidence</a:t>
            </a:r>
          </a:p>
        </p:txBody>
      </p:sp>
      <p:sp>
        <p:nvSpPr>
          <p:cNvPr id="34" name="">
            <a:extLst xmlns:a="http://schemas.openxmlformats.org/drawingml/2006/main">
              <a:ext uri="{FF2B5EF4-FFF2-40B4-BE49-F238E27FC236}">
                <a16:creationId xmlns:a16="http://schemas.microsoft.com/office/drawing/2014/main" id="{6E38F007-7247-4B99-9A8C-B551B630E728}"/>
              </a:ext>
            </a:extLst>
          </p:cNvPr>
          <p:cNvSpPr>
            <a:spLocks xmlns:a="http://schemas.openxmlformats.org/drawingml/2006/main" noGrp="1"/>
          </p:cNvSpPr>
          <p:nvPr/>
        </p:nvSpPr>
        <p:spPr>
          <a:xfrm xmlns:a="http://schemas.openxmlformats.org/drawingml/2006/main">
            <a:off x="16383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KnowledgeCore and scene grounding provide bounded entities, roles, locations, and relations.</a:t>
            </a:r>
          </a:p>
        </p:txBody>
      </p:sp>
      <p:sp>
        <p:nvSpPr>
          <p:cNvPr id="35" name="">
            <a:extLst xmlns:a="http://schemas.openxmlformats.org/drawingml/2006/main">
              <a:ext uri="{FF2B5EF4-FFF2-40B4-BE49-F238E27FC236}">
                <a16:creationId xmlns:a16="http://schemas.microsoft.com/office/drawing/2014/main" id="{EC2D19C2-0D2E-4972-85E0-9B96F3673CFC}"/>
              </a:ext>
            </a:extLst>
          </p:cNvPr>
          <p:cNvSpPr>
            <a:spLocks xmlns:a="http://schemas.openxmlformats.org/drawingml/2006/main" noGrp="1"/>
          </p:cNvSpPr>
          <p:nvPr/>
        </p:nvSpPr>
        <p:spPr>
          <a:xfrm xmlns:a="http://schemas.openxmlformats.org/drawingml/2006/main">
            <a:off x="59245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6" name="">
            <a:extLst xmlns:a="http://schemas.openxmlformats.org/drawingml/2006/main">
              <a:ext uri="{FF2B5EF4-FFF2-40B4-BE49-F238E27FC236}">
                <a16:creationId xmlns:a16="http://schemas.microsoft.com/office/drawing/2014/main" id="{ECA72230-A9FF-42DE-AC9A-75E0993E7C18}"/>
              </a:ext>
            </a:extLst>
          </p:cNvPr>
          <p:cNvSpPr>
            <a:spLocks xmlns:a="http://schemas.openxmlformats.org/drawingml/2006/main" noGrp="1"/>
          </p:cNvSpPr>
          <p:nvPr/>
        </p:nvSpPr>
        <p:spPr>
          <a:xfrm xmlns:a="http://schemas.openxmlformats.org/drawingml/2006/main">
            <a:off x="5924550" y="4857750"/>
            <a:ext cx="57150" cy="1047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37" name="">
            <a:extLst xmlns:a="http://schemas.openxmlformats.org/drawingml/2006/main">
              <a:ext uri="{FF2B5EF4-FFF2-40B4-BE49-F238E27FC236}">
                <a16:creationId xmlns:a16="http://schemas.microsoft.com/office/drawing/2014/main" id="{0D00A616-DD5C-40AF-9E60-DAC05957C769}"/>
              </a:ext>
            </a:extLst>
          </p:cNvPr>
          <p:cNvSpPr>
            <a:spLocks xmlns:a="http://schemas.openxmlformats.org/drawingml/2006/main" noGrp="1"/>
          </p:cNvSpPr>
          <p:nvPr/>
        </p:nvSpPr>
        <p:spPr>
          <a:xfrm xmlns:a="http://schemas.openxmlformats.org/drawingml/2006/main">
            <a:off x="61341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evidence</a:t>
            </a:r>
          </a:p>
        </p:txBody>
      </p:sp>
      <p:sp>
        <p:nvSpPr>
          <p:cNvPr id="38" name="">
            <a:extLst xmlns:a="http://schemas.openxmlformats.org/drawingml/2006/main">
              <a:ext uri="{FF2B5EF4-FFF2-40B4-BE49-F238E27FC236}">
                <a16:creationId xmlns:a16="http://schemas.microsoft.com/office/drawing/2014/main" id="{61967993-C187-4709-B8FC-106E6106529D}"/>
              </a:ext>
            </a:extLst>
          </p:cNvPr>
          <p:cNvSpPr>
            <a:spLocks xmlns:a="http://schemas.openxmlformats.org/drawingml/2006/main" noGrp="1"/>
          </p:cNvSpPr>
          <p:nvPr/>
        </p:nvSpPr>
        <p:spPr>
          <a:xfrm xmlns:a="http://schemas.openxmlformats.org/drawingml/2006/main">
            <a:off x="61341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Robot-facing or simulated adapters return the same typed result boundary.</a:t>
            </a:r>
          </a:p>
        </p:txBody>
      </p:sp>
    </p:spTree>
    <p:extLst>
      <p:ext uri="{BB962C8B-B14F-4D97-AF65-F5344CB8AC3E}">
        <p14:creationId xmlns:p14="http://schemas.microsoft.com/office/powerpoint/2010/main" val="454071870"/>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2026-09-02T23:47:48.2800000Z</dcterms:created>
  <dcterms:modified xsi:type="dcterms:W3CDTF">2026-09-02T23:47:48.2800000Z</dcterms:modified>
</coreProperties>
</file>